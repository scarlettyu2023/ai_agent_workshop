
<file path=[Content_Types].xml><?xml version="1.0" encoding="utf-8"?>
<Types xmlns="http://schemas.openxmlformats.org/package/2006/content-types">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1"/>
    <p:restoredTop sz="75888"/>
  </p:normalViewPr>
  <p:slideViewPr>
    <p:cSldViewPr snapToGrid="0" snapToObjects="1">
      <p:cViewPr varScale="1">
        <p:scale>
          <a:sx n="116" d="100"/>
          <a:sy n="116" d="100"/>
        </p:scale>
        <p:origin x="14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9519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Scarlett. My final project is a Meal and Health Agent. The idea came from a real problem of myself — I wanted to eat healthier but meal planning felt really overwhelming, and I kept forgetting about it after a few days. So I thought, what if an AI agent could not just make the plan, but also actually remember my record and check in on it over time?"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"The problem has three parts. First, meal planning is hard — you have to think about your goals, restrictions, maybe your bloodwork, and it changes every week. Second, a health agent should remember you over time — your progress, your preferences, what worked and what didn't. It shouldn't start from scratch every time you open it. And third, the agent should remind you when you haven't worked out in four days. Those three things together are what I wanted to solve."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system is built around a </a:t>
            </a:r>
            <a:r>
              <a:rPr lang="en-US" dirty="0" err="1"/>
              <a:t>ReAct</a:t>
            </a:r>
            <a:r>
              <a:rPr lang="en-US" dirty="0"/>
              <a:t> loop, The user sends a message, the LLM thinks about what to do, calls one of seven real tools, gets the result back, and loops until it has enough to reply. Instead of generating text, it's actually executing functions. The project has seven Python files, and each one has a single job.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Here’s four techniques I implemented in this project. The first is </a:t>
            </a:r>
            <a:r>
              <a:rPr lang="en-US" dirty="0" err="1"/>
              <a:t>ReAct</a:t>
            </a:r>
            <a:r>
              <a:rPr lang="en-US" dirty="0"/>
              <a:t> — the agent reasons and acts in a loop rather than replying in one shot, The second is RAG — before generating any meal plan, the agent retrieves the four most relevant entries from a local nutrition knowledge base I built with 20 entries, so it's looking things up instead of guessing. The third is Chain-of-Thought— the agent writes out its reasoning step by step before writing the plan, like 'iron is low, the user avoids fish, so I should use lentils and spinach.’ the last one is Self-Refine — after the first draft, a critic checks it for problems, and if it finds any, a second pass fixes them. So the plan you get has already been improved once."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shows what actually happens when you run it. On the left is the first session — the user says they want to gain muscle, the agent saves the profile, then calls </a:t>
            </a:r>
            <a:r>
              <a:rPr lang="en-US" dirty="0" err="1"/>
              <a:t>generate_meal_plan</a:t>
            </a:r>
            <a:r>
              <a:rPr lang="en-US" dirty="0"/>
              <a:t>. You can see the full pipeline running: RAG retrieves nutrition facts, </a:t>
            </a:r>
            <a:r>
              <a:rPr lang="en-US" dirty="0" err="1"/>
              <a:t>CoT</a:t>
            </a:r>
            <a:r>
              <a:rPr lang="en-US" dirty="0"/>
              <a:t> reasons step by step, a plan is generated, the critic checks it, and the refiner improves it. The user also logs a workout at the end. On the right is the next day — session 2. The agent already knows the user, opens with a personalized check-in based on the workout history, and when the user says the portions were too big, it re-runs the entire pipeline with that feedback. So This shows the memory carries over."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actual output from the agent. On the left is the 7-day meal plan it generated — high protein, all Asian cuisine, with a snack every day. On the right is the grocery list it automatically produced from that plan, categorized into produce, protein, grains, and pantry. The user doesn't have to do anything extra to get this — they just ask, and the agent calls the grocery list tool on its own."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memory piece is one of the things I'm most happy with. Everything gets saved to a JSON file. So when you come back the next day the agent already knows you. And instead of saying 'hi how can I help', it reads your history and decides what tone to open with. If you worked out consistently, it celebrates. If you haven't worked out in four days — and this actually happened when I was testing it — it opens with 'the weights are getting dusty.' Which I thought was a nice touch."</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With RAG, I realized choosing what to retrieve matters more than the retrieval itself. A bad query returns useless context even if your embeddings are perfect. With Self-Refine, writing the critic prompt was harder than writing the planner — you have to define what 'good' means explicitly, and that's not obvious. And with </a:t>
            </a:r>
            <a:r>
              <a:rPr lang="en-US" dirty="0" err="1"/>
              <a:t>ReAct</a:t>
            </a:r>
            <a:r>
              <a:rPr lang="en-US" dirty="0"/>
              <a:t>, I learned that tool schemas are basically contracts — if your description is vague, the LLM calls tools at the wrong time with wrong arguments.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want to be honest about what doesn't work well. PDF parsing only works on text-based bloodwork, not scanned images. The knowledge base is small — in a real product you'd want a proper vector database. And the calorie estimates are LLM approximations, not clinically validated, so I always include a disclaimer about consulting a healthcare provider. For future work I'd add SMS reminders and a larger recipe database. Anyway that's the project — happy to take questions. Thanks!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1.png"/><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A2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2C39A"/>
          </a:solidFill>
          <a:ln/>
        </p:spPr>
        <p:txBody>
          <a:bodyPr/>
          <a:lstStyle/>
          <a:p>
            <a:endParaRPr lang="en-US"/>
          </a:p>
        </p:txBody>
      </p:sp>
      <p:sp>
        <p:nvSpPr>
          <p:cNvPr id="3" name="Shape 1"/>
          <p:cNvSpPr/>
          <p:nvPr/>
        </p:nvSpPr>
        <p:spPr>
          <a:xfrm>
            <a:off x="502920" y="1463040"/>
            <a:ext cx="1005840" cy="1005840"/>
          </a:xfrm>
          <a:prstGeom prst="ellipse">
            <a:avLst/>
          </a:prstGeom>
          <a:solidFill>
            <a:srgbClr val="028090"/>
          </a:solidFill>
          <a:ln/>
        </p:spPr>
        <p:txBody>
          <a:bodyPr/>
          <a:lstStyle/>
          <a:p>
            <a:endParaRPr lang="en-US"/>
          </a:p>
        </p:txBody>
      </p:sp>
      <p:sp>
        <p:nvSpPr>
          <p:cNvPr id="4" name="Text 2"/>
          <p:cNvSpPr/>
          <p:nvPr/>
        </p:nvSpPr>
        <p:spPr>
          <a:xfrm>
            <a:off x="502920" y="1463040"/>
            <a:ext cx="1005840" cy="1005840"/>
          </a:xfrm>
          <a:prstGeom prst="rect">
            <a:avLst/>
          </a:prstGeom>
          <a:noFill/>
          <a:ln/>
        </p:spPr>
        <p:txBody>
          <a:bodyPr wrap="square" rtlCol="0" anchor="ctr"/>
          <a:lstStyle/>
          <a:p>
            <a:pPr marL="0" indent="0" algn="ctr">
              <a:buNone/>
            </a:pPr>
            <a:r>
              <a:rPr lang="en-US" sz="3600" dirty="0">
                <a:solidFill>
                  <a:srgbClr val="000000"/>
                </a:solidFill>
              </a:rPr>
              <a:t>🥗</a:t>
            </a:r>
            <a:endParaRPr lang="en-US" sz="3600" dirty="0"/>
          </a:p>
        </p:txBody>
      </p:sp>
      <p:sp>
        <p:nvSpPr>
          <p:cNvPr id="5" name="Text 3"/>
          <p:cNvSpPr/>
          <p:nvPr/>
        </p:nvSpPr>
        <p:spPr>
          <a:xfrm>
            <a:off x="1737360" y="1280160"/>
            <a:ext cx="7132320" cy="91440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Meal &amp; Health Agent</a:t>
            </a:r>
            <a:endParaRPr lang="en-US" sz="4400" dirty="0"/>
          </a:p>
        </p:txBody>
      </p:sp>
      <p:sp>
        <p:nvSpPr>
          <p:cNvPr id="6" name="Text 4"/>
          <p:cNvSpPr/>
          <p:nvPr/>
        </p:nvSpPr>
        <p:spPr>
          <a:xfrm>
            <a:off x="1737360" y="2286000"/>
            <a:ext cx="6949440" cy="822960"/>
          </a:xfrm>
          <a:prstGeom prst="rect">
            <a:avLst/>
          </a:prstGeom>
          <a:noFill/>
          <a:ln/>
        </p:spPr>
        <p:txBody>
          <a:bodyPr wrap="square" rtlCol="0" anchor="ctr"/>
          <a:lstStyle/>
          <a:p>
            <a:pPr marL="0" indent="0">
              <a:buNone/>
            </a:pPr>
            <a:r>
              <a:rPr lang="en-US" sz="1700" dirty="0">
                <a:solidFill>
                  <a:srgbClr val="A8D5DC"/>
                </a:solidFill>
                <a:latin typeface="Calibri" pitchFamily="34" charset="0"/>
                <a:ea typeface="Calibri" pitchFamily="34" charset="-122"/>
                <a:cs typeface="Calibri" pitchFamily="34" charset="-120"/>
              </a:rPr>
              <a:t>A conversational AI agent that plans your meals, tracks your workouts,</a:t>
            </a:r>
            <a:endParaRPr lang="en-US" sz="1700" dirty="0"/>
          </a:p>
          <a:p>
            <a:pPr marL="0" indent="0">
              <a:buNone/>
            </a:pPr>
            <a:r>
              <a:rPr lang="en-US" sz="1700" dirty="0">
                <a:solidFill>
                  <a:srgbClr val="A8D5DC"/>
                </a:solidFill>
                <a:latin typeface="Calibri" pitchFamily="34" charset="0"/>
                <a:ea typeface="Calibri" pitchFamily="34" charset="-122"/>
                <a:cs typeface="Calibri" pitchFamily="34" charset="-120"/>
              </a:rPr>
              <a:t>and holds you accountable — across sessions.</a:t>
            </a:r>
            <a:endParaRPr lang="en-US" sz="1700" dirty="0"/>
          </a:p>
        </p:txBody>
      </p:sp>
      <p:sp>
        <p:nvSpPr>
          <p:cNvPr id="7" name="Shape 5"/>
          <p:cNvSpPr/>
          <p:nvPr/>
        </p:nvSpPr>
        <p:spPr>
          <a:xfrm>
            <a:off x="1737360" y="3246120"/>
            <a:ext cx="6949440" cy="0"/>
          </a:xfrm>
          <a:prstGeom prst="line">
            <a:avLst/>
          </a:prstGeom>
          <a:noFill/>
          <a:ln w="15240">
            <a:solidFill>
              <a:srgbClr val="028090"/>
            </a:solidFill>
            <a:prstDash val="solid"/>
          </a:ln>
        </p:spPr>
        <p:txBody>
          <a:bodyPr/>
          <a:lstStyle/>
          <a:p>
            <a:endParaRPr lang="en-US"/>
          </a:p>
        </p:txBody>
      </p:sp>
      <p:sp>
        <p:nvSpPr>
          <p:cNvPr id="8" name="Text 6"/>
          <p:cNvSpPr/>
          <p:nvPr/>
        </p:nvSpPr>
        <p:spPr>
          <a:xfrm>
            <a:off x="1737360" y="3429000"/>
            <a:ext cx="6949440" cy="365760"/>
          </a:xfrm>
          <a:prstGeom prst="rect">
            <a:avLst/>
          </a:prstGeom>
          <a:noFill/>
          <a:ln/>
        </p:spPr>
        <p:txBody>
          <a:bodyPr wrap="square" rtlCol="0" anchor="ctr"/>
          <a:lstStyle/>
          <a:p>
            <a:pPr marL="0" indent="0">
              <a:buNone/>
            </a:pPr>
            <a:r>
              <a:rPr lang="en-US" sz="1200" dirty="0">
                <a:solidFill>
                  <a:srgbClr val="7A9EA5"/>
                </a:solidFill>
                <a:latin typeface="Calibri" pitchFamily="34" charset="0"/>
                <a:ea typeface="Calibri" pitchFamily="34" charset="-122"/>
                <a:cs typeface="Calibri" pitchFamily="34" charset="-120"/>
              </a:rPr>
              <a:t>Scarlett Yu  ·  bce9ka@virginia.edu  ·  CS 6501 Workshop on Building AI Agents  ·  UVA Spring 2026</a:t>
            </a:r>
            <a:endParaRPr lang="en-US" sz="1200" dirty="0"/>
          </a:p>
        </p:txBody>
      </p:sp>
      <p:sp>
        <p:nvSpPr>
          <p:cNvPr id="9" name="Shape 7"/>
          <p:cNvSpPr/>
          <p:nvPr/>
        </p:nvSpPr>
        <p:spPr>
          <a:xfrm>
            <a:off x="1737360" y="3977640"/>
            <a:ext cx="1371600" cy="384048"/>
          </a:xfrm>
          <a:prstGeom prst="rect">
            <a:avLst/>
          </a:prstGeom>
          <a:solidFill>
            <a:srgbClr val="02C39A"/>
          </a:solidFill>
          <a:ln/>
        </p:spPr>
        <p:txBody>
          <a:bodyPr/>
          <a:lstStyle/>
          <a:p>
            <a:endParaRPr lang="en-US"/>
          </a:p>
        </p:txBody>
      </p:sp>
      <p:sp>
        <p:nvSpPr>
          <p:cNvPr id="10" name="Text 8"/>
          <p:cNvSpPr/>
          <p:nvPr/>
        </p:nvSpPr>
        <p:spPr>
          <a:xfrm>
            <a:off x="1737360" y="3977640"/>
            <a:ext cx="1371600" cy="384048"/>
          </a:xfrm>
          <a:prstGeom prst="rect">
            <a:avLst/>
          </a:prstGeom>
          <a:noFill/>
          <a:ln/>
        </p:spPr>
        <p:txBody>
          <a:bodyPr wrap="square" rtlCol="0" anchor="ctr"/>
          <a:lstStyle/>
          <a:p>
            <a:pPr marL="0" indent="0" algn="ctr">
              <a:buNone/>
            </a:pPr>
            <a:r>
              <a:rPr lang="en-US" sz="1300" b="1" dirty="0">
                <a:solidFill>
                  <a:srgbClr val="0A2A2F"/>
                </a:solidFill>
              </a:rPr>
              <a:t>Final Project</a:t>
            </a:r>
            <a:endParaRPr lang="en-US" sz="1300" dirty="0"/>
          </a:p>
        </p:txBody>
      </p:sp>
      <p:pic>
        <p:nvPicPr>
          <p:cNvPr id="42" name="Audio 41">
            <a:extLst>
              <a:ext uri="{FF2B5EF4-FFF2-40B4-BE49-F238E27FC236}">
                <a16:creationId xmlns:a16="http://schemas.microsoft.com/office/drawing/2014/main" id="{650B1BC4-F9B2-1DD4-5B11-17945F78997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1678"/>
    </mc:Choice>
    <mc:Fallback xmlns="">
      <p:transition spd="slow" advTm="316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A2F"/>
          </a:solidFill>
          <a:ln/>
        </p:spPr>
        <p:txBody>
          <a:bodyPr/>
          <a:lstStyle/>
          <a:p>
            <a:endParaRPr lang="en-US"/>
          </a:p>
        </p:txBody>
      </p:sp>
      <p:sp>
        <p:nvSpPr>
          <p:cNvPr id="3" name="Text 1"/>
          <p:cNvSpPr/>
          <p:nvPr/>
        </p:nvSpPr>
        <p:spPr>
          <a:xfrm>
            <a:off x="457200" y="0"/>
            <a:ext cx="8229600" cy="640080"/>
          </a:xfrm>
          <a:prstGeom prst="rect">
            <a:avLst/>
          </a:prstGeom>
          <a:noFill/>
          <a:ln/>
        </p:spPr>
        <p:txBody>
          <a:bodyPr wrap="square" lIns="0" tIns="0" rIns="0" bIns="0" rtlCol="0" anchor="ctr"/>
          <a:lstStyle/>
          <a:p>
            <a:pPr marL="0" indent="0">
              <a:buNone/>
            </a:pPr>
            <a:r>
              <a:rPr lang="en-US" sz="2200" b="1" dirty="0">
                <a:solidFill>
                  <a:srgbClr val="FFFFFF"/>
                </a:solidFill>
              </a:rPr>
              <a:t>The Problem</a:t>
            </a:r>
            <a:endParaRPr lang="en-US" sz="2200" dirty="0"/>
          </a:p>
        </p:txBody>
      </p:sp>
      <p:sp>
        <p:nvSpPr>
          <p:cNvPr id="4" name="Shape 2"/>
          <p:cNvSpPr/>
          <p:nvPr/>
        </p:nvSpPr>
        <p:spPr>
          <a:xfrm>
            <a:off x="320040" y="868680"/>
            <a:ext cx="2697480" cy="3474720"/>
          </a:xfrm>
          <a:prstGeom prst="rect">
            <a:avLst/>
          </a:prstGeom>
          <a:solidFill>
            <a:srgbClr val="FFFFFF"/>
          </a:solidFill>
          <a:ln w="10160">
            <a:solidFill>
              <a:srgbClr val="C5E0E5"/>
            </a:solidFill>
            <a:prstDash val="solid"/>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1280160" y="1024128"/>
            <a:ext cx="777240" cy="777240"/>
          </a:xfrm>
          <a:prstGeom prst="ellipse">
            <a:avLst/>
          </a:prstGeom>
          <a:solidFill>
            <a:srgbClr val="0A2A2F"/>
          </a:solidFill>
          <a:ln/>
        </p:spPr>
        <p:txBody>
          <a:bodyPr/>
          <a:lstStyle/>
          <a:p>
            <a:endParaRPr lang="en-US"/>
          </a:p>
        </p:txBody>
      </p:sp>
      <p:sp>
        <p:nvSpPr>
          <p:cNvPr id="6" name="Text 4"/>
          <p:cNvSpPr/>
          <p:nvPr/>
        </p:nvSpPr>
        <p:spPr>
          <a:xfrm>
            <a:off x="1280160" y="1024128"/>
            <a:ext cx="777240" cy="77724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7" name="Text 5"/>
          <p:cNvSpPr/>
          <p:nvPr/>
        </p:nvSpPr>
        <p:spPr>
          <a:xfrm>
            <a:off x="457200" y="1938528"/>
            <a:ext cx="2423160" cy="640080"/>
          </a:xfrm>
          <a:prstGeom prst="rect">
            <a:avLst/>
          </a:prstGeom>
          <a:noFill/>
          <a:ln/>
        </p:spPr>
        <p:txBody>
          <a:bodyPr wrap="square" rtlCol="0" anchor="ctr"/>
          <a:lstStyle/>
          <a:p>
            <a:pPr marL="0" indent="0" algn="ctr">
              <a:buNone/>
            </a:pPr>
            <a:r>
              <a:rPr lang="en-US" sz="1400" b="1" dirty="0">
                <a:solidFill>
                  <a:srgbClr val="0A2A2F"/>
                </a:solidFill>
                <a:latin typeface="Calibri" pitchFamily="34" charset="0"/>
                <a:ea typeface="Calibri" pitchFamily="34" charset="-122"/>
                <a:cs typeface="Calibri" pitchFamily="34" charset="-120"/>
              </a:rPr>
              <a:t>Meal planning is overwhelming</a:t>
            </a:r>
            <a:endParaRPr lang="en-US" sz="1400" dirty="0"/>
          </a:p>
        </p:txBody>
      </p:sp>
      <p:sp>
        <p:nvSpPr>
          <p:cNvPr id="8" name="Text 6"/>
          <p:cNvSpPr/>
          <p:nvPr/>
        </p:nvSpPr>
        <p:spPr>
          <a:xfrm>
            <a:off x="457200" y="2633472"/>
            <a:ext cx="2423160" cy="1554480"/>
          </a:xfrm>
          <a:prstGeom prst="rect">
            <a:avLst/>
          </a:prstGeom>
          <a:noFill/>
          <a:ln/>
        </p:spPr>
        <p:txBody>
          <a:bodyPr wrap="square" rtlCol="0" anchor="ctr"/>
          <a:lstStyle/>
          <a:p>
            <a:pPr marL="0" indent="0" algn="ctr">
              <a:buNone/>
            </a:pPr>
            <a:r>
              <a:rPr lang="en-US" sz="1250" dirty="0">
                <a:solidFill>
                  <a:srgbClr val="2C5F6A"/>
                </a:solidFill>
                <a:latin typeface="Calibri" pitchFamily="34" charset="0"/>
                <a:ea typeface="Calibri" pitchFamily="34" charset="-122"/>
                <a:cs typeface="Calibri" pitchFamily="34" charset="-120"/>
              </a:rPr>
              <a:t>Balancing nutrition goals, restrictions, and bloodwork is too complex to do manually every week.</a:t>
            </a:r>
            <a:endParaRPr lang="en-US" sz="1250" dirty="0"/>
          </a:p>
        </p:txBody>
      </p:sp>
      <p:sp>
        <p:nvSpPr>
          <p:cNvPr id="9" name="Shape 7"/>
          <p:cNvSpPr/>
          <p:nvPr/>
        </p:nvSpPr>
        <p:spPr>
          <a:xfrm>
            <a:off x="3200400" y="868680"/>
            <a:ext cx="2697480" cy="3474720"/>
          </a:xfrm>
          <a:prstGeom prst="rect">
            <a:avLst/>
          </a:prstGeom>
          <a:solidFill>
            <a:srgbClr val="FFFFFF"/>
          </a:solidFill>
          <a:ln w="10160">
            <a:solidFill>
              <a:srgbClr val="C5E0E5"/>
            </a:solidFill>
            <a:prstDash val="solid"/>
          </a:ln>
          <a:effectLst>
            <a:outerShdw blurRad="101600" dist="38100" dir="8100000" algn="bl" rotWithShape="0">
              <a:srgbClr val="000000">
                <a:alpha val="10000"/>
              </a:srgbClr>
            </a:outerShdw>
          </a:effectLst>
        </p:spPr>
        <p:txBody>
          <a:bodyPr/>
          <a:lstStyle/>
          <a:p>
            <a:endParaRPr lang="en-US"/>
          </a:p>
        </p:txBody>
      </p:sp>
      <p:sp>
        <p:nvSpPr>
          <p:cNvPr id="10" name="Shape 8"/>
          <p:cNvSpPr/>
          <p:nvPr/>
        </p:nvSpPr>
        <p:spPr>
          <a:xfrm>
            <a:off x="4160520" y="1024128"/>
            <a:ext cx="777240" cy="777240"/>
          </a:xfrm>
          <a:prstGeom prst="ellipse">
            <a:avLst/>
          </a:prstGeom>
          <a:solidFill>
            <a:srgbClr val="0A2A2F"/>
          </a:solidFill>
          <a:ln/>
        </p:spPr>
        <p:txBody>
          <a:bodyPr/>
          <a:lstStyle/>
          <a:p>
            <a:endParaRPr lang="en-US"/>
          </a:p>
        </p:txBody>
      </p:sp>
      <p:sp>
        <p:nvSpPr>
          <p:cNvPr id="11" name="Text 9"/>
          <p:cNvSpPr/>
          <p:nvPr/>
        </p:nvSpPr>
        <p:spPr>
          <a:xfrm>
            <a:off x="4160520" y="1024128"/>
            <a:ext cx="777240" cy="77724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2" name="Text 10"/>
          <p:cNvSpPr/>
          <p:nvPr/>
        </p:nvSpPr>
        <p:spPr>
          <a:xfrm>
            <a:off x="3337560" y="1938528"/>
            <a:ext cx="2423160" cy="640080"/>
          </a:xfrm>
          <a:prstGeom prst="rect">
            <a:avLst/>
          </a:prstGeom>
          <a:noFill/>
          <a:ln/>
        </p:spPr>
        <p:txBody>
          <a:bodyPr wrap="square" rtlCol="0" anchor="ctr"/>
          <a:lstStyle/>
          <a:p>
            <a:pPr marL="0" indent="0" algn="ctr">
              <a:buNone/>
            </a:pPr>
            <a:r>
              <a:rPr lang="en-US" sz="1400" b="1" dirty="0">
                <a:solidFill>
                  <a:srgbClr val="0A2A2F"/>
                </a:solidFill>
                <a:latin typeface="Calibri" pitchFamily="34" charset="0"/>
                <a:ea typeface="Calibri" pitchFamily="34" charset="-122"/>
                <a:cs typeface="Calibri" pitchFamily="34" charset="-120"/>
              </a:rPr>
              <a:t>No memory between sessions</a:t>
            </a:r>
            <a:endParaRPr lang="en-US" sz="1400" dirty="0"/>
          </a:p>
        </p:txBody>
      </p:sp>
      <p:sp>
        <p:nvSpPr>
          <p:cNvPr id="13" name="Text 11"/>
          <p:cNvSpPr/>
          <p:nvPr/>
        </p:nvSpPr>
        <p:spPr>
          <a:xfrm>
            <a:off x="3337560" y="2633472"/>
            <a:ext cx="2423160" cy="1554480"/>
          </a:xfrm>
          <a:prstGeom prst="rect">
            <a:avLst/>
          </a:prstGeom>
          <a:noFill/>
          <a:ln/>
        </p:spPr>
        <p:txBody>
          <a:bodyPr wrap="square" rtlCol="0" anchor="ctr"/>
          <a:lstStyle/>
          <a:p>
            <a:pPr marL="0" indent="0" algn="ctr">
              <a:buNone/>
            </a:pPr>
            <a:r>
              <a:rPr lang="en-US" sz="1250" dirty="0">
                <a:solidFill>
                  <a:srgbClr val="2C5F6A"/>
                </a:solidFill>
                <a:latin typeface="Calibri" pitchFamily="34" charset="0"/>
                <a:ea typeface="Calibri" pitchFamily="34" charset="-122"/>
                <a:cs typeface="Calibri" pitchFamily="34" charset="-120"/>
              </a:rPr>
              <a:t>ChatGPT forgets everything the moment you close the tab. There's no accountability over time.</a:t>
            </a:r>
            <a:endParaRPr lang="en-US" sz="1250" dirty="0"/>
          </a:p>
        </p:txBody>
      </p:sp>
      <p:sp>
        <p:nvSpPr>
          <p:cNvPr id="14" name="Shape 12"/>
          <p:cNvSpPr/>
          <p:nvPr/>
        </p:nvSpPr>
        <p:spPr>
          <a:xfrm>
            <a:off x="6080760" y="868680"/>
            <a:ext cx="2697480" cy="3474720"/>
          </a:xfrm>
          <a:prstGeom prst="rect">
            <a:avLst/>
          </a:prstGeom>
          <a:solidFill>
            <a:srgbClr val="FFFFFF"/>
          </a:solidFill>
          <a:ln w="10160">
            <a:solidFill>
              <a:srgbClr val="C5E0E5"/>
            </a:solidFill>
            <a:prstDash val="solid"/>
          </a:ln>
          <a:effectLst>
            <a:outerShdw blurRad="101600" dist="38100" dir="8100000" algn="bl" rotWithShape="0">
              <a:srgbClr val="000000">
                <a:alpha val="10000"/>
              </a:srgbClr>
            </a:outerShdw>
          </a:effectLst>
        </p:spPr>
        <p:txBody>
          <a:bodyPr/>
          <a:lstStyle/>
          <a:p>
            <a:endParaRPr lang="en-US"/>
          </a:p>
        </p:txBody>
      </p:sp>
      <p:sp>
        <p:nvSpPr>
          <p:cNvPr id="15" name="Shape 13"/>
          <p:cNvSpPr/>
          <p:nvPr/>
        </p:nvSpPr>
        <p:spPr>
          <a:xfrm>
            <a:off x="7040880" y="1024128"/>
            <a:ext cx="777240" cy="777240"/>
          </a:xfrm>
          <a:prstGeom prst="ellipse">
            <a:avLst/>
          </a:prstGeom>
          <a:solidFill>
            <a:srgbClr val="0A2A2F"/>
          </a:solidFill>
          <a:ln/>
        </p:spPr>
        <p:txBody>
          <a:bodyPr/>
          <a:lstStyle/>
          <a:p>
            <a:endParaRPr lang="en-US"/>
          </a:p>
        </p:txBody>
      </p:sp>
      <p:sp>
        <p:nvSpPr>
          <p:cNvPr id="16" name="Text 14"/>
          <p:cNvSpPr/>
          <p:nvPr/>
        </p:nvSpPr>
        <p:spPr>
          <a:xfrm>
            <a:off x="7040880" y="1024128"/>
            <a:ext cx="777240" cy="77724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7" name="Text 15"/>
          <p:cNvSpPr/>
          <p:nvPr/>
        </p:nvSpPr>
        <p:spPr>
          <a:xfrm>
            <a:off x="6217920" y="1938528"/>
            <a:ext cx="2423160" cy="640080"/>
          </a:xfrm>
          <a:prstGeom prst="rect">
            <a:avLst/>
          </a:prstGeom>
          <a:noFill/>
          <a:ln/>
        </p:spPr>
        <p:txBody>
          <a:bodyPr wrap="square" rtlCol="0" anchor="ctr"/>
          <a:lstStyle/>
          <a:p>
            <a:pPr marL="0" indent="0" algn="ctr">
              <a:buNone/>
            </a:pPr>
            <a:r>
              <a:rPr lang="en-US" sz="1400" b="1" dirty="0">
                <a:solidFill>
                  <a:srgbClr val="0A2A2F"/>
                </a:solidFill>
                <a:latin typeface="Calibri" pitchFamily="34" charset="0"/>
                <a:ea typeface="Calibri" pitchFamily="34" charset="-122"/>
                <a:cs typeface="Calibri" pitchFamily="34" charset="-120"/>
              </a:rPr>
              <a:t>No proactive accountability</a:t>
            </a:r>
            <a:endParaRPr lang="en-US" sz="1400" dirty="0"/>
          </a:p>
        </p:txBody>
      </p:sp>
      <p:sp>
        <p:nvSpPr>
          <p:cNvPr id="18" name="Text 16"/>
          <p:cNvSpPr/>
          <p:nvPr/>
        </p:nvSpPr>
        <p:spPr>
          <a:xfrm>
            <a:off x="6217920" y="2633472"/>
            <a:ext cx="2423160" cy="1554480"/>
          </a:xfrm>
          <a:prstGeom prst="rect">
            <a:avLst/>
          </a:prstGeom>
          <a:noFill/>
          <a:ln/>
        </p:spPr>
        <p:txBody>
          <a:bodyPr wrap="square" rtlCol="0" anchor="ctr"/>
          <a:lstStyle/>
          <a:p>
            <a:pPr marL="0" indent="0" algn="ctr">
              <a:buNone/>
            </a:pPr>
            <a:r>
              <a:rPr lang="en-US" sz="1250" dirty="0">
                <a:solidFill>
                  <a:srgbClr val="2C5F6A"/>
                </a:solidFill>
                <a:latin typeface="Calibri" pitchFamily="34" charset="0"/>
                <a:ea typeface="Calibri" pitchFamily="34" charset="-122"/>
                <a:cs typeface="Calibri" pitchFamily="34" charset="-120"/>
              </a:rPr>
              <a:t>Nothing reminds you when you skip workouts or drift from your plan — until the results show up.</a:t>
            </a:r>
            <a:endParaRPr lang="en-US" sz="1250" dirty="0"/>
          </a:p>
        </p:txBody>
      </p:sp>
      <p:sp>
        <p:nvSpPr>
          <p:cNvPr id="19" name="Shape 17"/>
          <p:cNvSpPr/>
          <p:nvPr/>
        </p:nvSpPr>
        <p:spPr>
          <a:xfrm>
            <a:off x="320040" y="4526280"/>
            <a:ext cx="8503920" cy="420624"/>
          </a:xfrm>
          <a:prstGeom prst="rect">
            <a:avLst/>
          </a:prstGeom>
          <a:solidFill>
            <a:srgbClr val="0A2A2F"/>
          </a:solidFill>
          <a:ln/>
        </p:spPr>
        <p:txBody>
          <a:bodyPr/>
          <a:lstStyle/>
          <a:p>
            <a:endParaRPr lang="en-US"/>
          </a:p>
        </p:txBody>
      </p:sp>
      <p:sp>
        <p:nvSpPr>
          <p:cNvPr id="20" name="Text 18"/>
          <p:cNvSpPr/>
          <p:nvPr/>
        </p:nvSpPr>
        <p:spPr>
          <a:xfrm>
            <a:off x="457200" y="4526280"/>
            <a:ext cx="8229600" cy="420624"/>
          </a:xfrm>
          <a:prstGeom prst="rect">
            <a:avLst/>
          </a:prstGeom>
          <a:noFill/>
          <a:ln/>
        </p:spPr>
        <p:txBody>
          <a:bodyPr wrap="square" lIns="0" tIns="0" rIns="0" bIns="0" rtlCol="0" anchor="ctr"/>
          <a:lstStyle/>
          <a:p>
            <a:pPr marL="0" indent="0">
              <a:buNone/>
            </a:pPr>
            <a:r>
              <a:rPr lang="en-US" sz="1350" b="1" dirty="0">
                <a:solidFill>
                  <a:srgbClr val="02C39A"/>
                </a:solidFill>
              </a:rPr>
              <a:t>→  A persistent, tool-calling AI agent that plans, adapts, and holds you accountable across weeks.</a:t>
            </a:r>
            <a:endParaRPr lang="en-US" sz="1350" dirty="0"/>
          </a:p>
        </p:txBody>
      </p:sp>
      <p:pic>
        <p:nvPicPr>
          <p:cNvPr id="48" name="Audio 47">
            <a:extLst>
              <a:ext uri="{FF2B5EF4-FFF2-40B4-BE49-F238E27FC236}">
                <a16:creationId xmlns:a16="http://schemas.microsoft.com/office/drawing/2014/main" id="{F234D16B-7FDF-CFF5-A6D9-16B7C6FBB67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2786"/>
    </mc:Choice>
    <mc:Fallback xmlns="">
      <p:transition spd="slow" advTm="3278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A2F"/>
          </a:solidFill>
          <a:ln/>
        </p:spPr>
        <p:txBody>
          <a:bodyPr/>
          <a:lstStyle/>
          <a:p>
            <a:endParaRPr lang="en-US"/>
          </a:p>
        </p:txBody>
      </p:sp>
      <p:sp>
        <p:nvSpPr>
          <p:cNvPr id="3" name="Text 1"/>
          <p:cNvSpPr/>
          <p:nvPr/>
        </p:nvSpPr>
        <p:spPr>
          <a:xfrm>
            <a:off x="457200" y="0"/>
            <a:ext cx="8229600" cy="640080"/>
          </a:xfrm>
          <a:prstGeom prst="rect">
            <a:avLst/>
          </a:prstGeom>
          <a:noFill/>
          <a:ln/>
        </p:spPr>
        <p:txBody>
          <a:bodyPr wrap="square" lIns="0" tIns="0" rIns="0" bIns="0" rtlCol="0" anchor="ctr"/>
          <a:lstStyle/>
          <a:p>
            <a:pPr marL="0" indent="0">
              <a:buNone/>
            </a:pPr>
            <a:r>
              <a:rPr lang="en-US" sz="2200" b="1" dirty="0">
                <a:solidFill>
                  <a:srgbClr val="FFFFFF"/>
                </a:solidFill>
              </a:rPr>
              <a:t>System Architecture</a:t>
            </a:r>
            <a:endParaRPr lang="en-US" sz="2200" dirty="0"/>
          </a:p>
        </p:txBody>
      </p:sp>
      <p:sp>
        <p:nvSpPr>
          <p:cNvPr id="4" name="Shape 2"/>
          <p:cNvSpPr/>
          <p:nvPr/>
        </p:nvSpPr>
        <p:spPr>
          <a:xfrm>
            <a:off x="274320" y="868680"/>
            <a:ext cx="1508760" cy="960120"/>
          </a:xfrm>
          <a:prstGeom prst="rect">
            <a:avLst/>
          </a:prstGeom>
          <a:solidFill>
            <a:srgbClr val="028090"/>
          </a:solidFill>
          <a:ln/>
          <a:effectLst>
            <a:outerShdw blurRad="101600" dist="38100" dir="8100000" algn="bl" rotWithShape="0">
              <a:srgbClr val="000000">
                <a:alpha val="10000"/>
              </a:srgbClr>
            </a:outerShdw>
          </a:effectLst>
        </p:spPr>
        <p:txBody>
          <a:bodyPr/>
          <a:lstStyle/>
          <a:p>
            <a:endParaRPr lang="en-US"/>
          </a:p>
        </p:txBody>
      </p:sp>
      <p:sp>
        <p:nvSpPr>
          <p:cNvPr id="5" name="Text 3"/>
          <p:cNvSpPr/>
          <p:nvPr/>
        </p:nvSpPr>
        <p:spPr>
          <a:xfrm>
            <a:off x="274320" y="868680"/>
            <a:ext cx="1508760" cy="566928"/>
          </a:xfrm>
          <a:prstGeom prst="rect">
            <a:avLst/>
          </a:prstGeom>
          <a:noFill/>
          <a:ln/>
        </p:spPr>
        <p:txBody>
          <a:bodyPr wrap="square" rtlCol="0" anchor="b"/>
          <a:lstStyle/>
          <a:p>
            <a:pPr marL="0" indent="0" algn="ctr">
              <a:buNone/>
            </a:pPr>
            <a:r>
              <a:rPr lang="en-US" sz="1250" b="1" dirty="0">
                <a:solidFill>
                  <a:srgbClr val="FFFFFF"/>
                </a:solidFill>
                <a:latin typeface="Calibri" pitchFamily="34" charset="0"/>
                <a:ea typeface="Calibri" pitchFamily="34" charset="-122"/>
                <a:cs typeface="Calibri" pitchFamily="34" charset="-120"/>
              </a:rPr>
              <a:t>User message</a:t>
            </a:r>
            <a:endParaRPr lang="en-US" sz="1250" dirty="0"/>
          </a:p>
        </p:txBody>
      </p:sp>
      <p:sp>
        <p:nvSpPr>
          <p:cNvPr id="6" name="Text 4"/>
          <p:cNvSpPr/>
          <p:nvPr/>
        </p:nvSpPr>
        <p:spPr>
          <a:xfrm>
            <a:off x="274320" y="1435608"/>
            <a:ext cx="1508760" cy="393192"/>
          </a:xfrm>
          <a:prstGeom prst="rect">
            <a:avLst/>
          </a:prstGeom>
          <a:noFill/>
          <a:ln/>
        </p:spPr>
        <p:txBody>
          <a:bodyPr wrap="square" rtlCol="0" anchor="ctr"/>
          <a:lstStyle/>
          <a:p>
            <a:pPr marL="0" indent="0" algn="ctr">
              <a:buNone/>
            </a:pPr>
            <a:r>
              <a:rPr lang="en-US" sz="1000" dirty="0">
                <a:solidFill>
                  <a:srgbClr val="C8EAEF"/>
                </a:solidFill>
                <a:latin typeface="Calibri" pitchFamily="34" charset="0"/>
                <a:ea typeface="Calibri" pitchFamily="34" charset="-122"/>
                <a:cs typeface="Calibri" pitchFamily="34" charset="-120"/>
              </a:rPr>
              <a:t>natural language</a:t>
            </a:r>
            <a:endParaRPr lang="en-US" sz="1000" dirty="0"/>
          </a:p>
        </p:txBody>
      </p:sp>
      <p:sp>
        <p:nvSpPr>
          <p:cNvPr id="7" name="Shape 5"/>
          <p:cNvSpPr/>
          <p:nvPr/>
        </p:nvSpPr>
        <p:spPr>
          <a:xfrm>
            <a:off x="1783080" y="1344168"/>
            <a:ext cx="228600" cy="0"/>
          </a:xfrm>
          <a:prstGeom prst="line">
            <a:avLst/>
          </a:prstGeom>
          <a:noFill/>
          <a:ln w="25400">
            <a:solidFill>
              <a:srgbClr val="028090"/>
            </a:solidFill>
            <a:prstDash val="solid"/>
          </a:ln>
        </p:spPr>
        <p:txBody>
          <a:bodyPr/>
          <a:lstStyle/>
          <a:p>
            <a:endParaRPr lang="en-US"/>
          </a:p>
        </p:txBody>
      </p:sp>
      <p:sp>
        <p:nvSpPr>
          <p:cNvPr id="8" name="Text 6"/>
          <p:cNvSpPr/>
          <p:nvPr/>
        </p:nvSpPr>
        <p:spPr>
          <a:xfrm>
            <a:off x="1938528" y="1252728"/>
            <a:ext cx="182880" cy="201168"/>
          </a:xfrm>
          <a:prstGeom prst="rect">
            <a:avLst/>
          </a:prstGeom>
          <a:noFill/>
          <a:ln/>
        </p:spPr>
        <p:txBody>
          <a:bodyPr wrap="square" rtlCol="0" anchor="ctr"/>
          <a:lstStyle/>
          <a:p>
            <a:pPr marL="0" indent="0">
              <a:buNone/>
            </a:pPr>
            <a:r>
              <a:rPr lang="en-US" sz="1100" dirty="0">
                <a:solidFill>
                  <a:srgbClr val="028090"/>
                </a:solidFill>
              </a:rPr>
              <a:t>▶</a:t>
            </a:r>
            <a:endParaRPr lang="en-US" sz="1100" dirty="0"/>
          </a:p>
        </p:txBody>
      </p:sp>
      <p:sp>
        <p:nvSpPr>
          <p:cNvPr id="9" name="Shape 7"/>
          <p:cNvSpPr/>
          <p:nvPr/>
        </p:nvSpPr>
        <p:spPr>
          <a:xfrm>
            <a:off x="2011680" y="868680"/>
            <a:ext cx="1508760" cy="960120"/>
          </a:xfrm>
          <a:prstGeom prst="rect">
            <a:avLst/>
          </a:prstGeom>
          <a:solidFill>
            <a:srgbClr val="1C5F6A"/>
          </a:solidFill>
          <a:ln/>
          <a:effectLst>
            <a:outerShdw blurRad="101600" dist="38100" dir="8100000" algn="bl" rotWithShape="0">
              <a:srgbClr val="000000">
                <a:alpha val="10000"/>
              </a:srgbClr>
            </a:outerShdw>
          </a:effectLst>
        </p:spPr>
        <p:txBody>
          <a:bodyPr/>
          <a:lstStyle/>
          <a:p>
            <a:endParaRPr lang="en-US"/>
          </a:p>
        </p:txBody>
      </p:sp>
      <p:sp>
        <p:nvSpPr>
          <p:cNvPr id="10" name="Text 8"/>
          <p:cNvSpPr/>
          <p:nvPr/>
        </p:nvSpPr>
        <p:spPr>
          <a:xfrm>
            <a:off x="2011680" y="868680"/>
            <a:ext cx="1508760" cy="566928"/>
          </a:xfrm>
          <a:prstGeom prst="rect">
            <a:avLst/>
          </a:prstGeom>
          <a:noFill/>
          <a:ln/>
        </p:spPr>
        <p:txBody>
          <a:bodyPr wrap="square" rtlCol="0" anchor="b"/>
          <a:lstStyle/>
          <a:p>
            <a:pPr marL="0" indent="0" algn="ctr">
              <a:buNone/>
            </a:pPr>
            <a:r>
              <a:rPr lang="en-US" sz="1250" b="1" dirty="0">
                <a:solidFill>
                  <a:srgbClr val="FFFFFF"/>
                </a:solidFill>
                <a:latin typeface="Calibri" pitchFamily="34" charset="0"/>
                <a:ea typeface="Calibri" pitchFamily="34" charset="-122"/>
                <a:cs typeface="Calibri" pitchFamily="34" charset="-120"/>
              </a:rPr>
              <a:t>ReAct loop</a:t>
            </a:r>
            <a:endParaRPr lang="en-US" sz="1250" dirty="0"/>
          </a:p>
        </p:txBody>
      </p:sp>
      <p:sp>
        <p:nvSpPr>
          <p:cNvPr id="11" name="Text 9"/>
          <p:cNvSpPr/>
          <p:nvPr/>
        </p:nvSpPr>
        <p:spPr>
          <a:xfrm>
            <a:off x="2011680" y="1435608"/>
            <a:ext cx="1508760" cy="393192"/>
          </a:xfrm>
          <a:prstGeom prst="rect">
            <a:avLst/>
          </a:prstGeom>
          <a:noFill/>
          <a:ln/>
        </p:spPr>
        <p:txBody>
          <a:bodyPr wrap="square" rtlCol="0" anchor="ctr"/>
          <a:lstStyle/>
          <a:p>
            <a:pPr marL="0" indent="0" algn="ctr">
              <a:buNone/>
            </a:pPr>
            <a:r>
              <a:rPr lang="en-US" sz="1000" dirty="0">
                <a:solidFill>
                  <a:srgbClr val="C8EAEF"/>
                </a:solidFill>
                <a:latin typeface="Calibri" pitchFamily="34" charset="0"/>
                <a:ea typeface="Calibri" pitchFamily="34" charset="-122"/>
                <a:cs typeface="Calibri" pitchFamily="34" charset="-120"/>
              </a:rPr>
              <a:t>reason + pick tool</a:t>
            </a:r>
            <a:endParaRPr lang="en-US" sz="1000" dirty="0"/>
          </a:p>
        </p:txBody>
      </p:sp>
      <p:sp>
        <p:nvSpPr>
          <p:cNvPr id="12" name="Shape 10"/>
          <p:cNvSpPr/>
          <p:nvPr/>
        </p:nvSpPr>
        <p:spPr>
          <a:xfrm>
            <a:off x="3520440" y="1344168"/>
            <a:ext cx="228600" cy="0"/>
          </a:xfrm>
          <a:prstGeom prst="line">
            <a:avLst/>
          </a:prstGeom>
          <a:noFill/>
          <a:ln w="25400">
            <a:solidFill>
              <a:srgbClr val="028090"/>
            </a:solidFill>
            <a:prstDash val="solid"/>
          </a:ln>
        </p:spPr>
        <p:txBody>
          <a:bodyPr/>
          <a:lstStyle/>
          <a:p>
            <a:endParaRPr lang="en-US"/>
          </a:p>
        </p:txBody>
      </p:sp>
      <p:sp>
        <p:nvSpPr>
          <p:cNvPr id="13" name="Text 11"/>
          <p:cNvSpPr/>
          <p:nvPr/>
        </p:nvSpPr>
        <p:spPr>
          <a:xfrm>
            <a:off x="3675888" y="1252728"/>
            <a:ext cx="182880" cy="201168"/>
          </a:xfrm>
          <a:prstGeom prst="rect">
            <a:avLst/>
          </a:prstGeom>
          <a:noFill/>
          <a:ln/>
        </p:spPr>
        <p:txBody>
          <a:bodyPr wrap="square" rtlCol="0" anchor="ctr"/>
          <a:lstStyle/>
          <a:p>
            <a:pPr marL="0" indent="0">
              <a:buNone/>
            </a:pPr>
            <a:r>
              <a:rPr lang="en-US" sz="1100" dirty="0">
                <a:solidFill>
                  <a:srgbClr val="028090"/>
                </a:solidFill>
              </a:rPr>
              <a:t>▶</a:t>
            </a:r>
            <a:endParaRPr lang="en-US" sz="1100" dirty="0"/>
          </a:p>
        </p:txBody>
      </p:sp>
      <p:sp>
        <p:nvSpPr>
          <p:cNvPr id="14" name="Shape 12"/>
          <p:cNvSpPr/>
          <p:nvPr/>
        </p:nvSpPr>
        <p:spPr>
          <a:xfrm>
            <a:off x="3749040" y="868680"/>
            <a:ext cx="1508760" cy="960120"/>
          </a:xfrm>
          <a:prstGeom prst="rect">
            <a:avLst/>
          </a:prstGeom>
          <a:solidFill>
            <a:srgbClr val="028090"/>
          </a:solidFill>
          <a:ln/>
          <a:effectLst>
            <a:outerShdw blurRad="101600" dist="38100" dir="8100000" algn="bl" rotWithShape="0">
              <a:srgbClr val="000000">
                <a:alpha val="10000"/>
              </a:srgbClr>
            </a:outerShdw>
          </a:effectLst>
        </p:spPr>
        <p:txBody>
          <a:bodyPr/>
          <a:lstStyle/>
          <a:p>
            <a:endParaRPr lang="en-US"/>
          </a:p>
        </p:txBody>
      </p:sp>
      <p:sp>
        <p:nvSpPr>
          <p:cNvPr id="15" name="Text 13"/>
          <p:cNvSpPr/>
          <p:nvPr/>
        </p:nvSpPr>
        <p:spPr>
          <a:xfrm>
            <a:off x="3749040" y="868680"/>
            <a:ext cx="1508760" cy="566928"/>
          </a:xfrm>
          <a:prstGeom prst="rect">
            <a:avLst/>
          </a:prstGeom>
          <a:noFill/>
          <a:ln/>
        </p:spPr>
        <p:txBody>
          <a:bodyPr wrap="square" rtlCol="0" anchor="b"/>
          <a:lstStyle/>
          <a:p>
            <a:pPr marL="0" indent="0" algn="ctr">
              <a:buNone/>
            </a:pPr>
            <a:r>
              <a:rPr lang="en-US" sz="1250" b="1" dirty="0">
                <a:solidFill>
                  <a:srgbClr val="FFFFFF"/>
                </a:solidFill>
                <a:latin typeface="Calibri" pitchFamily="34" charset="0"/>
                <a:ea typeface="Calibri" pitchFamily="34" charset="-122"/>
                <a:cs typeface="Calibri" pitchFamily="34" charset="-120"/>
              </a:rPr>
              <a:t>Tool call</a:t>
            </a:r>
            <a:endParaRPr lang="en-US" sz="1250" dirty="0"/>
          </a:p>
        </p:txBody>
      </p:sp>
      <p:sp>
        <p:nvSpPr>
          <p:cNvPr id="16" name="Text 14"/>
          <p:cNvSpPr/>
          <p:nvPr/>
        </p:nvSpPr>
        <p:spPr>
          <a:xfrm>
            <a:off x="3749040" y="1435608"/>
            <a:ext cx="1508760" cy="393192"/>
          </a:xfrm>
          <a:prstGeom prst="rect">
            <a:avLst/>
          </a:prstGeom>
          <a:noFill/>
          <a:ln/>
        </p:spPr>
        <p:txBody>
          <a:bodyPr wrap="square" rtlCol="0" anchor="ctr"/>
          <a:lstStyle/>
          <a:p>
            <a:pPr marL="0" indent="0" algn="ctr">
              <a:buNone/>
            </a:pPr>
            <a:r>
              <a:rPr lang="en-US" sz="1000" dirty="0">
                <a:solidFill>
                  <a:srgbClr val="C8EAEF"/>
                </a:solidFill>
                <a:latin typeface="Calibri" pitchFamily="34" charset="0"/>
                <a:ea typeface="Calibri" pitchFamily="34" charset="-122"/>
                <a:cs typeface="Calibri" pitchFamily="34" charset="-120"/>
              </a:rPr>
              <a:t>7 real functions</a:t>
            </a:r>
            <a:endParaRPr lang="en-US" sz="1000" dirty="0"/>
          </a:p>
        </p:txBody>
      </p:sp>
      <p:sp>
        <p:nvSpPr>
          <p:cNvPr id="17" name="Shape 15"/>
          <p:cNvSpPr/>
          <p:nvPr/>
        </p:nvSpPr>
        <p:spPr>
          <a:xfrm>
            <a:off x="5257800" y="1344168"/>
            <a:ext cx="228600" cy="0"/>
          </a:xfrm>
          <a:prstGeom prst="line">
            <a:avLst/>
          </a:prstGeom>
          <a:noFill/>
          <a:ln w="25400">
            <a:solidFill>
              <a:srgbClr val="028090"/>
            </a:solidFill>
            <a:prstDash val="solid"/>
          </a:ln>
        </p:spPr>
        <p:txBody>
          <a:bodyPr/>
          <a:lstStyle/>
          <a:p>
            <a:endParaRPr lang="en-US"/>
          </a:p>
        </p:txBody>
      </p:sp>
      <p:sp>
        <p:nvSpPr>
          <p:cNvPr id="18" name="Text 16"/>
          <p:cNvSpPr/>
          <p:nvPr/>
        </p:nvSpPr>
        <p:spPr>
          <a:xfrm>
            <a:off x="5413248" y="1252728"/>
            <a:ext cx="182880" cy="201168"/>
          </a:xfrm>
          <a:prstGeom prst="rect">
            <a:avLst/>
          </a:prstGeom>
          <a:noFill/>
          <a:ln/>
        </p:spPr>
        <p:txBody>
          <a:bodyPr wrap="square" rtlCol="0" anchor="ctr"/>
          <a:lstStyle/>
          <a:p>
            <a:pPr marL="0" indent="0">
              <a:buNone/>
            </a:pPr>
            <a:r>
              <a:rPr lang="en-US" sz="1100" dirty="0">
                <a:solidFill>
                  <a:srgbClr val="028090"/>
                </a:solidFill>
              </a:rPr>
              <a:t>▶</a:t>
            </a:r>
            <a:endParaRPr lang="en-US" sz="1100" dirty="0"/>
          </a:p>
        </p:txBody>
      </p:sp>
      <p:sp>
        <p:nvSpPr>
          <p:cNvPr id="19" name="Shape 17"/>
          <p:cNvSpPr/>
          <p:nvPr/>
        </p:nvSpPr>
        <p:spPr>
          <a:xfrm>
            <a:off x="5486400" y="868680"/>
            <a:ext cx="1508760" cy="960120"/>
          </a:xfrm>
          <a:prstGeom prst="rect">
            <a:avLst/>
          </a:prstGeom>
          <a:solidFill>
            <a:srgbClr val="1C5F6A"/>
          </a:solidFill>
          <a:ln/>
          <a:effectLst>
            <a:outerShdw blurRad="101600" dist="38100" dir="8100000" algn="bl" rotWithShape="0">
              <a:srgbClr val="000000">
                <a:alpha val="10000"/>
              </a:srgbClr>
            </a:outerShdw>
          </a:effectLst>
        </p:spPr>
        <p:txBody>
          <a:bodyPr/>
          <a:lstStyle/>
          <a:p>
            <a:endParaRPr lang="en-US"/>
          </a:p>
        </p:txBody>
      </p:sp>
      <p:sp>
        <p:nvSpPr>
          <p:cNvPr id="20" name="Text 18"/>
          <p:cNvSpPr/>
          <p:nvPr/>
        </p:nvSpPr>
        <p:spPr>
          <a:xfrm>
            <a:off x="5486400" y="868680"/>
            <a:ext cx="1508760" cy="566928"/>
          </a:xfrm>
          <a:prstGeom prst="rect">
            <a:avLst/>
          </a:prstGeom>
          <a:noFill/>
          <a:ln/>
        </p:spPr>
        <p:txBody>
          <a:bodyPr wrap="square" rtlCol="0" anchor="b"/>
          <a:lstStyle/>
          <a:p>
            <a:pPr marL="0" indent="0" algn="ctr">
              <a:buNone/>
            </a:pPr>
            <a:r>
              <a:rPr lang="en-US" sz="1250" b="1" dirty="0">
                <a:solidFill>
                  <a:srgbClr val="FFFFFF"/>
                </a:solidFill>
                <a:latin typeface="Calibri" pitchFamily="34" charset="0"/>
                <a:ea typeface="Calibri" pitchFamily="34" charset="-122"/>
                <a:cs typeface="Calibri" pitchFamily="34" charset="-120"/>
              </a:rPr>
              <a:t>Observe result</a:t>
            </a:r>
            <a:endParaRPr lang="en-US" sz="1250" dirty="0"/>
          </a:p>
        </p:txBody>
      </p:sp>
      <p:sp>
        <p:nvSpPr>
          <p:cNvPr id="21" name="Text 19"/>
          <p:cNvSpPr/>
          <p:nvPr/>
        </p:nvSpPr>
        <p:spPr>
          <a:xfrm>
            <a:off x="5486400" y="1435608"/>
            <a:ext cx="1508760" cy="393192"/>
          </a:xfrm>
          <a:prstGeom prst="rect">
            <a:avLst/>
          </a:prstGeom>
          <a:noFill/>
          <a:ln/>
        </p:spPr>
        <p:txBody>
          <a:bodyPr wrap="square" rtlCol="0" anchor="ctr"/>
          <a:lstStyle/>
          <a:p>
            <a:pPr marL="0" indent="0" algn="ctr">
              <a:buNone/>
            </a:pPr>
            <a:r>
              <a:rPr lang="en-US" sz="1000" dirty="0">
                <a:solidFill>
                  <a:srgbClr val="C8EAEF"/>
                </a:solidFill>
                <a:latin typeface="Calibri" pitchFamily="34" charset="0"/>
                <a:ea typeface="Calibri" pitchFamily="34" charset="-122"/>
                <a:cs typeface="Calibri" pitchFamily="34" charset="-120"/>
              </a:rPr>
              <a:t>fed back to LLM</a:t>
            </a:r>
            <a:endParaRPr lang="en-US" sz="1000" dirty="0"/>
          </a:p>
        </p:txBody>
      </p:sp>
      <p:sp>
        <p:nvSpPr>
          <p:cNvPr id="22" name="Shape 20"/>
          <p:cNvSpPr/>
          <p:nvPr/>
        </p:nvSpPr>
        <p:spPr>
          <a:xfrm>
            <a:off x="6995160" y="1344168"/>
            <a:ext cx="228600" cy="0"/>
          </a:xfrm>
          <a:prstGeom prst="line">
            <a:avLst/>
          </a:prstGeom>
          <a:noFill/>
          <a:ln w="25400">
            <a:solidFill>
              <a:srgbClr val="028090"/>
            </a:solidFill>
            <a:prstDash val="solid"/>
          </a:ln>
        </p:spPr>
        <p:txBody>
          <a:bodyPr/>
          <a:lstStyle/>
          <a:p>
            <a:endParaRPr lang="en-US"/>
          </a:p>
        </p:txBody>
      </p:sp>
      <p:sp>
        <p:nvSpPr>
          <p:cNvPr id="23" name="Text 21"/>
          <p:cNvSpPr/>
          <p:nvPr/>
        </p:nvSpPr>
        <p:spPr>
          <a:xfrm>
            <a:off x="7150608" y="1252728"/>
            <a:ext cx="182880" cy="201168"/>
          </a:xfrm>
          <a:prstGeom prst="rect">
            <a:avLst/>
          </a:prstGeom>
          <a:noFill/>
          <a:ln/>
        </p:spPr>
        <p:txBody>
          <a:bodyPr wrap="square" rtlCol="0" anchor="ctr"/>
          <a:lstStyle/>
          <a:p>
            <a:pPr marL="0" indent="0">
              <a:buNone/>
            </a:pPr>
            <a:r>
              <a:rPr lang="en-US" sz="1100" dirty="0">
                <a:solidFill>
                  <a:srgbClr val="028090"/>
                </a:solidFill>
              </a:rPr>
              <a:t>▶</a:t>
            </a:r>
            <a:endParaRPr lang="en-US" sz="1100" dirty="0"/>
          </a:p>
        </p:txBody>
      </p:sp>
      <p:sp>
        <p:nvSpPr>
          <p:cNvPr id="24" name="Shape 22"/>
          <p:cNvSpPr/>
          <p:nvPr/>
        </p:nvSpPr>
        <p:spPr>
          <a:xfrm>
            <a:off x="7223760" y="868680"/>
            <a:ext cx="1508760" cy="960120"/>
          </a:xfrm>
          <a:prstGeom prst="rect">
            <a:avLst/>
          </a:prstGeom>
          <a:solidFill>
            <a:srgbClr val="02C39A"/>
          </a:solidFill>
          <a:ln/>
          <a:effectLst>
            <a:outerShdw blurRad="101600" dist="38100" dir="8100000" algn="bl" rotWithShape="0">
              <a:srgbClr val="000000">
                <a:alpha val="10000"/>
              </a:srgbClr>
            </a:outerShdw>
          </a:effectLst>
        </p:spPr>
        <p:txBody>
          <a:bodyPr/>
          <a:lstStyle/>
          <a:p>
            <a:endParaRPr lang="en-US"/>
          </a:p>
        </p:txBody>
      </p:sp>
      <p:sp>
        <p:nvSpPr>
          <p:cNvPr id="25" name="Text 23"/>
          <p:cNvSpPr/>
          <p:nvPr/>
        </p:nvSpPr>
        <p:spPr>
          <a:xfrm>
            <a:off x="7223760" y="868680"/>
            <a:ext cx="1508760" cy="566928"/>
          </a:xfrm>
          <a:prstGeom prst="rect">
            <a:avLst/>
          </a:prstGeom>
          <a:noFill/>
          <a:ln/>
        </p:spPr>
        <p:txBody>
          <a:bodyPr wrap="square" rtlCol="0" anchor="b"/>
          <a:lstStyle/>
          <a:p>
            <a:pPr marL="0" indent="0" algn="ctr">
              <a:buNone/>
            </a:pPr>
            <a:r>
              <a:rPr lang="en-US" sz="1250" b="1" dirty="0">
                <a:solidFill>
                  <a:srgbClr val="FFFFFF"/>
                </a:solidFill>
                <a:latin typeface="Calibri" pitchFamily="34" charset="0"/>
                <a:ea typeface="Calibri" pitchFamily="34" charset="-122"/>
                <a:cs typeface="Calibri" pitchFamily="34" charset="-120"/>
              </a:rPr>
              <a:t>Reply</a:t>
            </a:r>
            <a:endParaRPr lang="en-US" sz="1250" dirty="0"/>
          </a:p>
        </p:txBody>
      </p:sp>
      <p:sp>
        <p:nvSpPr>
          <p:cNvPr id="26" name="Text 24"/>
          <p:cNvSpPr/>
          <p:nvPr/>
        </p:nvSpPr>
        <p:spPr>
          <a:xfrm>
            <a:off x="7223760" y="1435608"/>
            <a:ext cx="1508760" cy="393192"/>
          </a:xfrm>
          <a:prstGeom prst="rect">
            <a:avLst/>
          </a:prstGeom>
          <a:noFill/>
          <a:ln/>
        </p:spPr>
        <p:txBody>
          <a:bodyPr wrap="square" rtlCol="0" anchor="ctr"/>
          <a:lstStyle/>
          <a:p>
            <a:pPr marL="0" indent="0" algn="ctr">
              <a:buNone/>
            </a:pPr>
            <a:r>
              <a:rPr lang="en-US" sz="1000" dirty="0">
                <a:solidFill>
                  <a:srgbClr val="C8EAEF"/>
                </a:solidFill>
                <a:latin typeface="Calibri" pitchFamily="34" charset="0"/>
                <a:ea typeface="Calibri" pitchFamily="34" charset="-122"/>
                <a:cs typeface="Calibri" pitchFamily="34" charset="-120"/>
              </a:rPr>
              <a:t>grounded response</a:t>
            </a:r>
            <a:endParaRPr lang="en-US" sz="1000" dirty="0"/>
          </a:p>
        </p:txBody>
      </p:sp>
      <p:sp>
        <p:nvSpPr>
          <p:cNvPr id="27" name="Shape 25"/>
          <p:cNvSpPr/>
          <p:nvPr/>
        </p:nvSpPr>
        <p:spPr>
          <a:xfrm>
            <a:off x="274320" y="1993392"/>
            <a:ext cx="6812280" cy="0"/>
          </a:xfrm>
          <a:prstGeom prst="line">
            <a:avLst/>
          </a:prstGeom>
          <a:noFill/>
          <a:ln w="10160">
            <a:solidFill>
              <a:srgbClr val="7A9EA5"/>
            </a:solidFill>
            <a:prstDash val="dash"/>
          </a:ln>
        </p:spPr>
        <p:txBody>
          <a:bodyPr/>
          <a:lstStyle/>
          <a:p>
            <a:endParaRPr lang="en-US"/>
          </a:p>
        </p:txBody>
      </p:sp>
      <p:sp>
        <p:nvSpPr>
          <p:cNvPr id="28" name="Text 26"/>
          <p:cNvSpPr/>
          <p:nvPr/>
        </p:nvSpPr>
        <p:spPr>
          <a:xfrm>
            <a:off x="2286000" y="2084832"/>
            <a:ext cx="3657600" cy="274320"/>
          </a:xfrm>
          <a:prstGeom prst="rect">
            <a:avLst/>
          </a:prstGeom>
          <a:noFill/>
          <a:ln/>
        </p:spPr>
        <p:txBody>
          <a:bodyPr wrap="square" rtlCol="0" anchor="ctr"/>
          <a:lstStyle/>
          <a:p>
            <a:pPr marL="0" indent="0" algn="ctr">
              <a:buNone/>
            </a:pPr>
            <a:r>
              <a:rPr lang="en-US" sz="1100" dirty="0">
                <a:solidFill>
                  <a:srgbClr val="7A9EA5"/>
                </a:solidFill>
              </a:rPr>
              <a:t>↺  loops until no more tool calls needed</a:t>
            </a:r>
            <a:endParaRPr lang="en-US" sz="1100" dirty="0"/>
          </a:p>
        </p:txBody>
      </p:sp>
      <p:sp>
        <p:nvSpPr>
          <p:cNvPr id="29" name="Text 27"/>
          <p:cNvSpPr/>
          <p:nvPr/>
        </p:nvSpPr>
        <p:spPr>
          <a:xfrm>
            <a:off x="320040" y="2514600"/>
            <a:ext cx="2743200" cy="292608"/>
          </a:xfrm>
          <a:prstGeom prst="rect">
            <a:avLst/>
          </a:prstGeom>
          <a:noFill/>
          <a:ln/>
        </p:spPr>
        <p:txBody>
          <a:bodyPr wrap="square" rtlCol="0" anchor="ctr"/>
          <a:lstStyle/>
          <a:p>
            <a:pPr marL="0" indent="0">
              <a:buNone/>
            </a:pPr>
            <a:r>
              <a:rPr lang="en-US" sz="1300" b="1" dirty="0">
                <a:solidFill>
                  <a:srgbClr val="0A2A2F"/>
                </a:solidFill>
              </a:rPr>
              <a:t>Project files</a:t>
            </a:r>
            <a:endParaRPr lang="en-US" sz="1300" dirty="0"/>
          </a:p>
        </p:txBody>
      </p:sp>
      <p:sp>
        <p:nvSpPr>
          <p:cNvPr id="30" name="Shape 28"/>
          <p:cNvSpPr/>
          <p:nvPr/>
        </p:nvSpPr>
        <p:spPr>
          <a:xfrm>
            <a:off x="320040" y="2834640"/>
            <a:ext cx="8503920" cy="274320"/>
          </a:xfrm>
          <a:prstGeom prst="rect">
            <a:avLst/>
          </a:prstGeom>
          <a:solidFill>
            <a:srgbClr val="E8F4F6"/>
          </a:solidFill>
          <a:ln/>
        </p:spPr>
        <p:txBody>
          <a:bodyPr/>
          <a:lstStyle/>
          <a:p>
            <a:endParaRPr lang="en-US"/>
          </a:p>
        </p:txBody>
      </p:sp>
      <p:sp>
        <p:nvSpPr>
          <p:cNvPr id="31" name="Text 29"/>
          <p:cNvSpPr/>
          <p:nvPr/>
        </p:nvSpPr>
        <p:spPr>
          <a:xfrm>
            <a:off x="411480" y="2834640"/>
            <a:ext cx="2103120" cy="274320"/>
          </a:xfrm>
          <a:prstGeom prst="rect">
            <a:avLst/>
          </a:prstGeom>
          <a:noFill/>
          <a:ln/>
        </p:spPr>
        <p:txBody>
          <a:bodyPr wrap="square" rtlCol="0" anchor="ctr"/>
          <a:lstStyle/>
          <a:p>
            <a:pPr marL="0" indent="0">
              <a:buNone/>
            </a:pPr>
            <a:r>
              <a:rPr lang="en-US" sz="1150" b="1" dirty="0">
                <a:solidFill>
                  <a:srgbClr val="028090"/>
                </a:solidFill>
                <a:latin typeface="Consolas" pitchFamily="34" charset="0"/>
                <a:ea typeface="Consolas" pitchFamily="34" charset="-122"/>
                <a:cs typeface="Consolas" pitchFamily="34" charset="-120"/>
              </a:rPr>
              <a:t>main.py</a:t>
            </a:r>
            <a:endParaRPr lang="en-US" sz="1150" dirty="0"/>
          </a:p>
        </p:txBody>
      </p:sp>
      <p:sp>
        <p:nvSpPr>
          <p:cNvPr id="32" name="Text 30"/>
          <p:cNvSpPr/>
          <p:nvPr/>
        </p:nvSpPr>
        <p:spPr>
          <a:xfrm>
            <a:off x="2606040" y="2834640"/>
            <a:ext cx="6126480" cy="274320"/>
          </a:xfrm>
          <a:prstGeom prst="rect">
            <a:avLst/>
          </a:prstGeom>
          <a:noFill/>
          <a:ln/>
        </p:spPr>
        <p:txBody>
          <a:bodyPr wrap="square" rtlCol="0" anchor="ctr"/>
          <a:lstStyle/>
          <a:p>
            <a:pPr marL="0" indent="0">
              <a:buNone/>
            </a:pPr>
            <a:r>
              <a:rPr lang="en-US" sz="1150" dirty="0">
                <a:solidFill>
                  <a:srgbClr val="2C5F6A"/>
                </a:solidFill>
              </a:rPr>
              <a:t>CLI entry point + session control</a:t>
            </a:r>
            <a:endParaRPr lang="en-US" sz="1150" dirty="0"/>
          </a:p>
        </p:txBody>
      </p:sp>
      <p:sp>
        <p:nvSpPr>
          <p:cNvPr id="33" name="Shape 31"/>
          <p:cNvSpPr/>
          <p:nvPr/>
        </p:nvSpPr>
        <p:spPr>
          <a:xfrm>
            <a:off x="320040" y="3136392"/>
            <a:ext cx="8503920" cy="274320"/>
          </a:xfrm>
          <a:prstGeom prst="rect">
            <a:avLst/>
          </a:prstGeom>
          <a:solidFill>
            <a:srgbClr val="FFFFFF"/>
          </a:solidFill>
          <a:ln/>
        </p:spPr>
        <p:txBody>
          <a:bodyPr/>
          <a:lstStyle/>
          <a:p>
            <a:endParaRPr lang="en-US"/>
          </a:p>
        </p:txBody>
      </p:sp>
      <p:sp>
        <p:nvSpPr>
          <p:cNvPr id="34" name="Text 32"/>
          <p:cNvSpPr/>
          <p:nvPr/>
        </p:nvSpPr>
        <p:spPr>
          <a:xfrm>
            <a:off x="411480" y="3136392"/>
            <a:ext cx="2103120" cy="274320"/>
          </a:xfrm>
          <a:prstGeom prst="rect">
            <a:avLst/>
          </a:prstGeom>
          <a:noFill/>
          <a:ln/>
        </p:spPr>
        <p:txBody>
          <a:bodyPr wrap="square" rtlCol="0" anchor="ctr"/>
          <a:lstStyle/>
          <a:p>
            <a:pPr marL="0" indent="0">
              <a:buNone/>
            </a:pPr>
            <a:r>
              <a:rPr lang="en-US" sz="1150" b="1" dirty="0">
                <a:solidFill>
                  <a:srgbClr val="028090"/>
                </a:solidFill>
                <a:latin typeface="Consolas" pitchFamily="34" charset="0"/>
                <a:ea typeface="Consolas" pitchFamily="34" charset="-122"/>
                <a:cs typeface="Consolas" pitchFamily="34" charset="-120"/>
              </a:rPr>
              <a:t>agent.py</a:t>
            </a:r>
            <a:endParaRPr lang="en-US" sz="1150" dirty="0"/>
          </a:p>
        </p:txBody>
      </p:sp>
      <p:sp>
        <p:nvSpPr>
          <p:cNvPr id="35" name="Text 33"/>
          <p:cNvSpPr/>
          <p:nvPr/>
        </p:nvSpPr>
        <p:spPr>
          <a:xfrm>
            <a:off x="2606040" y="3136392"/>
            <a:ext cx="6126480" cy="274320"/>
          </a:xfrm>
          <a:prstGeom prst="rect">
            <a:avLst/>
          </a:prstGeom>
          <a:noFill/>
          <a:ln/>
        </p:spPr>
        <p:txBody>
          <a:bodyPr wrap="square" rtlCol="0" anchor="ctr"/>
          <a:lstStyle/>
          <a:p>
            <a:pPr marL="0" indent="0">
              <a:buNone/>
            </a:pPr>
            <a:r>
              <a:rPr lang="en-US" sz="1150" dirty="0">
                <a:solidFill>
                  <a:srgbClr val="2C5F6A"/>
                </a:solidFill>
              </a:rPr>
              <a:t>ReAct loop, OpenAI function calling, tool dispatcher</a:t>
            </a:r>
            <a:endParaRPr lang="en-US" sz="1150" dirty="0"/>
          </a:p>
        </p:txBody>
      </p:sp>
      <p:sp>
        <p:nvSpPr>
          <p:cNvPr id="36" name="Shape 34"/>
          <p:cNvSpPr/>
          <p:nvPr/>
        </p:nvSpPr>
        <p:spPr>
          <a:xfrm>
            <a:off x="320040" y="3438144"/>
            <a:ext cx="8503920" cy="274320"/>
          </a:xfrm>
          <a:prstGeom prst="rect">
            <a:avLst/>
          </a:prstGeom>
          <a:solidFill>
            <a:srgbClr val="E8F4F6"/>
          </a:solidFill>
          <a:ln/>
        </p:spPr>
        <p:txBody>
          <a:bodyPr/>
          <a:lstStyle/>
          <a:p>
            <a:endParaRPr lang="en-US"/>
          </a:p>
        </p:txBody>
      </p:sp>
      <p:sp>
        <p:nvSpPr>
          <p:cNvPr id="37" name="Text 35"/>
          <p:cNvSpPr/>
          <p:nvPr/>
        </p:nvSpPr>
        <p:spPr>
          <a:xfrm>
            <a:off x="411480" y="3438144"/>
            <a:ext cx="2103120" cy="274320"/>
          </a:xfrm>
          <a:prstGeom prst="rect">
            <a:avLst/>
          </a:prstGeom>
          <a:noFill/>
          <a:ln/>
        </p:spPr>
        <p:txBody>
          <a:bodyPr wrap="square" rtlCol="0" anchor="ctr"/>
          <a:lstStyle/>
          <a:p>
            <a:pPr marL="0" indent="0">
              <a:buNone/>
            </a:pPr>
            <a:r>
              <a:rPr lang="en-US" sz="1150" b="1" dirty="0">
                <a:solidFill>
                  <a:srgbClr val="028090"/>
                </a:solidFill>
                <a:latin typeface="Consolas" pitchFamily="34" charset="0"/>
                <a:ea typeface="Consolas" pitchFamily="34" charset="-122"/>
                <a:cs typeface="Consolas" pitchFamily="34" charset="-120"/>
              </a:rPr>
              <a:t>meal_planner.py</a:t>
            </a:r>
            <a:endParaRPr lang="en-US" sz="1150" dirty="0"/>
          </a:p>
        </p:txBody>
      </p:sp>
      <p:sp>
        <p:nvSpPr>
          <p:cNvPr id="38" name="Text 36"/>
          <p:cNvSpPr/>
          <p:nvPr/>
        </p:nvSpPr>
        <p:spPr>
          <a:xfrm>
            <a:off x="2606040" y="3438144"/>
            <a:ext cx="6126480" cy="274320"/>
          </a:xfrm>
          <a:prstGeom prst="rect">
            <a:avLst/>
          </a:prstGeom>
          <a:noFill/>
          <a:ln/>
        </p:spPr>
        <p:txBody>
          <a:bodyPr wrap="square" rtlCol="0" anchor="ctr"/>
          <a:lstStyle/>
          <a:p>
            <a:pPr marL="0" indent="0">
              <a:buNone/>
            </a:pPr>
            <a:r>
              <a:rPr lang="en-US" sz="1150" dirty="0">
                <a:solidFill>
                  <a:srgbClr val="2C5F6A"/>
                </a:solidFill>
              </a:rPr>
              <a:t>RAG + Chain-of-Thought + Self-Refine pipeline</a:t>
            </a:r>
            <a:endParaRPr lang="en-US" sz="1150" dirty="0"/>
          </a:p>
        </p:txBody>
      </p:sp>
      <p:sp>
        <p:nvSpPr>
          <p:cNvPr id="39" name="Shape 37"/>
          <p:cNvSpPr/>
          <p:nvPr/>
        </p:nvSpPr>
        <p:spPr>
          <a:xfrm>
            <a:off x="320040" y="3739896"/>
            <a:ext cx="8503920" cy="274320"/>
          </a:xfrm>
          <a:prstGeom prst="rect">
            <a:avLst/>
          </a:prstGeom>
          <a:solidFill>
            <a:srgbClr val="FFFFFF"/>
          </a:solidFill>
          <a:ln/>
        </p:spPr>
        <p:txBody>
          <a:bodyPr/>
          <a:lstStyle/>
          <a:p>
            <a:endParaRPr lang="en-US"/>
          </a:p>
        </p:txBody>
      </p:sp>
      <p:sp>
        <p:nvSpPr>
          <p:cNvPr id="40" name="Text 38"/>
          <p:cNvSpPr/>
          <p:nvPr/>
        </p:nvSpPr>
        <p:spPr>
          <a:xfrm>
            <a:off x="411480" y="3739896"/>
            <a:ext cx="2103120" cy="274320"/>
          </a:xfrm>
          <a:prstGeom prst="rect">
            <a:avLst/>
          </a:prstGeom>
          <a:noFill/>
          <a:ln/>
        </p:spPr>
        <p:txBody>
          <a:bodyPr wrap="square" rtlCol="0" anchor="ctr"/>
          <a:lstStyle/>
          <a:p>
            <a:pPr marL="0" indent="0">
              <a:buNone/>
            </a:pPr>
            <a:r>
              <a:rPr lang="en-US" sz="1150" b="1" dirty="0">
                <a:solidFill>
                  <a:srgbClr val="028090"/>
                </a:solidFill>
                <a:latin typeface="Consolas" pitchFamily="34" charset="0"/>
                <a:ea typeface="Consolas" pitchFamily="34" charset="-122"/>
                <a:cs typeface="Consolas" pitchFamily="34" charset="-120"/>
              </a:rPr>
              <a:t>rag.py</a:t>
            </a:r>
            <a:endParaRPr lang="en-US" sz="1150" dirty="0"/>
          </a:p>
        </p:txBody>
      </p:sp>
      <p:sp>
        <p:nvSpPr>
          <p:cNvPr id="41" name="Text 39"/>
          <p:cNvSpPr/>
          <p:nvPr/>
        </p:nvSpPr>
        <p:spPr>
          <a:xfrm>
            <a:off x="2606040" y="3739896"/>
            <a:ext cx="6126480" cy="274320"/>
          </a:xfrm>
          <a:prstGeom prst="rect">
            <a:avLst/>
          </a:prstGeom>
          <a:noFill/>
          <a:ln/>
        </p:spPr>
        <p:txBody>
          <a:bodyPr wrap="square" rtlCol="0" anchor="ctr"/>
          <a:lstStyle/>
          <a:p>
            <a:pPr marL="0" indent="0">
              <a:buNone/>
            </a:pPr>
            <a:r>
              <a:rPr lang="en-US" sz="1150" dirty="0">
                <a:solidFill>
                  <a:srgbClr val="2C5F6A"/>
                </a:solidFill>
              </a:rPr>
              <a:t>Embedding, cosine similarity, KB retrieval</a:t>
            </a:r>
            <a:endParaRPr lang="en-US" sz="1150" dirty="0"/>
          </a:p>
        </p:txBody>
      </p:sp>
      <p:sp>
        <p:nvSpPr>
          <p:cNvPr id="42" name="Shape 40"/>
          <p:cNvSpPr/>
          <p:nvPr/>
        </p:nvSpPr>
        <p:spPr>
          <a:xfrm>
            <a:off x="320040" y="4041648"/>
            <a:ext cx="8503920" cy="274320"/>
          </a:xfrm>
          <a:prstGeom prst="rect">
            <a:avLst/>
          </a:prstGeom>
          <a:solidFill>
            <a:srgbClr val="E8F4F6"/>
          </a:solidFill>
          <a:ln/>
        </p:spPr>
        <p:txBody>
          <a:bodyPr/>
          <a:lstStyle/>
          <a:p>
            <a:endParaRPr lang="en-US"/>
          </a:p>
        </p:txBody>
      </p:sp>
      <p:sp>
        <p:nvSpPr>
          <p:cNvPr id="43" name="Text 41"/>
          <p:cNvSpPr/>
          <p:nvPr/>
        </p:nvSpPr>
        <p:spPr>
          <a:xfrm>
            <a:off x="411480" y="4041648"/>
            <a:ext cx="2103120" cy="274320"/>
          </a:xfrm>
          <a:prstGeom prst="rect">
            <a:avLst/>
          </a:prstGeom>
          <a:noFill/>
          <a:ln/>
        </p:spPr>
        <p:txBody>
          <a:bodyPr wrap="square" rtlCol="0" anchor="ctr"/>
          <a:lstStyle/>
          <a:p>
            <a:pPr marL="0" indent="0">
              <a:buNone/>
            </a:pPr>
            <a:r>
              <a:rPr lang="en-US" sz="1150" b="1" dirty="0">
                <a:solidFill>
                  <a:srgbClr val="028090"/>
                </a:solidFill>
                <a:latin typeface="Consolas" pitchFamily="34" charset="0"/>
                <a:ea typeface="Consolas" pitchFamily="34" charset="-122"/>
                <a:cs typeface="Consolas" pitchFamily="34" charset="-120"/>
              </a:rPr>
              <a:t>memory.py</a:t>
            </a:r>
            <a:endParaRPr lang="en-US" sz="1150" dirty="0"/>
          </a:p>
        </p:txBody>
      </p:sp>
      <p:sp>
        <p:nvSpPr>
          <p:cNvPr id="44" name="Text 42"/>
          <p:cNvSpPr/>
          <p:nvPr/>
        </p:nvSpPr>
        <p:spPr>
          <a:xfrm>
            <a:off x="2606040" y="4041648"/>
            <a:ext cx="6126480" cy="274320"/>
          </a:xfrm>
          <a:prstGeom prst="rect">
            <a:avLst/>
          </a:prstGeom>
          <a:noFill/>
          <a:ln/>
        </p:spPr>
        <p:txBody>
          <a:bodyPr wrap="square" rtlCol="0" anchor="ctr"/>
          <a:lstStyle/>
          <a:p>
            <a:pPr marL="0" indent="0">
              <a:buNone/>
            </a:pPr>
            <a:r>
              <a:rPr lang="en-US" sz="1150" dirty="0">
                <a:solidFill>
                  <a:srgbClr val="2C5F6A"/>
                </a:solidFill>
              </a:rPr>
              <a:t>Persistent JSON profile, workout &amp; weight log</a:t>
            </a:r>
            <a:endParaRPr lang="en-US" sz="1150" dirty="0"/>
          </a:p>
        </p:txBody>
      </p:sp>
      <p:sp>
        <p:nvSpPr>
          <p:cNvPr id="45" name="Shape 43"/>
          <p:cNvSpPr/>
          <p:nvPr/>
        </p:nvSpPr>
        <p:spPr>
          <a:xfrm>
            <a:off x="320040" y="4343400"/>
            <a:ext cx="8503920" cy="274320"/>
          </a:xfrm>
          <a:prstGeom prst="rect">
            <a:avLst/>
          </a:prstGeom>
          <a:solidFill>
            <a:srgbClr val="FFFFFF"/>
          </a:solidFill>
          <a:ln/>
        </p:spPr>
        <p:txBody>
          <a:bodyPr/>
          <a:lstStyle/>
          <a:p>
            <a:endParaRPr lang="en-US"/>
          </a:p>
        </p:txBody>
      </p:sp>
      <p:sp>
        <p:nvSpPr>
          <p:cNvPr id="46" name="Text 44"/>
          <p:cNvSpPr/>
          <p:nvPr/>
        </p:nvSpPr>
        <p:spPr>
          <a:xfrm>
            <a:off x="411480" y="4343400"/>
            <a:ext cx="2103120" cy="274320"/>
          </a:xfrm>
          <a:prstGeom prst="rect">
            <a:avLst/>
          </a:prstGeom>
          <a:noFill/>
          <a:ln/>
        </p:spPr>
        <p:txBody>
          <a:bodyPr wrap="square" rtlCol="0" anchor="ctr"/>
          <a:lstStyle/>
          <a:p>
            <a:pPr marL="0" indent="0">
              <a:buNone/>
            </a:pPr>
            <a:r>
              <a:rPr lang="en-US" sz="1150" b="1" dirty="0">
                <a:solidFill>
                  <a:srgbClr val="028090"/>
                </a:solidFill>
                <a:latin typeface="Consolas" pitchFamily="34" charset="0"/>
                <a:ea typeface="Consolas" pitchFamily="34" charset="-122"/>
                <a:cs typeface="Consolas" pitchFamily="34" charset="-120"/>
              </a:rPr>
              <a:t>coach.py</a:t>
            </a:r>
            <a:endParaRPr lang="en-US" sz="1150" dirty="0"/>
          </a:p>
        </p:txBody>
      </p:sp>
      <p:sp>
        <p:nvSpPr>
          <p:cNvPr id="47" name="Text 45"/>
          <p:cNvSpPr/>
          <p:nvPr/>
        </p:nvSpPr>
        <p:spPr>
          <a:xfrm>
            <a:off x="2606040" y="4343400"/>
            <a:ext cx="6126480" cy="274320"/>
          </a:xfrm>
          <a:prstGeom prst="rect">
            <a:avLst/>
          </a:prstGeom>
          <a:noFill/>
          <a:ln/>
        </p:spPr>
        <p:txBody>
          <a:bodyPr wrap="square" rtlCol="0" anchor="ctr"/>
          <a:lstStyle/>
          <a:p>
            <a:pPr marL="0" indent="0">
              <a:buNone/>
            </a:pPr>
            <a:r>
              <a:rPr lang="en-US" sz="1150" dirty="0">
                <a:solidFill>
                  <a:srgbClr val="2C5F6A"/>
                </a:solidFill>
              </a:rPr>
              <a:t>Proactive tone-scaled coaching messages</a:t>
            </a:r>
            <a:endParaRPr lang="en-US" sz="1150" dirty="0"/>
          </a:p>
        </p:txBody>
      </p:sp>
      <p:sp>
        <p:nvSpPr>
          <p:cNvPr id="48" name="Shape 46"/>
          <p:cNvSpPr/>
          <p:nvPr/>
        </p:nvSpPr>
        <p:spPr>
          <a:xfrm>
            <a:off x="320040" y="4645152"/>
            <a:ext cx="8503920" cy="274320"/>
          </a:xfrm>
          <a:prstGeom prst="rect">
            <a:avLst/>
          </a:prstGeom>
          <a:solidFill>
            <a:srgbClr val="E8F4F6"/>
          </a:solidFill>
          <a:ln/>
        </p:spPr>
        <p:txBody>
          <a:bodyPr/>
          <a:lstStyle/>
          <a:p>
            <a:endParaRPr lang="en-US"/>
          </a:p>
        </p:txBody>
      </p:sp>
      <p:sp>
        <p:nvSpPr>
          <p:cNvPr id="49" name="Text 47"/>
          <p:cNvSpPr/>
          <p:nvPr/>
        </p:nvSpPr>
        <p:spPr>
          <a:xfrm>
            <a:off x="411480" y="4645152"/>
            <a:ext cx="2103120" cy="274320"/>
          </a:xfrm>
          <a:prstGeom prst="rect">
            <a:avLst/>
          </a:prstGeom>
          <a:noFill/>
          <a:ln/>
        </p:spPr>
        <p:txBody>
          <a:bodyPr wrap="square" rtlCol="0" anchor="ctr"/>
          <a:lstStyle/>
          <a:p>
            <a:pPr marL="0" indent="0">
              <a:buNone/>
            </a:pPr>
            <a:r>
              <a:rPr lang="en-US" sz="1150" b="1" dirty="0">
                <a:solidFill>
                  <a:srgbClr val="028090"/>
                </a:solidFill>
                <a:latin typeface="Consolas" pitchFamily="34" charset="0"/>
                <a:ea typeface="Consolas" pitchFamily="34" charset="-122"/>
                <a:cs typeface="Consolas" pitchFamily="34" charset="-120"/>
              </a:rPr>
              <a:t>pdf_parser.py</a:t>
            </a:r>
            <a:endParaRPr lang="en-US" sz="1150" dirty="0"/>
          </a:p>
        </p:txBody>
      </p:sp>
      <p:sp>
        <p:nvSpPr>
          <p:cNvPr id="50" name="Text 48"/>
          <p:cNvSpPr/>
          <p:nvPr/>
        </p:nvSpPr>
        <p:spPr>
          <a:xfrm>
            <a:off x="2606040" y="4645152"/>
            <a:ext cx="6126480" cy="274320"/>
          </a:xfrm>
          <a:prstGeom prst="rect">
            <a:avLst/>
          </a:prstGeom>
          <a:noFill/>
          <a:ln/>
        </p:spPr>
        <p:txBody>
          <a:bodyPr wrap="square" rtlCol="0" anchor="ctr"/>
          <a:lstStyle/>
          <a:p>
            <a:pPr marL="0" indent="0">
              <a:buNone/>
            </a:pPr>
            <a:r>
              <a:rPr lang="en-US" sz="1150" dirty="0">
                <a:solidFill>
                  <a:srgbClr val="2C5F6A"/>
                </a:solidFill>
              </a:rPr>
              <a:t>Bloodwork PDF → structured markers</a:t>
            </a:r>
            <a:endParaRPr lang="en-US" sz="1150" dirty="0"/>
          </a:p>
        </p:txBody>
      </p:sp>
      <p:pic>
        <p:nvPicPr>
          <p:cNvPr id="83" name="Audio 82">
            <a:extLst>
              <a:ext uri="{FF2B5EF4-FFF2-40B4-BE49-F238E27FC236}">
                <a16:creationId xmlns:a16="http://schemas.microsoft.com/office/drawing/2014/main" id="{271A5D17-F605-1857-6FD3-0CEA78FB318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7297"/>
    </mc:Choice>
    <mc:Fallback xmlns="">
      <p:transition spd="slow" advTm="2729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A2F"/>
          </a:solidFill>
          <a:ln/>
        </p:spPr>
        <p:txBody>
          <a:bodyPr/>
          <a:lstStyle/>
          <a:p>
            <a:endParaRPr lang="en-US"/>
          </a:p>
        </p:txBody>
      </p:sp>
      <p:sp>
        <p:nvSpPr>
          <p:cNvPr id="3" name="Text 1"/>
          <p:cNvSpPr/>
          <p:nvPr/>
        </p:nvSpPr>
        <p:spPr>
          <a:xfrm>
            <a:off x="457200" y="0"/>
            <a:ext cx="8229600" cy="640080"/>
          </a:xfrm>
          <a:prstGeom prst="rect">
            <a:avLst/>
          </a:prstGeom>
          <a:noFill/>
          <a:ln/>
        </p:spPr>
        <p:txBody>
          <a:bodyPr wrap="square" lIns="0" tIns="0" rIns="0" bIns="0" rtlCol="0" anchor="ctr"/>
          <a:lstStyle/>
          <a:p>
            <a:pPr marL="0" indent="0">
              <a:buNone/>
            </a:pPr>
            <a:r>
              <a:rPr lang="en-US" sz="2200" b="1" dirty="0">
                <a:solidFill>
                  <a:srgbClr val="FFFFFF"/>
                </a:solidFill>
              </a:rPr>
              <a:t>Agentic AI Techniques</a:t>
            </a:r>
            <a:endParaRPr lang="en-US" sz="2200" dirty="0"/>
          </a:p>
        </p:txBody>
      </p:sp>
      <p:sp>
        <p:nvSpPr>
          <p:cNvPr id="4" name="Shape 2"/>
          <p:cNvSpPr/>
          <p:nvPr/>
        </p:nvSpPr>
        <p:spPr>
          <a:xfrm>
            <a:off x="320040" y="804672"/>
            <a:ext cx="4114800" cy="1901952"/>
          </a:xfrm>
          <a:prstGeom prst="rect">
            <a:avLst/>
          </a:prstGeom>
          <a:solidFill>
            <a:srgbClr val="FFFFFF"/>
          </a:solidFill>
          <a:ln w="10160">
            <a:solidFill>
              <a:srgbClr val="C5E0E5"/>
            </a:solidFill>
            <a:prstDash val="solid"/>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457200" y="941832"/>
            <a:ext cx="475488" cy="475488"/>
          </a:xfrm>
          <a:prstGeom prst="ellipse">
            <a:avLst/>
          </a:prstGeom>
          <a:solidFill>
            <a:srgbClr val="028090"/>
          </a:solidFill>
          <a:ln/>
        </p:spPr>
        <p:txBody>
          <a:bodyPr/>
          <a:lstStyle/>
          <a:p>
            <a:endParaRPr lang="en-US"/>
          </a:p>
        </p:txBody>
      </p:sp>
      <p:sp>
        <p:nvSpPr>
          <p:cNvPr id="6" name="Text 4"/>
          <p:cNvSpPr/>
          <p:nvPr/>
        </p:nvSpPr>
        <p:spPr>
          <a:xfrm>
            <a:off x="457200" y="941832"/>
            <a:ext cx="475488" cy="475488"/>
          </a:xfrm>
          <a:prstGeom prst="rect">
            <a:avLst/>
          </a:prstGeom>
          <a:noFill/>
          <a:ln/>
        </p:spPr>
        <p:txBody>
          <a:bodyPr wrap="square" rtlCol="0" anchor="ctr"/>
          <a:lstStyle/>
          <a:p>
            <a:pPr marL="0" indent="0" algn="ctr">
              <a:buNone/>
            </a:pPr>
            <a:r>
              <a:rPr lang="en-US" sz="1500" b="1" dirty="0">
                <a:solidFill>
                  <a:srgbClr val="FFFFFF"/>
                </a:solidFill>
              </a:rPr>
              <a:t>1</a:t>
            </a:r>
            <a:endParaRPr lang="en-US" sz="1500" dirty="0"/>
          </a:p>
        </p:txBody>
      </p:sp>
      <p:sp>
        <p:nvSpPr>
          <p:cNvPr id="7" name="Text 5"/>
          <p:cNvSpPr/>
          <p:nvPr/>
        </p:nvSpPr>
        <p:spPr>
          <a:xfrm>
            <a:off x="1033272" y="914400"/>
            <a:ext cx="1371600" cy="347472"/>
          </a:xfrm>
          <a:prstGeom prst="rect">
            <a:avLst/>
          </a:prstGeom>
          <a:noFill/>
          <a:ln/>
        </p:spPr>
        <p:txBody>
          <a:bodyPr wrap="square" lIns="0" tIns="0" rIns="0" bIns="0" rtlCol="0" anchor="ctr"/>
          <a:lstStyle/>
          <a:p>
            <a:pPr marL="0" indent="0">
              <a:buNone/>
            </a:pPr>
            <a:r>
              <a:rPr lang="en-US" sz="1800" b="1" dirty="0">
                <a:solidFill>
                  <a:srgbClr val="028090"/>
                </a:solidFill>
                <a:latin typeface="Calibri" pitchFamily="34" charset="0"/>
                <a:ea typeface="Calibri" pitchFamily="34" charset="-122"/>
                <a:cs typeface="Calibri" pitchFamily="34" charset="-120"/>
              </a:rPr>
              <a:t>ReAct</a:t>
            </a:r>
            <a:endParaRPr lang="en-US" sz="1800" dirty="0"/>
          </a:p>
        </p:txBody>
      </p:sp>
      <p:sp>
        <p:nvSpPr>
          <p:cNvPr id="8" name="Text 6"/>
          <p:cNvSpPr/>
          <p:nvPr/>
        </p:nvSpPr>
        <p:spPr>
          <a:xfrm>
            <a:off x="1033272" y="1261872"/>
            <a:ext cx="3200400" cy="256032"/>
          </a:xfrm>
          <a:prstGeom prst="rect">
            <a:avLst/>
          </a:prstGeom>
          <a:noFill/>
          <a:ln/>
        </p:spPr>
        <p:txBody>
          <a:bodyPr wrap="square" lIns="0" tIns="0" rIns="0" bIns="0" rtlCol="0" anchor="ctr"/>
          <a:lstStyle/>
          <a:p>
            <a:pPr marL="0" indent="0">
              <a:buNone/>
            </a:pPr>
            <a:r>
              <a:rPr lang="en-US" sz="1100" dirty="0">
                <a:solidFill>
                  <a:srgbClr val="7A9EA5"/>
                </a:solidFill>
                <a:latin typeface="Calibri" pitchFamily="34" charset="0"/>
                <a:ea typeface="Calibri" pitchFamily="34" charset="-122"/>
                <a:cs typeface="Calibri" pitchFamily="34" charset="-120"/>
              </a:rPr>
              <a:t>Reason + Act</a:t>
            </a:r>
            <a:endParaRPr lang="en-US" sz="1100" dirty="0"/>
          </a:p>
        </p:txBody>
      </p:sp>
      <p:sp>
        <p:nvSpPr>
          <p:cNvPr id="9" name="Text 7"/>
          <p:cNvSpPr/>
          <p:nvPr/>
        </p:nvSpPr>
        <p:spPr>
          <a:xfrm>
            <a:off x="484632" y="1609344"/>
            <a:ext cx="3803904" cy="777240"/>
          </a:xfrm>
          <a:prstGeom prst="rect">
            <a:avLst/>
          </a:prstGeom>
          <a:noFill/>
          <a:ln/>
        </p:spPr>
        <p:txBody>
          <a:bodyPr wrap="square" rtlCol="0" anchor="ctr"/>
          <a:lstStyle/>
          <a:p>
            <a:pPr marL="0" indent="0">
              <a:buNone/>
            </a:pPr>
            <a:r>
              <a:rPr lang="en-US" sz="1200" dirty="0">
                <a:solidFill>
                  <a:srgbClr val="2C5F6A"/>
                </a:solidFill>
                <a:latin typeface="Calibri" pitchFamily="34" charset="0"/>
                <a:ea typeface="Calibri" pitchFamily="34" charset="-122"/>
                <a:cs typeface="Calibri" pitchFamily="34" charset="-120"/>
              </a:rPr>
              <a:t>The LLM reasons about what to do, calls a tool, observes the result, and loops — rather than answering in one shot.</a:t>
            </a:r>
            <a:endParaRPr lang="en-US" sz="1200" dirty="0"/>
          </a:p>
        </p:txBody>
      </p:sp>
      <p:sp>
        <p:nvSpPr>
          <p:cNvPr id="10" name="Shape 8"/>
          <p:cNvSpPr/>
          <p:nvPr/>
        </p:nvSpPr>
        <p:spPr>
          <a:xfrm>
            <a:off x="484632" y="2414016"/>
            <a:ext cx="1828800" cy="219456"/>
          </a:xfrm>
          <a:prstGeom prst="rect">
            <a:avLst/>
          </a:prstGeom>
          <a:solidFill>
            <a:srgbClr val="E8F4F6"/>
          </a:solidFill>
          <a:ln/>
        </p:spPr>
        <p:txBody>
          <a:bodyPr/>
          <a:lstStyle/>
          <a:p>
            <a:endParaRPr lang="en-US"/>
          </a:p>
        </p:txBody>
      </p:sp>
      <p:sp>
        <p:nvSpPr>
          <p:cNvPr id="11" name="Text 9"/>
          <p:cNvSpPr/>
          <p:nvPr/>
        </p:nvSpPr>
        <p:spPr>
          <a:xfrm>
            <a:off x="484632" y="2414016"/>
            <a:ext cx="1828800" cy="219456"/>
          </a:xfrm>
          <a:prstGeom prst="rect">
            <a:avLst/>
          </a:prstGeom>
          <a:noFill/>
          <a:ln/>
        </p:spPr>
        <p:txBody>
          <a:bodyPr wrap="square" rtlCol="0" anchor="ctr"/>
          <a:lstStyle/>
          <a:p>
            <a:pPr marL="0" indent="0">
              <a:buNone/>
            </a:pPr>
            <a:r>
              <a:rPr lang="en-US" sz="1000" dirty="0">
                <a:solidFill>
                  <a:srgbClr val="028090"/>
                </a:solidFill>
                <a:latin typeface="Calibri" pitchFamily="34" charset="0"/>
                <a:ea typeface="Calibri" pitchFamily="34" charset="-122"/>
                <a:cs typeface="Calibri" pitchFamily="34" charset="-120"/>
              </a:rPr>
              <a:t>Yao et al., 2023</a:t>
            </a:r>
            <a:endParaRPr lang="en-US" sz="1000" dirty="0"/>
          </a:p>
        </p:txBody>
      </p:sp>
      <p:sp>
        <p:nvSpPr>
          <p:cNvPr id="12" name="Shape 10"/>
          <p:cNvSpPr/>
          <p:nvPr/>
        </p:nvSpPr>
        <p:spPr>
          <a:xfrm>
            <a:off x="4709160" y="804672"/>
            <a:ext cx="4114800" cy="1901952"/>
          </a:xfrm>
          <a:prstGeom prst="rect">
            <a:avLst/>
          </a:prstGeom>
          <a:solidFill>
            <a:srgbClr val="FFFFFF"/>
          </a:solidFill>
          <a:ln w="10160">
            <a:solidFill>
              <a:srgbClr val="C5E0E5"/>
            </a:solidFill>
            <a:prstDash val="solid"/>
          </a:ln>
          <a:effectLst>
            <a:outerShdw blurRad="101600" dist="38100" dir="8100000" algn="bl" rotWithShape="0">
              <a:srgbClr val="000000">
                <a:alpha val="10000"/>
              </a:srgbClr>
            </a:outerShdw>
          </a:effectLst>
        </p:spPr>
        <p:txBody>
          <a:bodyPr/>
          <a:lstStyle/>
          <a:p>
            <a:endParaRPr lang="en-US"/>
          </a:p>
        </p:txBody>
      </p:sp>
      <p:sp>
        <p:nvSpPr>
          <p:cNvPr id="13" name="Shape 11"/>
          <p:cNvSpPr/>
          <p:nvPr/>
        </p:nvSpPr>
        <p:spPr>
          <a:xfrm>
            <a:off x="4846320" y="941832"/>
            <a:ext cx="475488" cy="475488"/>
          </a:xfrm>
          <a:prstGeom prst="ellipse">
            <a:avLst/>
          </a:prstGeom>
          <a:solidFill>
            <a:srgbClr val="1C6E7A"/>
          </a:solidFill>
          <a:ln/>
        </p:spPr>
        <p:txBody>
          <a:bodyPr/>
          <a:lstStyle/>
          <a:p>
            <a:endParaRPr lang="en-US"/>
          </a:p>
        </p:txBody>
      </p:sp>
      <p:sp>
        <p:nvSpPr>
          <p:cNvPr id="14" name="Text 12"/>
          <p:cNvSpPr/>
          <p:nvPr/>
        </p:nvSpPr>
        <p:spPr>
          <a:xfrm>
            <a:off x="4846320" y="941832"/>
            <a:ext cx="475488" cy="475488"/>
          </a:xfrm>
          <a:prstGeom prst="rect">
            <a:avLst/>
          </a:prstGeom>
          <a:noFill/>
          <a:ln/>
        </p:spPr>
        <p:txBody>
          <a:bodyPr wrap="square" rtlCol="0" anchor="ctr"/>
          <a:lstStyle/>
          <a:p>
            <a:pPr marL="0" indent="0" algn="ctr">
              <a:buNone/>
            </a:pPr>
            <a:r>
              <a:rPr lang="en-US" sz="1500" b="1" dirty="0">
                <a:solidFill>
                  <a:srgbClr val="FFFFFF"/>
                </a:solidFill>
              </a:rPr>
              <a:t>2</a:t>
            </a:r>
            <a:endParaRPr lang="en-US" sz="1500" dirty="0"/>
          </a:p>
        </p:txBody>
      </p:sp>
      <p:sp>
        <p:nvSpPr>
          <p:cNvPr id="15" name="Text 13"/>
          <p:cNvSpPr/>
          <p:nvPr/>
        </p:nvSpPr>
        <p:spPr>
          <a:xfrm>
            <a:off x="5422392" y="914400"/>
            <a:ext cx="1371600" cy="347472"/>
          </a:xfrm>
          <a:prstGeom prst="rect">
            <a:avLst/>
          </a:prstGeom>
          <a:noFill/>
          <a:ln/>
        </p:spPr>
        <p:txBody>
          <a:bodyPr wrap="square" lIns="0" tIns="0" rIns="0" bIns="0" rtlCol="0" anchor="ctr"/>
          <a:lstStyle/>
          <a:p>
            <a:pPr marL="0" indent="0">
              <a:buNone/>
            </a:pPr>
            <a:r>
              <a:rPr lang="en-US" sz="1800" b="1" dirty="0">
                <a:solidFill>
                  <a:srgbClr val="1C6E7A"/>
                </a:solidFill>
                <a:latin typeface="Calibri" pitchFamily="34" charset="0"/>
                <a:ea typeface="Calibri" pitchFamily="34" charset="-122"/>
                <a:cs typeface="Calibri" pitchFamily="34" charset="-120"/>
              </a:rPr>
              <a:t>RAG</a:t>
            </a:r>
            <a:endParaRPr lang="en-US" sz="1800" dirty="0"/>
          </a:p>
        </p:txBody>
      </p:sp>
      <p:sp>
        <p:nvSpPr>
          <p:cNvPr id="16" name="Text 14"/>
          <p:cNvSpPr/>
          <p:nvPr/>
        </p:nvSpPr>
        <p:spPr>
          <a:xfrm>
            <a:off x="5422392" y="1261872"/>
            <a:ext cx="3200400" cy="256032"/>
          </a:xfrm>
          <a:prstGeom prst="rect">
            <a:avLst/>
          </a:prstGeom>
          <a:noFill/>
          <a:ln/>
        </p:spPr>
        <p:txBody>
          <a:bodyPr wrap="square" lIns="0" tIns="0" rIns="0" bIns="0" rtlCol="0" anchor="ctr"/>
          <a:lstStyle/>
          <a:p>
            <a:pPr marL="0" indent="0">
              <a:buNone/>
            </a:pPr>
            <a:r>
              <a:rPr lang="en-US" sz="1100" dirty="0">
                <a:solidFill>
                  <a:srgbClr val="7A9EA5"/>
                </a:solidFill>
                <a:latin typeface="Calibri" pitchFamily="34" charset="0"/>
                <a:ea typeface="Calibri" pitchFamily="34" charset="-122"/>
                <a:cs typeface="Calibri" pitchFamily="34" charset="-120"/>
              </a:rPr>
              <a:t>Retrieval-Augmented Generation</a:t>
            </a:r>
            <a:endParaRPr lang="en-US" sz="1100" dirty="0"/>
          </a:p>
        </p:txBody>
      </p:sp>
      <p:sp>
        <p:nvSpPr>
          <p:cNvPr id="17" name="Text 15"/>
          <p:cNvSpPr/>
          <p:nvPr/>
        </p:nvSpPr>
        <p:spPr>
          <a:xfrm>
            <a:off x="4873752" y="1609344"/>
            <a:ext cx="3803904" cy="777240"/>
          </a:xfrm>
          <a:prstGeom prst="rect">
            <a:avLst/>
          </a:prstGeom>
          <a:noFill/>
          <a:ln/>
        </p:spPr>
        <p:txBody>
          <a:bodyPr wrap="square" rtlCol="0" anchor="ctr"/>
          <a:lstStyle/>
          <a:p>
            <a:pPr marL="0" indent="0">
              <a:buNone/>
            </a:pPr>
            <a:r>
              <a:rPr lang="en-US" sz="1200" dirty="0">
                <a:solidFill>
                  <a:srgbClr val="2C5F6A"/>
                </a:solidFill>
                <a:latin typeface="Calibri" pitchFamily="34" charset="0"/>
                <a:ea typeface="Calibri" pitchFamily="34" charset="-122"/>
                <a:cs typeface="Calibri" pitchFamily="34" charset="-120"/>
              </a:rPr>
              <a:t>20-entry nutrition knowledge base embedded with text-embedding-3-small. Top-4 relevant facts retrieved before every plan.</a:t>
            </a:r>
            <a:endParaRPr lang="en-US" sz="1200" dirty="0"/>
          </a:p>
        </p:txBody>
      </p:sp>
      <p:sp>
        <p:nvSpPr>
          <p:cNvPr id="18" name="Shape 16"/>
          <p:cNvSpPr/>
          <p:nvPr/>
        </p:nvSpPr>
        <p:spPr>
          <a:xfrm>
            <a:off x="4873752" y="2414016"/>
            <a:ext cx="1828800" cy="219456"/>
          </a:xfrm>
          <a:prstGeom prst="rect">
            <a:avLst/>
          </a:prstGeom>
          <a:solidFill>
            <a:srgbClr val="E8F4F6"/>
          </a:solidFill>
          <a:ln/>
        </p:spPr>
        <p:txBody>
          <a:bodyPr/>
          <a:lstStyle/>
          <a:p>
            <a:endParaRPr lang="en-US"/>
          </a:p>
        </p:txBody>
      </p:sp>
      <p:sp>
        <p:nvSpPr>
          <p:cNvPr id="19" name="Text 17"/>
          <p:cNvSpPr/>
          <p:nvPr/>
        </p:nvSpPr>
        <p:spPr>
          <a:xfrm>
            <a:off x="4873752" y="2414016"/>
            <a:ext cx="1828800" cy="219456"/>
          </a:xfrm>
          <a:prstGeom prst="rect">
            <a:avLst/>
          </a:prstGeom>
          <a:noFill/>
          <a:ln/>
        </p:spPr>
        <p:txBody>
          <a:bodyPr wrap="square" rtlCol="0" anchor="ctr"/>
          <a:lstStyle/>
          <a:p>
            <a:pPr marL="0" indent="0">
              <a:buNone/>
            </a:pPr>
            <a:r>
              <a:rPr lang="en-US" sz="1000" dirty="0">
                <a:solidFill>
                  <a:srgbClr val="028090"/>
                </a:solidFill>
                <a:latin typeface="Calibri" pitchFamily="34" charset="0"/>
                <a:ea typeface="Calibri" pitchFamily="34" charset="-122"/>
                <a:cs typeface="Calibri" pitchFamily="34" charset="-120"/>
              </a:rPr>
              <a:t>Brown et al., 2020</a:t>
            </a:r>
            <a:endParaRPr lang="en-US" sz="1000" dirty="0"/>
          </a:p>
        </p:txBody>
      </p:sp>
      <p:sp>
        <p:nvSpPr>
          <p:cNvPr id="20" name="Shape 18"/>
          <p:cNvSpPr/>
          <p:nvPr/>
        </p:nvSpPr>
        <p:spPr>
          <a:xfrm>
            <a:off x="320040" y="2889504"/>
            <a:ext cx="4114800" cy="1901952"/>
          </a:xfrm>
          <a:prstGeom prst="rect">
            <a:avLst/>
          </a:prstGeom>
          <a:solidFill>
            <a:srgbClr val="FFFFFF"/>
          </a:solidFill>
          <a:ln w="10160">
            <a:solidFill>
              <a:srgbClr val="C5E0E5"/>
            </a:solidFill>
            <a:prstDash val="solid"/>
          </a:ln>
          <a:effectLst>
            <a:outerShdw blurRad="101600" dist="38100" dir="8100000" algn="bl" rotWithShape="0">
              <a:srgbClr val="000000">
                <a:alpha val="10000"/>
              </a:srgbClr>
            </a:outerShdw>
          </a:effectLst>
        </p:spPr>
        <p:txBody>
          <a:bodyPr/>
          <a:lstStyle/>
          <a:p>
            <a:endParaRPr lang="en-US"/>
          </a:p>
        </p:txBody>
      </p:sp>
      <p:sp>
        <p:nvSpPr>
          <p:cNvPr id="21" name="Shape 19"/>
          <p:cNvSpPr/>
          <p:nvPr/>
        </p:nvSpPr>
        <p:spPr>
          <a:xfrm>
            <a:off x="457200" y="3026664"/>
            <a:ext cx="475488" cy="475488"/>
          </a:xfrm>
          <a:prstGeom prst="ellipse">
            <a:avLst/>
          </a:prstGeom>
          <a:solidFill>
            <a:srgbClr val="028090"/>
          </a:solidFill>
          <a:ln/>
        </p:spPr>
        <p:txBody>
          <a:bodyPr/>
          <a:lstStyle/>
          <a:p>
            <a:endParaRPr lang="en-US"/>
          </a:p>
        </p:txBody>
      </p:sp>
      <p:sp>
        <p:nvSpPr>
          <p:cNvPr id="22" name="Text 20"/>
          <p:cNvSpPr/>
          <p:nvPr/>
        </p:nvSpPr>
        <p:spPr>
          <a:xfrm>
            <a:off x="457200" y="3026664"/>
            <a:ext cx="475488" cy="475488"/>
          </a:xfrm>
          <a:prstGeom prst="rect">
            <a:avLst/>
          </a:prstGeom>
          <a:noFill/>
          <a:ln/>
        </p:spPr>
        <p:txBody>
          <a:bodyPr wrap="square" rtlCol="0" anchor="ctr"/>
          <a:lstStyle/>
          <a:p>
            <a:pPr marL="0" indent="0" algn="ctr">
              <a:buNone/>
            </a:pPr>
            <a:r>
              <a:rPr lang="en-US" sz="1500" b="1" dirty="0">
                <a:solidFill>
                  <a:srgbClr val="FFFFFF"/>
                </a:solidFill>
              </a:rPr>
              <a:t>3</a:t>
            </a:r>
            <a:endParaRPr lang="en-US" sz="1500" dirty="0"/>
          </a:p>
        </p:txBody>
      </p:sp>
      <p:sp>
        <p:nvSpPr>
          <p:cNvPr id="23" name="Text 21"/>
          <p:cNvSpPr/>
          <p:nvPr/>
        </p:nvSpPr>
        <p:spPr>
          <a:xfrm>
            <a:off x="1033272" y="2999232"/>
            <a:ext cx="1371600" cy="347472"/>
          </a:xfrm>
          <a:prstGeom prst="rect">
            <a:avLst/>
          </a:prstGeom>
          <a:noFill/>
          <a:ln/>
        </p:spPr>
        <p:txBody>
          <a:bodyPr wrap="square" lIns="0" tIns="0" rIns="0" bIns="0" rtlCol="0" anchor="ctr"/>
          <a:lstStyle/>
          <a:p>
            <a:pPr marL="0" indent="0">
              <a:buNone/>
            </a:pPr>
            <a:r>
              <a:rPr lang="en-US" sz="1800" b="1" dirty="0">
                <a:solidFill>
                  <a:srgbClr val="028090"/>
                </a:solidFill>
                <a:latin typeface="Calibri" pitchFamily="34" charset="0"/>
                <a:ea typeface="Calibri" pitchFamily="34" charset="-122"/>
                <a:cs typeface="Calibri" pitchFamily="34" charset="-120"/>
              </a:rPr>
              <a:t>CoT</a:t>
            </a:r>
            <a:endParaRPr lang="en-US" sz="1800" dirty="0"/>
          </a:p>
        </p:txBody>
      </p:sp>
      <p:sp>
        <p:nvSpPr>
          <p:cNvPr id="24" name="Text 22"/>
          <p:cNvSpPr/>
          <p:nvPr/>
        </p:nvSpPr>
        <p:spPr>
          <a:xfrm>
            <a:off x="1033272" y="3346704"/>
            <a:ext cx="3200400" cy="256032"/>
          </a:xfrm>
          <a:prstGeom prst="rect">
            <a:avLst/>
          </a:prstGeom>
          <a:noFill/>
          <a:ln/>
        </p:spPr>
        <p:txBody>
          <a:bodyPr wrap="square" lIns="0" tIns="0" rIns="0" bIns="0" rtlCol="0" anchor="ctr"/>
          <a:lstStyle/>
          <a:p>
            <a:pPr marL="0" indent="0">
              <a:buNone/>
            </a:pPr>
            <a:r>
              <a:rPr lang="en-US" sz="1100" dirty="0">
                <a:solidFill>
                  <a:srgbClr val="7A9EA5"/>
                </a:solidFill>
                <a:latin typeface="Calibri" pitchFamily="34" charset="0"/>
                <a:ea typeface="Calibri" pitchFamily="34" charset="-122"/>
                <a:cs typeface="Calibri" pitchFamily="34" charset="-120"/>
              </a:rPr>
              <a:t>Chain-of-Thought</a:t>
            </a:r>
            <a:endParaRPr lang="en-US" sz="1100" dirty="0"/>
          </a:p>
        </p:txBody>
      </p:sp>
      <p:sp>
        <p:nvSpPr>
          <p:cNvPr id="25" name="Text 23"/>
          <p:cNvSpPr/>
          <p:nvPr/>
        </p:nvSpPr>
        <p:spPr>
          <a:xfrm>
            <a:off x="484632" y="3694176"/>
            <a:ext cx="3803904" cy="777240"/>
          </a:xfrm>
          <a:prstGeom prst="rect">
            <a:avLst/>
          </a:prstGeom>
          <a:noFill/>
          <a:ln/>
        </p:spPr>
        <p:txBody>
          <a:bodyPr wrap="square" rtlCol="0" anchor="ctr"/>
          <a:lstStyle/>
          <a:p>
            <a:pPr marL="0" indent="0">
              <a:buNone/>
            </a:pPr>
            <a:r>
              <a:rPr lang="en-US" sz="1200" dirty="0">
                <a:solidFill>
                  <a:srgbClr val="2C5F6A"/>
                </a:solidFill>
                <a:latin typeface="Calibri" pitchFamily="34" charset="0"/>
                <a:ea typeface="Calibri" pitchFamily="34" charset="-122"/>
                <a:cs typeface="Calibri" pitchFamily="34" charset="-120"/>
              </a:rPr>
              <a:t>Before generating the plan, the agent reasons step-by-step: deficiencies → restrictions → specific foods → final plan.</a:t>
            </a:r>
            <a:endParaRPr lang="en-US" sz="1200" dirty="0"/>
          </a:p>
        </p:txBody>
      </p:sp>
      <p:sp>
        <p:nvSpPr>
          <p:cNvPr id="26" name="Shape 24"/>
          <p:cNvSpPr/>
          <p:nvPr/>
        </p:nvSpPr>
        <p:spPr>
          <a:xfrm>
            <a:off x="484632" y="4498848"/>
            <a:ext cx="1828800" cy="219456"/>
          </a:xfrm>
          <a:prstGeom prst="rect">
            <a:avLst/>
          </a:prstGeom>
          <a:solidFill>
            <a:srgbClr val="E8F4F6"/>
          </a:solidFill>
          <a:ln/>
        </p:spPr>
        <p:txBody>
          <a:bodyPr/>
          <a:lstStyle/>
          <a:p>
            <a:endParaRPr lang="en-US"/>
          </a:p>
        </p:txBody>
      </p:sp>
      <p:sp>
        <p:nvSpPr>
          <p:cNvPr id="27" name="Text 25"/>
          <p:cNvSpPr/>
          <p:nvPr/>
        </p:nvSpPr>
        <p:spPr>
          <a:xfrm>
            <a:off x="484632" y="4498848"/>
            <a:ext cx="1828800" cy="219456"/>
          </a:xfrm>
          <a:prstGeom prst="rect">
            <a:avLst/>
          </a:prstGeom>
          <a:noFill/>
          <a:ln/>
        </p:spPr>
        <p:txBody>
          <a:bodyPr wrap="square" rtlCol="0" anchor="ctr"/>
          <a:lstStyle/>
          <a:p>
            <a:pPr marL="0" indent="0">
              <a:buNone/>
            </a:pPr>
            <a:r>
              <a:rPr lang="en-US" sz="1000" dirty="0">
                <a:solidFill>
                  <a:srgbClr val="028090"/>
                </a:solidFill>
                <a:latin typeface="Calibri" pitchFamily="34" charset="0"/>
                <a:ea typeface="Calibri" pitchFamily="34" charset="-122"/>
                <a:cs typeface="Calibri" pitchFamily="34" charset="-120"/>
              </a:rPr>
              <a:t>Wei et al., 2022</a:t>
            </a:r>
            <a:endParaRPr lang="en-US" sz="1000" dirty="0"/>
          </a:p>
        </p:txBody>
      </p:sp>
      <p:sp>
        <p:nvSpPr>
          <p:cNvPr id="28" name="Shape 26"/>
          <p:cNvSpPr/>
          <p:nvPr/>
        </p:nvSpPr>
        <p:spPr>
          <a:xfrm>
            <a:off x="4709160" y="2889504"/>
            <a:ext cx="4114800" cy="1901952"/>
          </a:xfrm>
          <a:prstGeom prst="rect">
            <a:avLst/>
          </a:prstGeom>
          <a:solidFill>
            <a:srgbClr val="FFFFFF"/>
          </a:solidFill>
          <a:ln w="10160">
            <a:solidFill>
              <a:srgbClr val="C5E0E5"/>
            </a:solidFill>
            <a:prstDash val="solid"/>
          </a:ln>
          <a:effectLst>
            <a:outerShdw blurRad="101600" dist="38100" dir="8100000" algn="bl" rotWithShape="0">
              <a:srgbClr val="000000">
                <a:alpha val="10000"/>
              </a:srgbClr>
            </a:outerShdw>
          </a:effectLst>
        </p:spPr>
        <p:txBody>
          <a:bodyPr/>
          <a:lstStyle/>
          <a:p>
            <a:endParaRPr lang="en-US"/>
          </a:p>
        </p:txBody>
      </p:sp>
      <p:sp>
        <p:nvSpPr>
          <p:cNvPr id="29" name="Shape 27"/>
          <p:cNvSpPr/>
          <p:nvPr/>
        </p:nvSpPr>
        <p:spPr>
          <a:xfrm>
            <a:off x="4846320" y="3026664"/>
            <a:ext cx="475488" cy="475488"/>
          </a:xfrm>
          <a:prstGeom prst="ellipse">
            <a:avLst/>
          </a:prstGeom>
          <a:solidFill>
            <a:srgbClr val="1C6E7A"/>
          </a:solidFill>
          <a:ln/>
        </p:spPr>
        <p:txBody>
          <a:bodyPr/>
          <a:lstStyle/>
          <a:p>
            <a:endParaRPr lang="en-US"/>
          </a:p>
        </p:txBody>
      </p:sp>
      <p:sp>
        <p:nvSpPr>
          <p:cNvPr id="30" name="Text 28"/>
          <p:cNvSpPr/>
          <p:nvPr/>
        </p:nvSpPr>
        <p:spPr>
          <a:xfrm>
            <a:off x="4846320" y="3026664"/>
            <a:ext cx="475488" cy="475488"/>
          </a:xfrm>
          <a:prstGeom prst="rect">
            <a:avLst/>
          </a:prstGeom>
          <a:noFill/>
          <a:ln/>
        </p:spPr>
        <p:txBody>
          <a:bodyPr wrap="square" rtlCol="0" anchor="ctr"/>
          <a:lstStyle/>
          <a:p>
            <a:pPr marL="0" indent="0" algn="ctr">
              <a:buNone/>
            </a:pPr>
            <a:r>
              <a:rPr lang="en-US" sz="1500" b="1" dirty="0">
                <a:solidFill>
                  <a:srgbClr val="FFFFFF"/>
                </a:solidFill>
              </a:rPr>
              <a:t>4</a:t>
            </a:r>
            <a:endParaRPr lang="en-US" sz="1500" dirty="0"/>
          </a:p>
        </p:txBody>
      </p:sp>
      <p:sp>
        <p:nvSpPr>
          <p:cNvPr id="31" name="Text 29"/>
          <p:cNvSpPr/>
          <p:nvPr/>
        </p:nvSpPr>
        <p:spPr>
          <a:xfrm>
            <a:off x="5422392" y="2999232"/>
            <a:ext cx="1371600" cy="347472"/>
          </a:xfrm>
          <a:prstGeom prst="rect">
            <a:avLst/>
          </a:prstGeom>
          <a:noFill/>
          <a:ln/>
        </p:spPr>
        <p:txBody>
          <a:bodyPr wrap="square" lIns="0" tIns="0" rIns="0" bIns="0" rtlCol="0" anchor="ctr"/>
          <a:lstStyle/>
          <a:p>
            <a:pPr marL="0" indent="0">
              <a:buNone/>
            </a:pPr>
            <a:r>
              <a:rPr lang="en-US" sz="1800" b="1" dirty="0">
                <a:solidFill>
                  <a:srgbClr val="1C6E7A"/>
                </a:solidFill>
                <a:latin typeface="Calibri" pitchFamily="34" charset="0"/>
                <a:ea typeface="Calibri" pitchFamily="34" charset="-122"/>
                <a:cs typeface="Calibri" pitchFamily="34" charset="-120"/>
              </a:rPr>
              <a:t>Self-Refine</a:t>
            </a:r>
            <a:endParaRPr lang="en-US" sz="1800" dirty="0"/>
          </a:p>
        </p:txBody>
      </p:sp>
      <p:sp>
        <p:nvSpPr>
          <p:cNvPr id="32" name="Text 30"/>
          <p:cNvSpPr/>
          <p:nvPr/>
        </p:nvSpPr>
        <p:spPr>
          <a:xfrm>
            <a:off x="5422392" y="3346704"/>
            <a:ext cx="3200400" cy="256032"/>
          </a:xfrm>
          <a:prstGeom prst="rect">
            <a:avLst/>
          </a:prstGeom>
          <a:noFill/>
          <a:ln/>
        </p:spPr>
        <p:txBody>
          <a:bodyPr wrap="square" lIns="0" tIns="0" rIns="0" bIns="0" rtlCol="0" anchor="ctr"/>
          <a:lstStyle/>
          <a:p>
            <a:pPr marL="0" indent="0">
              <a:buNone/>
            </a:pPr>
            <a:r>
              <a:rPr lang="en-US" sz="1100" dirty="0">
                <a:solidFill>
                  <a:srgbClr val="7A9EA5"/>
                </a:solidFill>
                <a:latin typeface="Calibri" pitchFamily="34" charset="0"/>
                <a:ea typeface="Calibri" pitchFamily="34" charset="-122"/>
                <a:cs typeface="Calibri" pitchFamily="34" charset="-120"/>
              </a:rPr>
              <a:t>Critic + Refine</a:t>
            </a:r>
            <a:endParaRPr lang="en-US" sz="1100" dirty="0"/>
          </a:p>
        </p:txBody>
      </p:sp>
      <p:sp>
        <p:nvSpPr>
          <p:cNvPr id="33" name="Text 31"/>
          <p:cNvSpPr/>
          <p:nvPr/>
        </p:nvSpPr>
        <p:spPr>
          <a:xfrm>
            <a:off x="4873752" y="3694176"/>
            <a:ext cx="3803904" cy="777240"/>
          </a:xfrm>
          <a:prstGeom prst="rect">
            <a:avLst/>
          </a:prstGeom>
          <a:noFill/>
          <a:ln/>
        </p:spPr>
        <p:txBody>
          <a:bodyPr wrap="square" rtlCol="0" anchor="ctr"/>
          <a:lstStyle/>
          <a:p>
            <a:pPr marL="0" indent="0">
              <a:buNone/>
            </a:pPr>
            <a:r>
              <a:rPr lang="en-US" sz="1200" dirty="0">
                <a:solidFill>
                  <a:srgbClr val="2C5F6A"/>
                </a:solidFill>
                <a:latin typeface="Calibri" pitchFamily="34" charset="0"/>
                <a:ea typeface="Calibri" pitchFamily="34" charset="-122"/>
                <a:cs typeface="Calibri" pitchFamily="34" charset="-120"/>
              </a:rPr>
              <a:t>A critic pass checks the plan for missed restrictions or gaps. If issues are found, a second pass fixes them.</a:t>
            </a:r>
            <a:endParaRPr lang="en-US" sz="1200" dirty="0"/>
          </a:p>
        </p:txBody>
      </p:sp>
      <p:sp>
        <p:nvSpPr>
          <p:cNvPr id="34" name="Shape 32"/>
          <p:cNvSpPr/>
          <p:nvPr/>
        </p:nvSpPr>
        <p:spPr>
          <a:xfrm>
            <a:off x="4873752" y="4498848"/>
            <a:ext cx="1828800" cy="219456"/>
          </a:xfrm>
          <a:prstGeom prst="rect">
            <a:avLst/>
          </a:prstGeom>
          <a:solidFill>
            <a:srgbClr val="E8F4F6"/>
          </a:solidFill>
          <a:ln/>
        </p:spPr>
        <p:txBody>
          <a:bodyPr/>
          <a:lstStyle/>
          <a:p>
            <a:endParaRPr lang="en-US"/>
          </a:p>
        </p:txBody>
      </p:sp>
      <p:sp>
        <p:nvSpPr>
          <p:cNvPr id="35" name="Text 33"/>
          <p:cNvSpPr/>
          <p:nvPr/>
        </p:nvSpPr>
        <p:spPr>
          <a:xfrm>
            <a:off x="4873752" y="4498848"/>
            <a:ext cx="1828800" cy="219456"/>
          </a:xfrm>
          <a:prstGeom prst="rect">
            <a:avLst/>
          </a:prstGeom>
          <a:noFill/>
          <a:ln/>
        </p:spPr>
        <p:txBody>
          <a:bodyPr wrap="square" rtlCol="0" anchor="ctr"/>
          <a:lstStyle/>
          <a:p>
            <a:pPr marL="0" indent="0">
              <a:buNone/>
            </a:pPr>
            <a:r>
              <a:rPr lang="en-US" sz="1000" dirty="0">
                <a:solidFill>
                  <a:srgbClr val="028090"/>
                </a:solidFill>
                <a:latin typeface="Calibri" pitchFamily="34" charset="0"/>
                <a:ea typeface="Calibri" pitchFamily="34" charset="-122"/>
                <a:cs typeface="Calibri" pitchFamily="34" charset="-120"/>
              </a:rPr>
              <a:t>Madaan et al., 2023</a:t>
            </a:r>
            <a:endParaRPr lang="en-US" sz="1000" dirty="0"/>
          </a:p>
        </p:txBody>
      </p:sp>
      <p:pic>
        <p:nvPicPr>
          <p:cNvPr id="63" name="Audio 62">
            <a:extLst>
              <a:ext uri="{FF2B5EF4-FFF2-40B4-BE49-F238E27FC236}">
                <a16:creationId xmlns:a16="http://schemas.microsoft.com/office/drawing/2014/main" id="{15DB5927-C1AC-CFFD-46FA-25D05808019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63004"/>
    </mc:Choice>
    <mc:Fallback xmlns="">
      <p:transition spd="slow" advTm="6300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A2F"/>
          </a:solidFill>
          <a:ln/>
        </p:spPr>
        <p:txBody>
          <a:bodyPr/>
          <a:lstStyle/>
          <a:p>
            <a:endParaRPr lang="en-US"/>
          </a:p>
        </p:txBody>
      </p:sp>
      <p:sp>
        <p:nvSpPr>
          <p:cNvPr id="3" name="Text 1"/>
          <p:cNvSpPr/>
          <p:nvPr/>
        </p:nvSpPr>
        <p:spPr>
          <a:xfrm>
            <a:off x="457200" y="0"/>
            <a:ext cx="8229600" cy="640080"/>
          </a:xfrm>
          <a:prstGeom prst="rect">
            <a:avLst/>
          </a:prstGeom>
          <a:noFill/>
          <a:ln/>
        </p:spPr>
        <p:txBody>
          <a:bodyPr wrap="square" lIns="0" tIns="0" rIns="0" bIns="0" rtlCol="0" anchor="ctr"/>
          <a:lstStyle/>
          <a:p>
            <a:pPr marL="0" indent="0">
              <a:buNone/>
            </a:pPr>
            <a:r>
              <a:rPr lang="en-US" sz="2200" b="1" dirty="0">
                <a:solidFill>
                  <a:srgbClr val="FFFFFF"/>
                </a:solidFill>
              </a:rPr>
              <a:t>Demo — Two Sessions</a:t>
            </a:r>
            <a:endParaRPr lang="en-US" sz="2200" dirty="0"/>
          </a:p>
        </p:txBody>
      </p:sp>
      <p:sp>
        <p:nvSpPr>
          <p:cNvPr id="4" name="Shape 2"/>
          <p:cNvSpPr/>
          <p:nvPr/>
        </p:nvSpPr>
        <p:spPr>
          <a:xfrm>
            <a:off x="228600" y="749808"/>
            <a:ext cx="4206240" cy="4206240"/>
          </a:xfrm>
          <a:prstGeom prst="rect">
            <a:avLst/>
          </a:prstGeom>
          <a:solidFill>
            <a:srgbClr val="0D1117"/>
          </a:solidFill>
          <a:ln w="15240">
            <a:solidFill>
              <a:srgbClr val="30363D"/>
            </a:solidFill>
            <a:prstDash val="solid"/>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384048" y="877824"/>
            <a:ext cx="128016" cy="128016"/>
          </a:xfrm>
          <a:prstGeom prst="ellipse">
            <a:avLst/>
          </a:prstGeom>
          <a:solidFill>
            <a:srgbClr val="FF5F57"/>
          </a:solidFill>
          <a:ln/>
        </p:spPr>
        <p:txBody>
          <a:bodyPr/>
          <a:lstStyle/>
          <a:p>
            <a:endParaRPr lang="en-US"/>
          </a:p>
        </p:txBody>
      </p:sp>
      <p:sp>
        <p:nvSpPr>
          <p:cNvPr id="6" name="Shape 4"/>
          <p:cNvSpPr/>
          <p:nvPr/>
        </p:nvSpPr>
        <p:spPr>
          <a:xfrm>
            <a:off x="612648" y="877824"/>
            <a:ext cx="128016" cy="128016"/>
          </a:xfrm>
          <a:prstGeom prst="ellipse">
            <a:avLst/>
          </a:prstGeom>
          <a:solidFill>
            <a:srgbClr val="FEBC2E"/>
          </a:solidFill>
          <a:ln/>
        </p:spPr>
        <p:txBody>
          <a:bodyPr/>
          <a:lstStyle/>
          <a:p>
            <a:endParaRPr lang="en-US"/>
          </a:p>
        </p:txBody>
      </p:sp>
      <p:sp>
        <p:nvSpPr>
          <p:cNvPr id="7" name="Shape 5"/>
          <p:cNvSpPr/>
          <p:nvPr/>
        </p:nvSpPr>
        <p:spPr>
          <a:xfrm>
            <a:off x="841248" y="877824"/>
            <a:ext cx="128016" cy="128016"/>
          </a:xfrm>
          <a:prstGeom prst="ellipse">
            <a:avLst/>
          </a:prstGeom>
          <a:solidFill>
            <a:srgbClr val="28C840"/>
          </a:solidFill>
          <a:ln/>
        </p:spPr>
        <p:txBody>
          <a:bodyPr/>
          <a:lstStyle/>
          <a:p>
            <a:endParaRPr lang="en-US"/>
          </a:p>
        </p:txBody>
      </p:sp>
      <p:sp>
        <p:nvSpPr>
          <p:cNvPr id="8" name="Text 6"/>
          <p:cNvSpPr/>
          <p:nvPr/>
        </p:nvSpPr>
        <p:spPr>
          <a:xfrm>
            <a:off x="228600" y="841248"/>
            <a:ext cx="4206240" cy="201168"/>
          </a:xfrm>
          <a:prstGeom prst="rect">
            <a:avLst/>
          </a:prstGeom>
          <a:noFill/>
          <a:ln/>
        </p:spPr>
        <p:txBody>
          <a:bodyPr wrap="square" rtlCol="0" anchor="ctr"/>
          <a:lstStyle/>
          <a:p>
            <a:pPr marL="0" indent="0" algn="ctr">
              <a:buNone/>
            </a:pPr>
            <a:r>
              <a:rPr lang="en-US" sz="950" dirty="0">
                <a:solidFill>
                  <a:srgbClr val="8B949E"/>
                </a:solidFill>
              </a:rPr>
              <a:t>Session 1 — first time</a:t>
            </a:r>
            <a:endParaRPr lang="en-US" sz="950" dirty="0"/>
          </a:p>
        </p:txBody>
      </p:sp>
      <p:sp>
        <p:nvSpPr>
          <p:cNvPr id="9" name="Text 7"/>
          <p:cNvSpPr/>
          <p:nvPr/>
        </p:nvSpPr>
        <p:spPr>
          <a:xfrm>
            <a:off x="320040" y="1097280"/>
            <a:ext cx="4023360" cy="201168"/>
          </a:xfrm>
          <a:prstGeom prst="rect">
            <a:avLst/>
          </a:prstGeom>
          <a:noFill/>
          <a:ln/>
        </p:spPr>
        <p:txBody>
          <a:bodyPr wrap="square" rtlCol="0" anchor="ctr"/>
          <a:lstStyle/>
          <a:p>
            <a:pPr marL="0" indent="0">
              <a:buNone/>
            </a:pPr>
            <a:r>
              <a:rPr lang="en-US" sz="950" dirty="0">
                <a:solidFill>
                  <a:srgbClr val="E6EDF3"/>
                </a:solidFill>
                <a:latin typeface="Consolas" pitchFamily="34" charset="0"/>
                <a:ea typeface="Consolas" pitchFamily="34" charset="-122"/>
                <a:cs typeface="Consolas" pitchFamily="34" charset="-120"/>
              </a:rPr>
              <a:t>You: I want to gain muscle</a:t>
            </a:r>
            <a:endParaRPr lang="en-US" sz="950" dirty="0"/>
          </a:p>
        </p:txBody>
      </p:sp>
      <p:sp>
        <p:nvSpPr>
          <p:cNvPr id="10" name="Text 8"/>
          <p:cNvSpPr/>
          <p:nvPr/>
        </p:nvSpPr>
        <p:spPr>
          <a:xfrm>
            <a:off x="320040" y="1298448"/>
            <a:ext cx="4023360" cy="201168"/>
          </a:xfrm>
          <a:prstGeom prst="rect">
            <a:avLst/>
          </a:prstGeom>
          <a:noFill/>
          <a:ln/>
        </p:spPr>
        <p:txBody>
          <a:bodyPr wrap="square" rtlCol="0" anchor="ctr"/>
          <a:lstStyle/>
          <a:p>
            <a:pPr marL="0" indent="0">
              <a:buNone/>
            </a:pPr>
            <a:r>
              <a:rPr lang="en-US" sz="950" dirty="0">
                <a:solidFill>
                  <a:srgbClr val="E6EDF3"/>
                </a:solidFill>
                <a:latin typeface="Consolas" pitchFamily="34" charset="0"/>
                <a:ea typeface="Consolas" pitchFamily="34" charset="-122"/>
                <a:cs typeface="Consolas" pitchFamily="34" charset="-120"/>
              </a:rPr>
              <a:t>You: no restrictions, Asian food</a:t>
            </a:r>
            <a:endParaRPr lang="en-US" sz="950" dirty="0"/>
          </a:p>
        </p:txBody>
      </p:sp>
      <p:sp>
        <p:nvSpPr>
          <p:cNvPr id="11" name="Text 9"/>
          <p:cNvSpPr/>
          <p:nvPr/>
        </p:nvSpPr>
        <p:spPr>
          <a:xfrm>
            <a:off x="320040" y="1499616"/>
            <a:ext cx="4023360" cy="201168"/>
          </a:xfrm>
          <a:prstGeom prst="rect">
            <a:avLst/>
          </a:prstGeom>
          <a:noFill/>
          <a:ln/>
        </p:spPr>
        <p:txBody>
          <a:bodyPr wrap="square" rtlCol="0" anchor="ctr"/>
          <a:lstStyle/>
          <a:p>
            <a:pPr marL="0" indent="0">
              <a:buNone/>
            </a:pPr>
            <a:endParaRPr lang="en-US" sz="950" dirty="0"/>
          </a:p>
        </p:txBody>
      </p:sp>
      <p:sp>
        <p:nvSpPr>
          <p:cNvPr id="12" name="Text 10"/>
          <p:cNvSpPr/>
          <p:nvPr/>
        </p:nvSpPr>
        <p:spPr>
          <a:xfrm>
            <a:off x="320040" y="1700784"/>
            <a:ext cx="4023360" cy="201168"/>
          </a:xfrm>
          <a:prstGeom prst="rect">
            <a:avLst/>
          </a:prstGeom>
          <a:noFill/>
          <a:ln/>
        </p:spPr>
        <p:txBody>
          <a:bodyPr wrap="square" rtlCol="0" anchor="ctr"/>
          <a:lstStyle/>
          <a:p>
            <a:pPr marL="0" indent="0">
              <a:buNone/>
            </a:pPr>
            <a:r>
              <a:rPr lang="en-US" sz="950" dirty="0">
                <a:solidFill>
                  <a:srgbClr val="3FB950"/>
                </a:solidFill>
                <a:latin typeface="Consolas" pitchFamily="34" charset="0"/>
                <a:ea typeface="Consolas" pitchFamily="34" charset="-122"/>
                <a:cs typeface="Consolas" pitchFamily="34" charset="-120"/>
              </a:rPr>
              <a:t>  [tool] save_profile(goal, restrictions,</a:t>
            </a:r>
            <a:endParaRPr lang="en-US" sz="950" dirty="0"/>
          </a:p>
        </p:txBody>
      </p:sp>
      <p:sp>
        <p:nvSpPr>
          <p:cNvPr id="13" name="Text 11"/>
          <p:cNvSpPr/>
          <p:nvPr/>
        </p:nvSpPr>
        <p:spPr>
          <a:xfrm>
            <a:off x="320040" y="1901952"/>
            <a:ext cx="4023360" cy="201168"/>
          </a:xfrm>
          <a:prstGeom prst="rect">
            <a:avLst/>
          </a:prstGeom>
          <a:noFill/>
          <a:ln/>
        </p:spPr>
        <p:txBody>
          <a:bodyPr wrap="square" rtlCol="0" anchor="ctr"/>
          <a:lstStyle/>
          <a:p>
            <a:pPr marL="0" indent="0">
              <a:buNone/>
            </a:pPr>
            <a:r>
              <a:rPr lang="en-US" sz="950" dirty="0">
                <a:solidFill>
                  <a:srgbClr val="3FB950"/>
                </a:solidFill>
                <a:latin typeface="Consolas" pitchFamily="34" charset="0"/>
                <a:ea typeface="Consolas" pitchFamily="34" charset="-122"/>
                <a:cs typeface="Consolas" pitchFamily="34" charset="-120"/>
              </a:rPr>
              <a:t>         cuisine_preference)</a:t>
            </a:r>
            <a:endParaRPr lang="en-US" sz="950" dirty="0"/>
          </a:p>
        </p:txBody>
      </p:sp>
      <p:sp>
        <p:nvSpPr>
          <p:cNvPr id="14" name="Text 12"/>
          <p:cNvSpPr/>
          <p:nvPr/>
        </p:nvSpPr>
        <p:spPr>
          <a:xfrm>
            <a:off x="320040" y="2103120"/>
            <a:ext cx="4023360" cy="201168"/>
          </a:xfrm>
          <a:prstGeom prst="rect">
            <a:avLst/>
          </a:prstGeom>
          <a:noFill/>
          <a:ln/>
        </p:spPr>
        <p:txBody>
          <a:bodyPr wrap="square" rtlCol="0" anchor="ctr"/>
          <a:lstStyle/>
          <a:p>
            <a:pPr marL="0" indent="0">
              <a:buNone/>
            </a:pPr>
            <a:r>
              <a:rPr lang="en-US" sz="950" dirty="0">
                <a:solidFill>
                  <a:srgbClr val="3FB950"/>
                </a:solidFill>
                <a:latin typeface="Consolas" pitchFamily="34" charset="0"/>
                <a:ea typeface="Consolas" pitchFamily="34" charset="-122"/>
                <a:cs typeface="Consolas" pitchFamily="34" charset="-120"/>
              </a:rPr>
              <a:t>  [tool] generate_meal_plan(...)</a:t>
            </a:r>
            <a:endParaRPr lang="en-US" sz="950" dirty="0"/>
          </a:p>
        </p:txBody>
      </p:sp>
      <p:sp>
        <p:nvSpPr>
          <p:cNvPr id="15" name="Text 13"/>
          <p:cNvSpPr/>
          <p:nvPr/>
        </p:nvSpPr>
        <p:spPr>
          <a:xfrm>
            <a:off x="320040" y="2304288"/>
            <a:ext cx="4023360" cy="201168"/>
          </a:xfrm>
          <a:prstGeom prst="rect">
            <a:avLst/>
          </a:prstGeom>
          <a:noFill/>
          <a:ln/>
        </p:spPr>
        <p:txBody>
          <a:bodyPr wrap="square" rtlCol="0" anchor="ctr"/>
          <a:lstStyle/>
          <a:p>
            <a:pPr marL="0" indent="0">
              <a:buNone/>
            </a:pPr>
            <a:endParaRPr lang="en-US" sz="950" dirty="0"/>
          </a:p>
        </p:txBody>
      </p:sp>
      <p:sp>
        <p:nvSpPr>
          <p:cNvPr id="16" name="Text 14"/>
          <p:cNvSpPr/>
          <p:nvPr/>
        </p:nvSpPr>
        <p:spPr>
          <a:xfrm>
            <a:off x="320040" y="2505456"/>
            <a:ext cx="4023360" cy="201168"/>
          </a:xfrm>
          <a:prstGeom prst="rect">
            <a:avLst/>
          </a:prstGeom>
          <a:noFill/>
          <a:ln/>
        </p:spPr>
        <p:txBody>
          <a:bodyPr wrap="square" rtlCol="0" anchor="ctr"/>
          <a:lstStyle/>
          <a:p>
            <a:pPr marL="0" indent="0">
              <a:buNone/>
            </a:pPr>
            <a:r>
              <a:rPr lang="en-US" sz="950" dirty="0">
                <a:solidFill>
                  <a:srgbClr val="58A6FF"/>
                </a:solidFill>
                <a:latin typeface="Consolas" pitchFamily="34" charset="0"/>
                <a:ea typeface="Consolas" pitchFamily="34" charset="-122"/>
                <a:cs typeface="Consolas" pitchFamily="34" charset="-120"/>
              </a:rPr>
              <a:t>  [rag]    Retrieving nutrition knowledge...</a:t>
            </a:r>
            <a:endParaRPr lang="en-US" sz="950" dirty="0"/>
          </a:p>
        </p:txBody>
      </p:sp>
      <p:sp>
        <p:nvSpPr>
          <p:cNvPr id="17" name="Text 15"/>
          <p:cNvSpPr/>
          <p:nvPr/>
        </p:nvSpPr>
        <p:spPr>
          <a:xfrm>
            <a:off x="320040" y="2706624"/>
            <a:ext cx="4023360" cy="201168"/>
          </a:xfrm>
          <a:prstGeom prst="rect">
            <a:avLst/>
          </a:prstGeom>
          <a:noFill/>
          <a:ln/>
        </p:spPr>
        <p:txBody>
          <a:bodyPr wrap="square" rtlCol="0" anchor="ctr"/>
          <a:lstStyle/>
          <a:p>
            <a:pPr marL="0" indent="0">
              <a:buNone/>
            </a:pPr>
            <a:r>
              <a:rPr lang="en-US" sz="950" dirty="0">
                <a:solidFill>
                  <a:srgbClr val="58A6FF"/>
                </a:solidFill>
                <a:latin typeface="Consolas" pitchFamily="34" charset="0"/>
                <a:ea typeface="Consolas" pitchFamily="34" charset="-122"/>
                <a:cs typeface="Consolas" pitchFamily="34" charset="-120"/>
              </a:rPr>
              <a:t>  [cot]    Reasoning step-by-step...</a:t>
            </a:r>
            <a:endParaRPr lang="en-US" sz="950" dirty="0"/>
          </a:p>
        </p:txBody>
      </p:sp>
      <p:sp>
        <p:nvSpPr>
          <p:cNvPr id="18" name="Text 16"/>
          <p:cNvSpPr/>
          <p:nvPr/>
        </p:nvSpPr>
        <p:spPr>
          <a:xfrm>
            <a:off x="320040" y="2907792"/>
            <a:ext cx="4023360" cy="201168"/>
          </a:xfrm>
          <a:prstGeom prst="rect">
            <a:avLst/>
          </a:prstGeom>
          <a:noFill/>
          <a:ln/>
        </p:spPr>
        <p:txBody>
          <a:bodyPr wrap="square" rtlCol="0" anchor="ctr"/>
          <a:lstStyle/>
          <a:p>
            <a:pPr marL="0" indent="0">
              <a:buNone/>
            </a:pPr>
            <a:r>
              <a:rPr lang="en-US" sz="950" dirty="0">
                <a:solidFill>
                  <a:srgbClr val="58A6FF"/>
                </a:solidFill>
                <a:latin typeface="Consolas" pitchFamily="34" charset="0"/>
                <a:ea typeface="Consolas" pitchFamily="34" charset="-122"/>
                <a:cs typeface="Consolas" pitchFamily="34" charset="-120"/>
              </a:rPr>
              <a:t>  [plan]   Generating initial plan...</a:t>
            </a:r>
            <a:endParaRPr lang="en-US" sz="950" dirty="0"/>
          </a:p>
        </p:txBody>
      </p:sp>
      <p:sp>
        <p:nvSpPr>
          <p:cNvPr id="19" name="Text 17"/>
          <p:cNvSpPr/>
          <p:nvPr/>
        </p:nvSpPr>
        <p:spPr>
          <a:xfrm>
            <a:off x="320040" y="3108960"/>
            <a:ext cx="4023360" cy="201168"/>
          </a:xfrm>
          <a:prstGeom prst="rect">
            <a:avLst/>
          </a:prstGeom>
          <a:noFill/>
          <a:ln/>
        </p:spPr>
        <p:txBody>
          <a:bodyPr wrap="square" rtlCol="0" anchor="ctr"/>
          <a:lstStyle/>
          <a:p>
            <a:pPr marL="0" indent="0">
              <a:buNone/>
            </a:pPr>
            <a:r>
              <a:rPr lang="en-US" sz="950" dirty="0">
                <a:solidFill>
                  <a:srgbClr val="F78166"/>
                </a:solidFill>
                <a:latin typeface="Consolas" pitchFamily="34" charset="0"/>
                <a:ea typeface="Consolas" pitchFamily="34" charset="-122"/>
                <a:cs typeface="Consolas" pitchFamily="34" charset="-120"/>
              </a:rPr>
              <a:t>  [critic] Critiquing the plan...</a:t>
            </a:r>
            <a:endParaRPr lang="en-US" sz="950" dirty="0"/>
          </a:p>
        </p:txBody>
      </p:sp>
      <p:sp>
        <p:nvSpPr>
          <p:cNvPr id="20" name="Text 18"/>
          <p:cNvSpPr/>
          <p:nvPr/>
        </p:nvSpPr>
        <p:spPr>
          <a:xfrm>
            <a:off x="320040" y="3310128"/>
            <a:ext cx="4023360" cy="201168"/>
          </a:xfrm>
          <a:prstGeom prst="rect">
            <a:avLst/>
          </a:prstGeom>
          <a:noFill/>
          <a:ln/>
        </p:spPr>
        <p:txBody>
          <a:bodyPr wrap="square" rtlCol="0" anchor="ctr"/>
          <a:lstStyle/>
          <a:p>
            <a:pPr marL="0" indent="0">
              <a:buNone/>
            </a:pPr>
            <a:r>
              <a:rPr lang="en-US" sz="950" dirty="0">
                <a:solidFill>
                  <a:srgbClr val="F78166"/>
                </a:solidFill>
                <a:latin typeface="Consolas" pitchFamily="34" charset="0"/>
                <a:ea typeface="Consolas" pitchFamily="34" charset="-122"/>
                <a:cs typeface="Consolas" pitchFamily="34" charset="-120"/>
              </a:rPr>
              <a:t>  [refine] Refining based on critique...</a:t>
            </a:r>
            <a:endParaRPr lang="en-US" sz="950" dirty="0"/>
          </a:p>
        </p:txBody>
      </p:sp>
      <p:sp>
        <p:nvSpPr>
          <p:cNvPr id="21" name="Text 19"/>
          <p:cNvSpPr/>
          <p:nvPr/>
        </p:nvSpPr>
        <p:spPr>
          <a:xfrm>
            <a:off x="320040" y="3511296"/>
            <a:ext cx="4023360" cy="201168"/>
          </a:xfrm>
          <a:prstGeom prst="rect">
            <a:avLst/>
          </a:prstGeom>
          <a:noFill/>
          <a:ln/>
        </p:spPr>
        <p:txBody>
          <a:bodyPr wrap="square" rtlCol="0" anchor="ctr"/>
          <a:lstStyle/>
          <a:p>
            <a:pPr marL="0" indent="0">
              <a:buNone/>
            </a:pPr>
            <a:endParaRPr lang="en-US" sz="950" dirty="0"/>
          </a:p>
        </p:txBody>
      </p:sp>
      <p:sp>
        <p:nvSpPr>
          <p:cNvPr id="22" name="Text 20"/>
          <p:cNvSpPr/>
          <p:nvPr/>
        </p:nvSpPr>
        <p:spPr>
          <a:xfrm>
            <a:off x="320040" y="3712464"/>
            <a:ext cx="4023360" cy="201168"/>
          </a:xfrm>
          <a:prstGeom prst="rect">
            <a:avLst/>
          </a:prstGeom>
          <a:noFill/>
          <a:ln/>
        </p:spPr>
        <p:txBody>
          <a:bodyPr wrap="square" rtlCol="0" anchor="ctr"/>
          <a:lstStyle/>
          <a:p>
            <a:pPr marL="0" indent="0">
              <a:buNone/>
            </a:pPr>
            <a:r>
              <a:rPr lang="en-US" sz="950" dirty="0">
                <a:solidFill>
                  <a:srgbClr val="E6EDF3"/>
                </a:solidFill>
                <a:latin typeface="Consolas" pitchFamily="34" charset="0"/>
                <a:ea typeface="Consolas" pitchFamily="34" charset="-122"/>
                <a:cs typeface="Consolas" pitchFamily="34" charset="-120"/>
              </a:rPr>
              <a:t>Agent: Here is your 7-day meal plan!</a:t>
            </a:r>
            <a:endParaRPr lang="en-US" sz="950" dirty="0"/>
          </a:p>
        </p:txBody>
      </p:sp>
      <p:sp>
        <p:nvSpPr>
          <p:cNvPr id="23" name="Text 21"/>
          <p:cNvSpPr/>
          <p:nvPr/>
        </p:nvSpPr>
        <p:spPr>
          <a:xfrm>
            <a:off x="320040" y="3913632"/>
            <a:ext cx="4023360" cy="201168"/>
          </a:xfrm>
          <a:prstGeom prst="rect">
            <a:avLst/>
          </a:prstGeom>
          <a:noFill/>
          <a:ln/>
        </p:spPr>
        <p:txBody>
          <a:bodyPr wrap="square" rtlCol="0" anchor="ctr"/>
          <a:lstStyle/>
          <a:p>
            <a:pPr marL="0" indent="0">
              <a:buNone/>
            </a:pPr>
            <a:r>
              <a:rPr lang="en-US" sz="950" dirty="0">
                <a:solidFill>
                  <a:srgbClr val="E6EDF3"/>
                </a:solidFill>
                <a:latin typeface="Consolas" pitchFamily="34" charset="0"/>
                <a:ea typeface="Consolas" pitchFamily="34" charset="-122"/>
                <a:cs typeface="Consolas" pitchFamily="34" charset="-120"/>
              </a:rPr>
              <a:t>You: I did yoga for 45 min today</a:t>
            </a:r>
            <a:endParaRPr lang="en-US" sz="950" dirty="0"/>
          </a:p>
        </p:txBody>
      </p:sp>
      <p:sp>
        <p:nvSpPr>
          <p:cNvPr id="24" name="Text 22"/>
          <p:cNvSpPr/>
          <p:nvPr/>
        </p:nvSpPr>
        <p:spPr>
          <a:xfrm>
            <a:off x="320040" y="4114800"/>
            <a:ext cx="4023360" cy="201168"/>
          </a:xfrm>
          <a:prstGeom prst="rect">
            <a:avLst/>
          </a:prstGeom>
          <a:noFill/>
          <a:ln/>
        </p:spPr>
        <p:txBody>
          <a:bodyPr wrap="square" rtlCol="0" anchor="ctr"/>
          <a:lstStyle/>
          <a:p>
            <a:pPr marL="0" indent="0">
              <a:buNone/>
            </a:pPr>
            <a:r>
              <a:rPr lang="en-US" sz="950" dirty="0">
                <a:solidFill>
                  <a:srgbClr val="3FB950"/>
                </a:solidFill>
                <a:latin typeface="Consolas" pitchFamily="34" charset="0"/>
                <a:ea typeface="Consolas" pitchFamily="34" charset="-122"/>
                <a:cs typeface="Consolas" pitchFamily="34" charset="-120"/>
              </a:rPr>
              <a:t>  [tool] log_workout(yoga, 45min)</a:t>
            </a:r>
            <a:endParaRPr lang="en-US" sz="950" dirty="0"/>
          </a:p>
        </p:txBody>
      </p:sp>
      <p:sp>
        <p:nvSpPr>
          <p:cNvPr id="25" name="Shape 23"/>
          <p:cNvSpPr/>
          <p:nvPr/>
        </p:nvSpPr>
        <p:spPr>
          <a:xfrm>
            <a:off x="4709160" y="749808"/>
            <a:ext cx="4206240" cy="4206240"/>
          </a:xfrm>
          <a:prstGeom prst="rect">
            <a:avLst/>
          </a:prstGeom>
          <a:solidFill>
            <a:srgbClr val="0D1117"/>
          </a:solidFill>
          <a:ln w="15240">
            <a:solidFill>
              <a:srgbClr val="30363D"/>
            </a:solidFill>
            <a:prstDash val="solid"/>
          </a:ln>
          <a:effectLst>
            <a:outerShdw blurRad="101600" dist="38100" dir="8100000" algn="bl" rotWithShape="0">
              <a:srgbClr val="000000">
                <a:alpha val="10000"/>
              </a:srgbClr>
            </a:outerShdw>
          </a:effectLst>
        </p:spPr>
        <p:txBody>
          <a:bodyPr/>
          <a:lstStyle/>
          <a:p>
            <a:endParaRPr lang="en-US"/>
          </a:p>
        </p:txBody>
      </p:sp>
      <p:sp>
        <p:nvSpPr>
          <p:cNvPr id="26" name="Shape 24"/>
          <p:cNvSpPr/>
          <p:nvPr/>
        </p:nvSpPr>
        <p:spPr>
          <a:xfrm>
            <a:off x="4864608" y="877824"/>
            <a:ext cx="128016" cy="128016"/>
          </a:xfrm>
          <a:prstGeom prst="ellipse">
            <a:avLst/>
          </a:prstGeom>
          <a:solidFill>
            <a:srgbClr val="FF5F57"/>
          </a:solidFill>
          <a:ln/>
        </p:spPr>
        <p:txBody>
          <a:bodyPr/>
          <a:lstStyle/>
          <a:p>
            <a:endParaRPr lang="en-US"/>
          </a:p>
        </p:txBody>
      </p:sp>
      <p:sp>
        <p:nvSpPr>
          <p:cNvPr id="27" name="Shape 25"/>
          <p:cNvSpPr/>
          <p:nvPr/>
        </p:nvSpPr>
        <p:spPr>
          <a:xfrm>
            <a:off x="5093208" y="877824"/>
            <a:ext cx="128016" cy="128016"/>
          </a:xfrm>
          <a:prstGeom prst="ellipse">
            <a:avLst/>
          </a:prstGeom>
          <a:solidFill>
            <a:srgbClr val="FEBC2E"/>
          </a:solidFill>
          <a:ln/>
        </p:spPr>
        <p:txBody>
          <a:bodyPr/>
          <a:lstStyle/>
          <a:p>
            <a:endParaRPr lang="en-US"/>
          </a:p>
        </p:txBody>
      </p:sp>
      <p:sp>
        <p:nvSpPr>
          <p:cNvPr id="28" name="Shape 26"/>
          <p:cNvSpPr/>
          <p:nvPr/>
        </p:nvSpPr>
        <p:spPr>
          <a:xfrm>
            <a:off x="5321808" y="877824"/>
            <a:ext cx="128016" cy="128016"/>
          </a:xfrm>
          <a:prstGeom prst="ellipse">
            <a:avLst/>
          </a:prstGeom>
          <a:solidFill>
            <a:srgbClr val="28C840"/>
          </a:solidFill>
          <a:ln/>
        </p:spPr>
        <p:txBody>
          <a:bodyPr/>
          <a:lstStyle/>
          <a:p>
            <a:endParaRPr lang="en-US"/>
          </a:p>
        </p:txBody>
      </p:sp>
      <p:sp>
        <p:nvSpPr>
          <p:cNvPr id="29" name="Text 27"/>
          <p:cNvSpPr/>
          <p:nvPr/>
        </p:nvSpPr>
        <p:spPr>
          <a:xfrm>
            <a:off x="4709160" y="841248"/>
            <a:ext cx="4206240" cy="201168"/>
          </a:xfrm>
          <a:prstGeom prst="rect">
            <a:avLst/>
          </a:prstGeom>
          <a:noFill/>
          <a:ln/>
        </p:spPr>
        <p:txBody>
          <a:bodyPr wrap="square" rtlCol="0" anchor="ctr"/>
          <a:lstStyle/>
          <a:p>
            <a:pPr marL="0" indent="0" algn="ctr">
              <a:buNone/>
            </a:pPr>
            <a:r>
              <a:rPr lang="en-US" sz="950" dirty="0">
                <a:solidFill>
                  <a:srgbClr val="8B949E"/>
                </a:solidFill>
              </a:rPr>
              <a:t>Session 2 — next day (memory loaded)</a:t>
            </a:r>
            <a:endParaRPr lang="en-US" sz="950" dirty="0"/>
          </a:p>
        </p:txBody>
      </p:sp>
      <p:sp>
        <p:nvSpPr>
          <p:cNvPr id="30" name="Text 28"/>
          <p:cNvSpPr/>
          <p:nvPr/>
        </p:nvSpPr>
        <p:spPr>
          <a:xfrm>
            <a:off x="4800600" y="1097280"/>
            <a:ext cx="4023360" cy="201168"/>
          </a:xfrm>
          <a:prstGeom prst="rect">
            <a:avLst/>
          </a:prstGeom>
          <a:noFill/>
          <a:ln/>
        </p:spPr>
        <p:txBody>
          <a:bodyPr wrap="square" rtlCol="0" anchor="ctr"/>
          <a:lstStyle/>
          <a:p>
            <a:pPr marL="0" indent="0">
              <a:buNone/>
            </a:pPr>
            <a:r>
              <a:rPr lang="en-US" sz="950" dirty="0">
                <a:solidFill>
                  <a:srgbClr val="02C39A"/>
                </a:solidFill>
                <a:latin typeface="Consolas" pitchFamily="34" charset="0"/>
                <a:ea typeface="Consolas" pitchFamily="34" charset="-122"/>
                <a:cs typeface="Consolas" pitchFamily="34" charset="-120"/>
              </a:rPr>
              <a:t>Agent: Hey! It's been 1 day since your</a:t>
            </a:r>
            <a:endParaRPr lang="en-US" sz="950" dirty="0"/>
          </a:p>
        </p:txBody>
      </p:sp>
      <p:sp>
        <p:nvSpPr>
          <p:cNvPr id="31" name="Text 29"/>
          <p:cNvSpPr/>
          <p:nvPr/>
        </p:nvSpPr>
        <p:spPr>
          <a:xfrm>
            <a:off x="4800600" y="1298448"/>
            <a:ext cx="4023360" cy="201168"/>
          </a:xfrm>
          <a:prstGeom prst="rect">
            <a:avLst/>
          </a:prstGeom>
          <a:noFill/>
          <a:ln/>
        </p:spPr>
        <p:txBody>
          <a:bodyPr wrap="square" rtlCol="0" anchor="ctr"/>
          <a:lstStyle/>
          <a:p>
            <a:pPr marL="0" indent="0">
              <a:buNone/>
            </a:pPr>
            <a:r>
              <a:rPr lang="en-US" sz="950" dirty="0">
                <a:solidFill>
                  <a:srgbClr val="02C39A"/>
                </a:solidFill>
                <a:latin typeface="Consolas" pitchFamily="34" charset="0"/>
                <a:ea typeface="Consolas" pitchFamily="34" charset="-122"/>
                <a:cs typeface="Consolas" pitchFamily="34" charset="-120"/>
              </a:rPr>
              <a:t>  last workout. Keep the yoga going!</a:t>
            </a:r>
            <a:endParaRPr lang="en-US" sz="950" dirty="0"/>
          </a:p>
        </p:txBody>
      </p:sp>
      <p:sp>
        <p:nvSpPr>
          <p:cNvPr id="32" name="Text 30"/>
          <p:cNvSpPr/>
          <p:nvPr/>
        </p:nvSpPr>
        <p:spPr>
          <a:xfrm>
            <a:off x="4800600" y="1499616"/>
            <a:ext cx="4023360" cy="201168"/>
          </a:xfrm>
          <a:prstGeom prst="rect">
            <a:avLst/>
          </a:prstGeom>
          <a:noFill/>
          <a:ln/>
        </p:spPr>
        <p:txBody>
          <a:bodyPr wrap="square" rtlCol="0" anchor="ctr"/>
          <a:lstStyle/>
          <a:p>
            <a:pPr marL="0" indent="0">
              <a:buNone/>
            </a:pPr>
            <a:r>
              <a:rPr lang="en-US" sz="950" dirty="0">
                <a:solidFill>
                  <a:srgbClr val="02C39A"/>
                </a:solidFill>
                <a:latin typeface="Consolas" pitchFamily="34" charset="0"/>
                <a:ea typeface="Consolas" pitchFamily="34" charset="-122"/>
                <a:cs typeface="Consolas" pitchFamily="34" charset="-120"/>
              </a:rPr>
              <a:t>  How did the meals go this week?</a:t>
            </a:r>
            <a:endParaRPr lang="en-US" sz="950" dirty="0"/>
          </a:p>
        </p:txBody>
      </p:sp>
      <p:sp>
        <p:nvSpPr>
          <p:cNvPr id="33" name="Text 31"/>
          <p:cNvSpPr/>
          <p:nvPr/>
        </p:nvSpPr>
        <p:spPr>
          <a:xfrm>
            <a:off x="4800600" y="1700784"/>
            <a:ext cx="4023360" cy="201168"/>
          </a:xfrm>
          <a:prstGeom prst="rect">
            <a:avLst/>
          </a:prstGeom>
          <a:noFill/>
          <a:ln/>
        </p:spPr>
        <p:txBody>
          <a:bodyPr wrap="square" rtlCol="0" anchor="ctr"/>
          <a:lstStyle/>
          <a:p>
            <a:pPr marL="0" indent="0">
              <a:buNone/>
            </a:pPr>
            <a:endParaRPr lang="en-US" sz="950" dirty="0"/>
          </a:p>
        </p:txBody>
      </p:sp>
      <p:sp>
        <p:nvSpPr>
          <p:cNvPr id="34" name="Text 32"/>
          <p:cNvSpPr/>
          <p:nvPr/>
        </p:nvSpPr>
        <p:spPr>
          <a:xfrm>
            <a:off x="4800600" y="1901952"/>
            <a:ext cx="4023360" cy="201168"/>
          </a:xfrm>
          <a:prstGeom prst="rect">
            <a:avLst/>
          </a:prstGeom>
          <a:noFill/>
          <a:ln/>
        </p:spPr>
        <p:txBody>
          <a:bodyPr wrap="square" rtlCol="0" anchor="ctr"/>
          <a:lstStyle/>
          <a:p>
            <a:pPr marL="0" indent="0">
              <a:buNone/>
            </a:pPr>
            <a:r>
              <a:rPr lang="en-US" sz="950" dirty="0">
                <a:solidFill>
                  <a:srgbClr val="E6EDF3"/>
                </a:solidFill>
                <a:latin typeface="Consolas" pitchFamily="34" charset="0"/>
                <a:ea typeface="Consolas" pitchFamily="34" charset="-122"/>
                <a:cs typeface="Consolas" pitchFamily="34" charset="-120"/>
              </a:rPr>
              <a:t>You: meals were great, portions too big</a:t>
            </a:r>
            <a:endParaRPr lang="en-US" sz="950" dirty="0"/>
          </a:p>
        </p:txBody>
      </p:sp>
      <p:sp>
        <p:nvSpPr>
          <p:cNvPr id="35" name="Text 33"/>
          <p:cNvSpPr/>
          <p:nvPr/>
        </p:nvSpPr>
        <p:spPr>
          <a:xfrm>
            <a:off x="4800600" y="2103120"/>
            <a:ext cx="4023360" cy="201168"/>
          </a:xfrm>
          <a:prstGeom prst="rect">
            <a:avLst/>
          </a:prstGeom>
          <a:noFill/>
          <a:ln/>
        </p:spPr>
        <p:txBody>
          <a:bodyPr wrap="square" rtlCol="0" anchor="ctr"/>
          <a:lstStyle/>
          <a:p>
            <a:pPr marL="0" indent="0">
              <a:buNone/>
            </a:pPr>
            <a:endParaRPr lang="en-US" sz="950" dirty="0"/>
          </a:p>
        </p:txBody>
      </p:sp>
      <p:sp>
        <p:nvSpPr>
          <p:cNvPr id="36" name="Text 34"/>
          <p:cNvSpPr/>
          <p:nvPr/>
        </p:nvSpPr>
        <p:spPr>
          <a:xfrm>
            <a:off x="4800600" y="2304288"/>
            <a:ext cx="4023360" cy="201168"/>
          </a:xfrm>
          <a:prstGeom prst="rect">
            <a:avLst/>
          </a:prstGeom>
          <a:noFill/>
          <a:ln/>
        </p:spPr>
        <p:txBody>
          <a:bodyPr wrap="square" rtlCol="0" anchor="ctr"/>
          <a:lstStyle/>
          <a:p>
            <a:pPr marL="0" indent="0">
              <a:buNone/>
            </a:pPr>
            <a:r>
              <a:rPr lang="en-US" sz="950" dirty="0">
                <a:solidFill>
                  <a:srgbClr val="3FB950"/>
                </a:solidFill>
                <a:latin typeface="Consolas" pitchFamily="34" charset="0"/>
                <a:ea typeface="Consolas" pitchFamily="34" charset="-122"/>
                <a:cs typeface="Consolas" pitchFamily="34" charset="-120"/>
              </a:rPr>
              <a:t>  [tool] add_weekly_checkin(...)</a:t>
            </a:r>
            <a:endParaRPr lang="en-US" sz="950" dirty="0"/>
          </a:p>
        </p:txBody>
      </p:sp>
      <p:sp>
        <p:nvSpPr>
          <p:cNvPr id="37" name="Text 35"/>
          <p:cNvSpPr/>
          <p:nvPr/>
        </p:nvSpPr>
        <p:spPr>
          <a:xfrm>
            <a:off x="4800600" y="2505456"/>
            <a:ext cx="4023360" cy="201168"/>
          </a:xfrm>
          <a:prstGeom prst="rect">
            <a:avLst/>
          </a:prstGeom>
          <a:noFill/>
          <a:ln/>
        </p:spPr>
        <p:txBody>
          <a:bodyPr wrap="square" rtlCol="0" anchor="ctr"/>
          <a:lstStyle/>
          <a:p>
            <a:pPr marL="0" indent="0">
              <a:buNone/>
            </a:pPr>
            <a:r>
              <a:rPr lang="en-US" sz="950" dirty="0">
                <a:solidFill>
                  <a:srgbClr val="3FB950"/>
                </a:solidFill>
                <a:latin typeface="Consolas" pitchFamily="34" charset="0"/>
                <a:ea typeface="Consolas" pitchFamily="34" charset="-122"/>
                <a:cs typeface="Consolas" pitchFamily="34" charset="-120"/>
              </a:rPr>
              <a:t>  [tool] generate_meal_plan(</a:t>
            </a:r>
            <a:endParaRPr lang="en-US" sz="950" dirty="0"/>
          </a:p>
        </p:txBody>
      </p:sp>
      <p:sp>
        <p:nvSpPr>
          <p:cNvPr id="38" name="Text 36"/>
          <p:cNvSpPr/>
          <p:nvPr/>
        </p:nvSpPr>
        <p:spPr>
          <a:xfrm>
            <a:off x="4800600" y="2706624"/>
            <a:ext cx="4023360" cy="201168"/>
          </a:xfrm>
          <a:prstGeom prst="rect">
            <a:avLst/>
          </a:prstGeom>
          <a:noFill/>
          <a:ln/>
        </p:spPr>
        <p:txBody>
          <a:bodyPr wrap="square" rtlCol="0" anchor="ctr"/>
          <a:lstStyle/>
          <a:p>
            <a:pPr marL="0" indent="0">
              <a:buNone/>
            </a:pPr>
            <a:r>
              <a:rPr lang="en-US" sz="950" dirty="0">
                <a:solidFill>
                  <a:srgbClr val="3FB950"/>
                </a:solidFill>
                <a:latin typeface="Consolas" pitchFamily="34" charset="0"/>
                <a:ea typeface="Consolas" pitchFamily="34" charset="-122"/>
                <a:cs typeface="Consolas" pitchFamily="34" charset="-120"/>
              </a:rPr>
              <a:t>    feedback='reduce portions')</a:t>
            </a:r>
            <a:endParaRPr lang="en-US" sz="950" dirty="0"/>
          </a:p>
        </p:txBody>
      </p:sp>
      <p:sp>
        <p:nvSpPr>
          <p:cNvPr id="39" name="Text 37"/>
          <p:cNvSpPr/>
          <p:nvPr/>
        </p:nvSpPr>
        <p:spPr>
          <a:xfrm>
            <a:off x="4800600" y="2907792"/>
            <a:ext cx="4023360" cy="201168"/>
          </a:xfrm>
          <a:prstGeom prst="rect">
            <a:avLst/>
          </a:prstGeom>
          <a:noFill/>
          <a:ln/>
        </p:spPr>
        <p:txBody>
          <a:bodyPr wrap="square" rtlCol="0" anchor="ctr"/>
          <a:lstStyle/>
          <a:p>
            <a:pPr marL="0" indent="0">
              <a:buNone/>
            </a:pPr>
            <a:r>
              <a:rPr lang="en-US" sz="950" dirty="0">
                <a:solidFill>
                  <a:srgbClr val="58A6FF"/>
                </a:solidFill>
                <a:latin typeface="Consolas" pitchFamily="34" charset="0"/>
                <a:ea typeface="Consolas" pitchFamily="34" charset="-122"/>
                <a:cs typeface="Consolas" pitchFamily="34" charset="-120"/>
              </a:rPr>
              <a:t>  [rag]    Retrieving nutrition knowledge...</a:t>
            </a:r>
            <a:endParaRPr lang="en-US" sz="950" dirty="0"/>
          </a:p>
        </p:txBody>
      </p:sp>
      <p:sp>
        <p:nvSpPr>
          <p:cNvPr id="40" name="Text 38"/>
          <p:cNvSpPr/>
          <p:nvPr/>
        </p:nvSpPr>
        <p:spPr>
          <a:xfrm>
            <a:off x="4800600" y="3108960"/>
            <a:ext cx="4023360" cy="201168"/>
          </a:xfrm>
          <a:prstGeom prst="rect">
            <a:avLst/>
          </a:prstGeom>
          <a:noFill/>
          <a:ln/>
        </p:spPr>
        <p:txBody>
          <a:bodyPr wrap="square" rtlCol="0" anchor="ctr"/>
          <a:lstStyle/>
          <a:p>
            <a:pPr marL="0" indent="0">
              <a:buNone/>
            </a:pPr>
            <a:r>
              <a:rPr lang="en-US" sz="950" dirty="0">
                <a:solidFill>
                  <a:srgbClr val="58A6FF"/>
                </a:solidFill>
                <a:latin typeface="Consolas" pitchFamily="34" charset="0"/>
                <a:ea typeface="Consolas" pitchFamily="34" charset="-122"/>
                <a:cs typeface="Consolas" pitchFamily="34" charset="-120"/>
              </a:rPr>
              <a:t>  [cot]    Reasoning step-by-step...</a:t>
            </a:r>
            <a:endParaRPr lang="en-US" sz="950" dirty="0"/>
          </a:p>
        </p:txBody>
      </p:sp>
      <p:sp>
        <p:nvSpPr>
          <p:cNvPr id="41" name="Text 39"/>
          <p:cNvSpPr/>
          <p:nvPr/>
        </p:nvSpPr>
        <p:spPr>
          <a:xfrm>
            <a:off x="4800600" y="3310128"/>
            <a:ext cx="4023360" cy="201168"/>
          </a:xfrm>
          <a:prstGeom prst="rect">
            <a:avLst/>
          </a:prstGeom>
          <a:noFill/>
          <a:ln/>
        </p:spPr>
        <p:txBody>
          <a:bodyPr wrap="square" rtlCol="0" anchor="ctr"/>
          <a:lstStyle/>
          <a:p>
            <a:pPr marL="0" indent="0">
              <a:buNone/>
            </a:pPr>
            <a:r>
              <a:rPr lang="en-US" sz="950" dirty="0">
                <a:solidFill>
                  <a:srgbClr val="58A6FF"/>
                </a:solidFill>
                <a:latin typeface="Consolas" pitchFamily="34" charset="0"/>
                <a:ea typeface="Consolas" pitchFamily="34" charset="-122"/>
                <a:cs typeface="Consolas" pitchFamily="34" charset="-120"/>
              </a:rPr>
              <a:t>  [plan]   Generating initial plan...</a:t>
            </a:r>
            <a:endParaRPr lang="en-US" sz="950" dirty="0"/>
          </a:p>
        </p:txBody>
      </p:sp>
      <p:sp>
        <p:nvSpPr>
          <p:cNvPr id="42" name="Text 40"/>
          <p:cNvSpPr/>
          <p:nvPr/>
        </p:nvSpPr>
        <p:spPr>
          <a:xfrm>
            <a:off x="4800600" y="3511296"/>
            <a:ext cx="4023360" cy="201168"/>
          </a:xfrm>
          <a:prstGeom prst="rect">
            <a:avLst/>
          </a:prstGeom>
          <a:noFill/>
          <a:ln/>
        </p:spPr>
        <p:txBody>
          <a:bodyPr wrap="square" rtlCol="0" anchor="ctr"/>
          <a:lstStyle/>
          <a:p>
            <a:pPr marL="0" indent="0">
              <a:buNone/>
            </a:pPr>
            <a:r>
              <a:rPr lang="en-US" sz="950" dirty="0">
                <a:solidFill>
                  <a:srgbClr val="F78166"/>
                </a:solidFill>
                <a:latin typeface="Consolas" pitchFamily="34" charset="0"/>
                <a:ea typeface="Consolas" pitchFamily="34" charset="-122"/>
                <a:cs typeface="Consolas" pitchFamily="34" charset="-120"/>
              </a:rPr>
              <a:t>  [critic] Critiquing...</a:t>
            </a:r>
            <a:endParaRPr lang="en-US" sz="950" dirty="0"/>
          </a:p>
        </p:txBody>
      </p:sp>
      <p:sp>
        <p:nvSpPr>
          <p:cNvPr id="43" name="Text 41"/>
          <p:cNvSpPr/>
          <p:nvPr/>
        </p:nvSpPr>
        <p:spPr>
          <a:xfrm>
            <a:off x="4800600" y="3712464"/>
            <a:ext cx="4023360" cy="201168"/>
          </a:xfrm>
          <a:prstGeom prst="rect">
            <a:avLst/>
          </a:prstGeom>
          <a:noFill/>
          <a:ln/>
        </p:spPr>
        <p:txBody>
          <a:bodyPr wrap="square" rtlCol="0" anchor="ctr"/>
          <a:lstStyle/>
          <a:p>
            <a:pPr marL="0" indent="0">
              <a:buNone/>
            </a:pPr>
            <a:r>
              <a:rPr lang="en-US" sz="950" dirty="0">
                <a:solidFill>
                  <a:srgbClr val="F78166"/>
                </a:solidFill>
                <a:latin typeface="Consolas" pitchFamily="34" charset="0"/>
                <a:ea typeface="Consolas" pitchFamily="34" charset="-122"/>
                <a:cs typeface="Consolas" pitchFamily="34" charset="-120"/>
              </a:rPr>
              <a:t>  [refine] Refining...</a:t>
            </a:r>
            <a:endParaRPr lang="en-US" sz="950" dirty="0"/>
          </a:p>
        </p:txBody>
      </p:sp>
      <p:sp>
        <p:nvSpPr>
          <p:cNvPr id="44" name="Text 42"/>
          <p:cNvSpPr/>
          <p:nvPr/>
        </p:nvSpPr>
        <p:spPr>
          <a:xfrm>
            <a:off x="4800600" y="3913632"/>
            <a:ext cx="4023360" cy="201168"/>
          </a:xfrm>
          <a:prstGeom prst="rect">
            <a:avLst/>
          </a:prstGeom>
          <a:noFill/>
          <a:ln/>
        </p:spPr>
        <p:txBody>
          <a:bodyPr wrap="square" rtlCol="0" anchor="ctr"/>
          <a:lstStyle/>
          <a:p>
            <a:pPr marL="0" indent="0">
              <a:buNone/>
            </a:pPr>
            <a:endParaRPr lang="en-US" sz="950" dirty="0"/>
          </a:p>
        </p:txBody>
      </p:sp>
      <p:sp>
        <p:nvSpPr>
          <p:cNvPr id="45" name="Text 43"/>
          <p:cNvSpPr/>
          <p:nvPr/>
        </p:nvSpPr>
        <p:spPr>
          <a:xfrm>
            <a:off x="4800600" y="4114800"/>
            <a:ext cx="4023360" cy="201168"/>
          </a:xfrm>
          <a:prstGeom prst="rect">
            <a:avLst/>
          </a:prstGeom>
          <a:noFill/>
          <a:ln/>
        </p:spPr>
        <p:txBody>
          <a:bodyPr wrap="square" rtlCol="0" anchor="ctr"/>
          <a:lstStyle/>
          <a:p>
            <a:pPr marL="0" indent="0">
              <a:buNone/>
            </a:pPr>
            <a:r>
              <a:rPr lang="en-US" sz="950" dirty="0">
                <a:solidFill>
                  <a:srgbClr val="E6EDF3"/>
                </a:solidFill>
                <a:latin typeface="Consolas" pitchFamily="34" charset="0"/>
                <a:ea typeface="Consolas" pitchFamily="34" charset="-122"/>
                <a:cs typeface="Consolas" pitchFamily="34" charset="-120"/>
              </a:rPr>
              <a:t>Agent: Here is your updated meal plan!</a:t>
            </a:r>
            <a:endParaRPr lang="en-US" sz="950" dirty="0"/>
          </a:p>
        </p:txBody>
      </p:sp>
      <p:sp>
        <p:nvSpPr>
          <p:cNvPr id="46" name="Shape 44"/>
          <p:cNvSpPr/>
          <p:nvPr/>
        </p:nvSpPr>
        <p:spPr>
          <a:xfrm>
            <a:off x="4434840" y="2852928"/>
            <a:ext cx="274320" cy="0"/>
          </a:xfrm>
          <a:prstGeom prst="line">
            <a:avLst/>
          </a:prstGeom>
          <a:noFill/>
          <a:ln w="25400">
            <a:solidFill>
              <a:srgbClr val="02C39A"/>
            </a:solidFill>
            <a:prstDash val="solid"/>
          </a:ln>
        </p:spPr>
        <p:txBody>
          <a:bodyPr/>
          <a:lstStyle/>
          <a:p>
            <a:endParaRPr lang="en-US"/>
          </a:p>
        </p:txBody>
      </p:sp>
      <p:sp>
        <p:nvSpPr>
          <p:cNvPr id="47" name="Text 45"/>
          <p:cNvSpPr/>
          <p:nvPr/>
        </p:nvSpPr>
        <p:spPr>
          <a:xfrm>
            <a:off x="4462272" y="2743200"/>
            <a:ext cx="228600" cy="228600"/>
          </a:xfrm>
          <a:prstGeom prst="rect">
            <a:avLst/>
          </a:prstGeom>
          <a:noFill/>
          <a:ln/>
        </p:spPr>
        <p:txBody>
          <a:bodyPr wrap="square" rtlCol="0" anchor="ctr"/>
          <a:lstStyle/>
          <a:p>
            <a:pPr marL="0" indent="0" algn="ctr">
              <a:buNone/>
            </a:pPr>
            <a:r>
              <a:rPr lang="en-US" sz="1400" b="1" dirty="0">
                <a:solidFill>
                  <a:srgbClr val="02C39A"/>
                </a:solidFill>
              </a:rPr>
              <a:t>&gt;</a:t>
            </a:r>
            <a:endParaRPr lang="en-US" sz="1400" dirty="0"/>
          </a:p>
        </p:txBody>
      </p:sp>
      <p:sp>
        <p:nvSpPr>
          <p:cNvPr id="48" name="Shape 46"/>
          <p:cNvSpPr/>
          <p:nvPr/>
        </p:nvSpPr>
        <p:spPr>
          <a:xfrm>
            <a:off x="228600" y="4736592"/>
            <a:ext cx="4206240" cy="292608"/>
          </a:xfrm>
          <a:prstGeom prst="rect">
            <a:avLst/>
          </a:prstGeom>
          <a:solidFill>
            <a:srgbClr val="028090"/>
          </a:solidFill>
          <a:ln/>
        </p:spPr>
        <p:txBody>
          <a:bodyPr/>
          <a:lstStyle/>
          <a:p>
            <a:endParaRPr lang="en-US"/>
          </a:p>
        </p:txBody>
      </p:sp>
      <p:sp>
        <p:nvSpPr>
          <p:cNvPr id="49" name="Text 47"/>
          <p:cNvSpPr/>
          <p:nvPr/>
        </p:nvSpPr>
        <p:spPr>
          <a:xfrm>
            <a:off x="228600" y="4736592"/>
            <a:ext cx="4206240" cy="292608"/>
          </a:xfrm>
          <a:prstGeom prst="rect">
            <a:avLst/>
          </a:prstGeom>
          <a:noFill/>
          <a:ln/>
        </p:spPr>
        <p:txBody>
          <a:bodyPr wrap="square" rtlCol="0" anchor="ctr"/>
          <a:lstStyle/>
          <a:p>
            <a:pPr marL="0" indent="0" algn="ctr">
              <a:buNone/>
            </a:pPr>
            <a:r>
              <a:rPr lang="en-US" sz="1100" b="1" dirty="0">
                <a:solidFill>
                  <a:srgbClr val="FFFFFF"/>
                </a:solidFill>
              </a:rPr>
              <a:t>RAG + CoT + Self-Refine pipeline on every plan</a:t>
            </a:r>
            <a:endParaRPr lang="en-US" sz="1100" dirty="0"/>
          </a:p>
        </p:txBody>
      </p:sp>
      <p:sp>
        <p:nvSpPr>
          <p:cNvPr id="50" name="Shape 48"/>
          <p:cNvSpPr/>
          <p:nvPr/>
        </p:nvSpPr>
        <p:spPr>
          <a:xfrm>
            <a:off x="4709160" y="4736592"/>
            <a:ext cx="4206240" cy="292608"/>
          </a:xfrm>
          <a:prstGeom prst="rect">
            <a:avLst/>
          </a:prstGeom>
          <a:solidFill>
            <a:srgbClr val="0A2A2F"/>
          </a:solidFill>
          <a:ln/>
        </p:spPr>
        <p:txBody>
          <a:bodyPr/>
          <a:lstStyle/>
          <a:p>
            <a:endParaRPr lang="en-US"/>
          </a:p>
        </p:txBody>
      </p:sp>
      <p:sp>
        <p:nvSpPr>
          <p:cNvPr id="51" name="Text 49"/>
          <p:cNvSpPr/>
          <p:nvPr/>
        </p:nvSpPr>
        <p:spPr>
          <a:xfrm>
            <a:off x="4709160" y="4736592"/>
            <a:ext cx="4206240" cy="292608"/>
          </a:xfrm>
          <a:prstGeom prst="rect">
            <a:avLst/>
          </a:prstGeom>
          <a:noFill/>
          <a:ln/>
        </p:spPr>
        <p:txBody>
          <a:bodyPr wrap="square" rtlCol="0" anchor="ctr"/>
          <a:lstStyle/>
          <a:p>
            <a:pPr marL="0" indent="0" algn="ctr">
              <a:buNone/>
            </a:pPr>
            <a:r>
              <a:rPr lang="en-US" sz="1100" b="1" dirty="0">
                <a:solidFill>
                  <a:srgbClr val="02C39A"/>
                </a:solidFill>
              </a:rPr>
              <a:t>Remembers you — profile loaded from disk</a:t>
            </a:r>
            <a:endParaRPr lang="en-US" sz="1100" dirty="0"/>
          </a:p>
        </p:txBody>
      </p:sp>
      <p:pic>
        <p:nvPicPr>
          <p:cNvPr id="63" name="Audio 62">
            <a:extLst>
              <a:ext uri="{FF2B5EF4-FFF2-40B4-BE49-F238E27FC236}">
                <a16:creationId xmlns:a16="http://schemas.microsoft.com/office/drawing/2014/main" id="{068E6A10-0A28-B0BD-B79E-DF6399B2FE6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4208"/>
    </mc:Choice>
    <mc:Fallback xmlns="">
      <p:transition spd="slow" advTm="5420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A2F"/>
          </a:solidFill>
          <a:ln/>
        </p:spPr>
        <p:txBody>
          <a:bodyPr/>
          <a:lstStyle/>
          <a:p>
            <a:endParaRPr lang="en-US"/>
          </a:p>
        </p:txBody>
      </p:sp>
      <p:sp>
        <p:nvSpPr>
          <p:cNvPr id="3" name="Text 1"/>
          <p:cNvSpPr/>
          <p:nvPr/>
        </p:nvSpPr>
        <p:spPr>
          <a:xfrm>
            <a:off x="457200" y="0"/>
            <a:ext cx="8229600" cy="640080"/>
          </a:xfrm>
          <a:prstGeom prst="rect">
            <a:avLst/>
          </a:prstGeom>
          <a:noFill/>
          <a:ln/>
        </p:spPr>
        <p:txBody>
          <a:bodyPr wrap="square" lIns="0" tIns="0" rIns="0" bIns="0" rtlCol="0" anchor="ctr"/>
          <a:lstStyle/>
          <a:p>
            <a:pPr marL="0" indent="0">
              <a:buNone/>
            </a:pPr>
            <a:r>
              <a:rPr lang="en-US" sz="2200" b="1" dirty="0">
                <a:solidFill>
                  <a:srgbClr val="FFFFFF"/>
                </a:solidFill>
              </a:rPr>
              <a:t>Sample Output — Meal Plan &amp; Grocery List</a:t>
            </a:r>
            <a:endParaRPr lang="en-US" sz="2200" dirty="0"/>
          </a:p>
        </p:txBody>
      </p:sp>
      <p:sp>
        <p:nvSpPr>
          <p:cNvPr id="4" name="Text 2"/>
          <p:cNvSpPr/>
          <p:nvPr/>
        </p:nvSpPr>
        <p:spPr>
          <a:xfrm>
            <a:off x="274320" y="749808"/>
            <a:ext cx="5029200" cy="274320"/>
          </a:xfrm>
          <a:prstGeom prst="rect">
            <a:avLst/>
          </a:prstGeom>
          <a:noFill/>
          <a:ln/>
        </p:spPr>
        <p:txBody>
          <a:bodyPr wrap="square" rtlCol="0" anchor="ctr"/>
          <a:lstStyle/>
          <a:p>
            <a:pPr marL="0" indent="0">
              <a:buNone/>
            </a:pPr>
            <a:r>
              <a:rPr lang="en-US" sz="1100" b="1" dirty="0">
                <a:solidFill>
                  <a:srgbClr val="028090"/>
                </a:solidFill>
              </a:rPr>
              <a:t>7-day meal plan  (goal: gain muscle · Asian cuisine)</a:t>
            </a:r>
            <a:endParaRPr lang="en-US" sz="1100" dirty="0"/>
          </a:p>
        </p:txBody>
      </p:sp>
      <p:sp>
        <p:nvSpPr>
          <p:cNvPr id="5" name="Shape 3"/>
          <p:cNvSpPr/>
          <p:nvPr/>
        </p:nvSpPr>
        <p:spPr>
          <a:xfrm>
            <a:off x="274320" y="1042416"/>
            <a:ext cx="411480" cy="256032"/>
          </a:xfrm>
          <a:prstGeom prst="rect">
            <a:avLst/>
          </a:prstGeom>
          <a:solidFill>
            <a:srgbClr val="0A2A2F"/>
          </a:solidFill>
          <a:ln/>
        </p:spPr>
        <p:txBody>
          <a:bodyPr/>
          <a:lstStyle/>
          <a:p>
            <a:endParaRPr lang="en-US"/>
          </a:p>
        </p:txBody>
      </p:sp>
      <p:sp>
        <p:nvSpPr>
          <p:cNvPr id="6" name="Text 4"/>
          <p:cNvSpPr/>
          <p:nvPr/>
        </p:nvSpPr>
        <p:spPr>
          <a:xfrm>
            <a:off x="274320" y="1042416"/>
            <a:ext cx="411480" cy="256032"/>
          </a:xfrm>
          <a:prstGeom prst="rect">
            <a:avLst/>
          </a:prstGeom>
          <a:noFill/>
          <a:ln/>
        </p:spPr>
        <p:txBody>
          <a:bodyPr wrap="square" rtlCol="0" anchor="ctr"/>
          <a:lstStyle/>
          <a:p>
            <a:pPr marL="0" indent="0" algn="ctr">
              <a:buNone/>
            </a:pPr>
            <a:endParaRPr lang="en-US" sz="900" dirty="0"/>
          </a:p>
        </p:txBody>
      </p:sp>
      <p:sp>
        <p:nvSpPr>
          <p:cNvPr id="7" name="Shape 5"/>
          <p:cNvSpPr/>
          <p:nvPr/>
        </p:nvSpPr>
        <p:spPr>
          <a:xfrm>
            <a:off x="685800" y="1042416"/>
            <a:ext cx="1371600" cy="256032"/>
          </a:xfrm>
          <a:prstGeom prst="rect">
            <a:avLst/>
          </a:prstGeom>
          <a:solidFill>
            <a:srgbClr val="0A2A2F"/>
          </a:solidFill>
          <a:ln/>
        </p:spPr>
        <p:txBody>
          <a:bodyPr/>
          <a:lstStyle/>
          <a:p>
            <a:endParaRPr lang="en-US"/>
          </a:p>
        </p:txBody>
      </p:sp>
      <p:sp>
        <p:nvSpPr>
          <p:cNvPr id="8" name="Text 6"/>
          <p:cNvSpPr/>
          <p:nvPr/>
        </p:nvSpPr>
        <p:spPr>
          <a:xfrm>
            <a:off x="685800" y="1042416"/>
            <a:ext cx="1371600" cy="256032"/>
          </a:xfrm>
          <a:prstGeom prst="rect">
            <a:avLst/>
          </a:prstGeom>
          <a:noFill/>
          <a:ln/>
        </p:spPr>
        <p:txBody>
          <a:bodyPr wrap="square" rtlCol="0" anchor="ctr"/>
          <a:lstStyle/>
          <a:p>
            <a:pPr marL="0" indent="0" algn="ctr">
              <a:buNone/>
            </a:pPr>
            <a:r>
              <a:rPr lang="en-US" sz="900" b="1" dirty="0">
                <a:solidFill>
                  <a:srgbClr val="FFFFFF"/>
                </a:solidFill>
              </a:rPr>
              <a:t>Breakfast</a:t>
            </a:r>
            <a:endParaRPr lang="en-US" sz="900" dirty="0"/>
          </a:p>
        </p:txBody>
      </p:sp>
      <p:sp>
        <p:nvSpPr>
          <p:cNvPr id="9" name="Shape 7"/>
          <p:cNvSpPr/>
          <p:nvPr/>
        </p:nvSpPr>
        <p:spPr>
          <a:xfrm>
            <a:off x="2057400" y="1042416"/>
            <a:ext cx="1325880" cy="256032"/>
          </a:xfrm>
          <a:prstGeom prst="rect">
            <a:avLst/>
          </a:prstGeom>
          <a:solidFill>
            <a:srgbClr val="0A2A2F"/>
          </a:solidFill>
          <a:ln/>
        </p:spPr>
        <p:txBody>
          <a:bodyPr/>
          <a:lstStyle/>
          <a:p>
            <a:endParaRPr lang="en-US"/>
          </a:p>
        </p:txBody>
      </p:sp>
      <p:sp>
        <p:nvSpPr>
          <p:cNvPr id="10" name="Text 8"/>
          <p:cNvSpPr/>
          <p:nvPr/>
        </p:nvSpPr>
        <p:spPr>
          <a:xfrm>
            <a:off x="2057400" y="1042416"/>
            <a:ext cx="1325880" cy="256032"/>
          </a:xfrm>
          <a:prstGeom prst="rect">
            <a:avLst/>
          </a:prstGeom>
          <a:noFill/>
          <a:ln/>
        </p:spPr>
        <p:txBody>
          <a:bodyPr wrap="square" rtlCol="0" anchor="ctr"/>
          <a:lstStyle/>
          <a:p>
            <a:pPr marL="0" indent="0" algn="ctr">
              <a:buNone/>
            </a:pPr>
            <a:r>
              <a:rPr lang="en-US" sz="900" b="1" dirty="0">
                <a:solidFill>
                  <a:srgbClr val="FFFFFF"/>
                </a:solidFill>
              </a:rPr>
              <a:t>Lunch</a:t>
            </a:r>
            <a:endParaRPr lang="en-US" sz="900" dirty="0"/>
          </a:p>
        </p:txBody>
      </p:sp>
      <p:sp>
        <p:nvSpPr>
          <p:cNvPr id="11" name="Shape 9"/>
          <p:cNvSpPr/>
          <p:nvPr/>
        </p:nvSpPr>
        <p:spPr>
          <a:xfrm>
            <a:off x="3383280" y="1042416"/>
            <a:ext cx="1325880" cy="256032"/>
          </a:xfrm>
          <a:prstGeom prst="rect">
            <a:avLst/>
          </a:prstGeom>
          <a:solidFill>
            <a:srgbClr val="0A2A2F"/>
          </a:solidFill>
          <a:ln/>
        </p:spPr>
        <p:txBody>
          <a:bodyPr/>
          <a:lstStyle/>
          <a:p>
            <a:endParaRPr lang="en-US"/>
          </a:p>
        </p:txBody>
      </p:sp>
      <p:sp>
        <p:nvSpPr>
          <p:cNvPr id="12" name="Text 10"/>
          <p:cNvSpPr/>
          <p:nvPr/>
        </p:nvSpPr>
        <p:spPr>
          <a:xfrm>
            <a:off x="3383280" y="1042416"/>
            <a:ext cx="1325880" cy="256032"/>
          </a:xfrm>
          <a:prstGeom prst="rect">
            <a:avLst/>
          </a:prstGeom>
          <a:noFill/>
          <a:ln/>
        </p:spPr>
        <p:txBody>
          <a:bodyPr wrap="square" rtlCol="0" anchor="ctr"/>
          <a:lstStyle/>
          <a:p>
            <a:pPr marL="0" indent="0" algn="ctr">
              <a:buNone/>
            </a:pPr>
            <a:r>
              <a:rPr lang="en-US" sz="900" b="1" dirty="0">
                <a:solidFill>
                  <a:srgbClr val="FFFFFF"/>
                </a:solidFill>
              </a:rPr>
              <a:t>Dinner</a:t>
            </a:r>
            <a:endParaRPr lang="en-US" sz="900" dirty="0"/>
          </a:p>
        </p:txBody>
      </p:sp>
      <p:sp>
        <p:nvSpPr>
          <p:cNvPr id="13" name="Shape 11"/>
          <p:cNvSpPr/>
          <p:nvPr/>
        </p:nvSpPr>
        <p:spPr>
          <a:xfrm>
            <a:off x="4709160" y="1042416"/>
            <a:ext cx="749808" cy="256032"/>
          </a:xfrm>
          <a:prstGeom prst="rect">
            <a:avLst/>
          </a:prstGeom>
          <a:solidFill>
            <a:srgbClr val="0A2A2F"/>
          </a:solidFill>
          <a:ln/>
        </p:spPr>
        <p:txBody>
          <a:bodyPr/>
          <a:lstStyle/>
          <a:p>
            <a:endParaRPr lang="en-US"/>
          </a:p>
        </p:txBody>
      </p:sp>
      <p:sp>
        <p:nvSpPr>
          <p:cNvPr id="14" name="Text 12"/>
          <p:cNvSpPr/>
          <p:nvPr/>
        </p:nvSpPr>
        <p:spPr>
          <a:xfrm>
            <a:off x="4709160" y="1042416"/>
            <a:ext cx="749808" cy="256032"/>
          </a:xfrm>
          <a:prstGeom prst="rect">
            <a:avLst/>
          </a:prstGeom>
          <a:noFill/>
          <a:ln/>
        </p:spPr>
        <p:txBody>
          <a:bodyPr wrap="square" rtlCol="0" anchor="ctr"/>
          <a:lstStyle/>
          <a:p>
            <a:pPr marL="0" indent="0" algn="ctr">
              <a:buNone/>
            </a:pPr>
            <a:r>
              <a:rPr lang="en-US" sz="900" b="1" dirty="0">
                <a:solidFill>
                  <a:srgbClr val="FFFFFF"/>
                </a:solidFill>
              </a:rPr>
              <a:t>Snack</a:t>
            </a:r>
            <a:endParaRPr lang="en-US" sz="900" dirty="0"/>
          </a:p>
        </p:txBody>
      </p:sp>
      <p:sp>
        <p:nvSpPr>
          <p:cNvPr id="15" name="Shape 13"/>
          <p:cNvSpPr/>
          <p:nvPr/>
        </p:nvSpPr>
        <p:spPr>
          <a:xfrm>
            <a:off x="274320" y="1298448"/>
            <a:ext cx="5166360" cy="457200"/>
          </a:xfrm>
          <a:prstGeom prst="rect">
            <a:avLst/>
          </a:prstGeom>
          <a:solidFill>
            <a:srgbClr val="F0F7F8"/>
          </a:solidFill>
          <a:ln/>
        </p:spPr>
        <p:txBody>
          <a:bodyPr/>
          <a:lstStyle/>
          <a:p>
            <a:endParaRPr lang="en-US"/>
          </a:p>
        </p:txBody>
      </p:sp>
      <p:sp>
        <p:nvSpPr>
          <p:cNvPr id="16" name="Text 14"/>
          <p:cNvSpPr/>
          <p:nvPr/>
        </p:nvSpPr>
        <p:spPr>
          <a:xfrm>
            <a:off x="274320" y="1298448"/>
            <a:ext cx="411480" cy="457200"/>
          </a:xfrm>
          <a:prstGeom prst="rect">
            <a:avLst/>
          </a:prstGeom>
          <a:noFill/>
          <a:ln/>
        </p:spPr>
        <p:txBody>
          <a:bodyPr wrap="square" rtlCol="0" anchor="ctr"/>
          <a:lstStyle/>
          <a:p>
            <a:pPr marL="0" indent="0" algn="ctr">
              <a:buNone/>
            </a:pPr>
            <a:r>
              <a:rPr lang="en-US" sz="900" b="1" dirty="0">
                <a:solidFill>
                  <a:srgbClr val="028090"/>
                </a:solidFill>
              </a:rPr>
              <a:t>Mon</a:t>
            </a:r>
            <a:endParaRPr lang="en-US" sz="900" dirty="0"/>
          </a:p>
        </p:txBody>
      </p:sp>
      <p:sp>
        <p:nvSpPr>
          <p:cNvPr id="17" name="Text 15"/>
          <p:cNvSpPr/>
          <p:nvPr/>
        </p:nvSpPr>
        <p:spPr>
          <a:xfrm>
            <a:off x="685800" y="1316736"/>
            <a:ext cx="1371600" cy="420624"/>
          </a:xfrm>
          <a:prstGeom prst="rect">
            <a:avLst/>
          </a:prstGeom>
          <a:noFill/>
          <a:ln/>
        </p:spPr>
        <p:txBody>
          <a:bodyPr wrap="square" rtlCol="0" anchor="ctr"/>
          <a:lstStyle/>
          <a:p>
            <a:pPr marL="0" indent="0">
              <a:buNone/>
            </a:pPr>
            <a:r>
              <a:rPr lang="en-US" sz="850" dirty="0">
                <a:solidFill>
                  <a:srgbClr val="2C5F6A"/>
                </a:solidFill>
              </a:rPr>
              <a:t>Scrambled eggs + brown rice</a:t>
            </a:r>
            <a:endParaRPr lang="en-US" sz="850" dirty="0"/>
          </a:p>
        </p:txBody>
      </p:sp>
      <p:sp>
        <p:nvSpPr>
          <p:cNvPr id="18" name="Text 16"/>
          <p:cNvSpPr/>
          <p:nvPr/>
        </p:nvSpPr>
        <p:spPr>
          <a:xfrm>
            <a:off x="2057400" y="1316736"/>
            <a:ext cx="1325880" cy="420624"/>
          </a:xfrm>
          <a:prstGeom prst="rect">
            <a:avLst/>
          </a:prstGeom>
          <a:noFill/>
          <a:ln/>
        </p:spPr>
        <p:txBody>
          <a:bodyPr wrap="square" rtlCol="0" anchor="ctr"/>
          <a:lstStyle/>
          <a:p>
            <a:pPr marL="0" indent="0">
              <a:buNone/>
            </a:pPr>
            <a:r>
              <a:rPr lang="en-US" sz="850" dirty="0">
                <a:solidFill>
                  <a:srgbClr val="2C5F6A"/>
                </a:solidFill>
              </a:rPr>
              <a:t>Chicken teriyaki bowl</a:t>
            </a:r>
            <a:endParaRPr lang="en-US" sz="850" dirty="0"/>
          </a:p>
        </p:txBody>
      </p:sp>
      <p:sp>
        <p:nvSpPr>
          <p:cNvPr id="19" name="Text 17"/>
          <p:cNvSpPr/>
          <p:nvPr/>
        </p:nvSpPr>
        <p:spPr>
          <a:xfrm>
            <a:off x="3383280" y="1316736"/>
            <a:ext cx="1325880" cy="420624"/>
          </a:xfrm>
          <a:prstGeom prst="rect">
            <a:avLst/>
          </a:prstGeom>
          <a:noFill/>
          <a:ln/>
        </p:spPr>
        <p:txBody>
          <a:bodyPr wrap="square" rtlCol="0" anchor="ctr"/>
          <a:lstStyle/>
          <a:p>
            <a:pPr marL="0" indent="0">
              <a:buNone/>
            </a:pPr>
            <a:r>
              <a:rPr lang="en-US" sz="850" dirty="0">
                <a:solidFill>
                  <a:srgbClr val="2C5F6A"/>
                </a:solidFill>
              </a:rPr>
              <a:t>Beef stir-fry + jasmine rice</a:t>
            </a:r>
            <a:endParaRPr lang="en-US" sz="850" dirty="0"/>
          </a:p>
        </p:txBody>
      </p:sp>
      <p:sp>
        <p:nvSpPr>
          <p:cNvPr id="20" name="Text 18"/>
          <p:cNvSpPr/>
          <p:nvPr/>
        </p:nvSpPr>
        <p:spPr>
          <a:xfrm>
            <a:off x="4709160" y="1316736"/>
            <a:ext cx="749808" cy="420624"/>
          </a:xfrm>
          <a:prstGeom prst="rect">
            <a:avLst/>
          </a:prstGeom>
          <a:noFill/>
          <a:ln/>
        </p:spPr>
        <p:txBody>
          <a:bodyPr wrap="square" rtlCol="0" anchor="ctr"/>
          <a:lstStyle/>
          <a:p>
            <a:pPr marL="0" indent="0">
              <a:buNone/>
            </a:pPr>
            <a:r>
              <a:rPr lang="en-US" sz="850" dirty="0">
                <a:solidFill>
                  <a:srgbClr val="2C5F6A"/>
                </a:solidFill>
              </a:rPr>
              <a:t>Edamame</a:t>
            </a:r>
            <a:endParaRPr lang="en-US" sz="850" dirty="0"/>
          </a:p>
        </p:txBody>
      </p:sp>
      <p:sp>
        <p:nvSpPr>
          <p:cNvPr id="21" name="Shape 19"/>
          <p:cNvSpPr/>
          <p:nvPr/>
        </p:nvSpPr>
        <p:spPr>
          <a:xfrm>
            <a:off x="274320" y="1773936"/>
            <a:ext cx="5166360" cy="457200"/>
          </a:xfrm>
          <a:prstGeom prst="rect">
            <a:avLst/>
          </a:prstGeom>
          <a:solidFill>
            <a:srgbClr val="FFFFFF"/>
          </a:solidFill>
          <a:ln/>
        </p:spPr>
        <p:txBody>
          <a:bodyPr/>
          <a:lstStyle/>
          <a:p>
            <a:endParaRPr lang="en-US"/>
          </a:p>
        </p:txBody>
      </p:sp>
      <p:sp>
        <p:nvSpPr>
          <p:cNvPr id="22" name="Text 20"/>
          <p:cNvSpPr/>
          <p:nvPr/>
        </p:nvSpPr>
        <p:spPr>
          <a:xfrm>
            <a:off x="274320" y="1773936"/>
            <a:ext cx="411480" cy="457200"/>
          </a:xfrm>
          <a:prstGeom prst="rect">
            <a:avLst/>
          </a:prstGeom>
          <a:noFill/>
          <a:ln/>
        </p:spPr>
        <p:txBody>
          <a:bodyPr wrap="square" rtlCol="0" anchor="ctr"/>
          <a:lstStyle/>
          <a:p>
            <a:pPr marL="0" indent="0" algn="ctr">
              <a:buNone/>
            </a:pPr>
            <a:r>
              <a:rPr lang="en-US" sz="900" b="1" dirty="0">
                <a:solidFill>
                  <a:srgbClr val="028090"/>
                </a:solidFill>
              </a:rPr>
              <a:t>Tue</a:t>
            </a:r>
            <a:endParaRPr lang="en-US" sz="900" dirty="0"/>
          </a:p>
        </p:txBody>
      </p:sp>
      <p:sp>
        <p:nvSpPr>
          <p:cNvPr id="23" name="Text 21"/>
          <p:cNvSpPr/>
          <p:nvPr/>
        </p:nvSpPr>
        <p:spPr>
          <a:xfrm>
            <a:off x="685800" y="1792224"/>
            <a:ext cx="1371600" cy="420624"/>
          </a:xfrm>
          <a:prstGeom prst="rect">
            <a:avLst/>
          </a:prstGeom>
          <a:noFill/>
          <a:ln/>
        </p:spPr>
        <p:txBody>
          <a:bodyPr wrap="square" rtlCol="0" anchor="ctr"/>
          <a:lstStyle/>
          <a:p>
            <a:pPr marL="0" indent="0">
              <a:buNone/>
            </a:pPr>
            <a:r>
              <a:rPr lang="en-US" sz="850" dirty="0">
                <a:solidFill>
                  <a:srgbClr val="2C5F6A"/>
                </a:solidFill>
              </a:rPr>
              <a:t>Oats + chia seeds + banana</a:t>
            </a:r>
            <a:endParaRPr lang="en-US" sz="850" dirty="0"/>
          </a:p>
        </p:txBody>
      </p:sp>
      <p:sp>
        <p:nvSpPr>
          <p:cNvPr id="24" name="Text 22"/>
          <p:cNvSpPr/>
          <p:nvPr/>
        </p:nvSpPr>
        <p:spPr>
          <a:xfrm>
            <a:off x="2057400" y="1792224"/>
            <a:ext cx="1325880" cy="420624"/>
          </a:xfrm>
          <a:prstGeom prst="rect">
            <a:avLst/>
          </a:prstGeom>
          <a:noFill/>
          <a:ln/>
        </p:spPr>
        <p:txBody>
          <a:bodyPr wrap="square" rtlCol="0" anchor="ctr"/>
          <a:lstStyle/>
          <a:p>
            <a:pPr marL="0" indent="0">
              <a:buNone/>
            </a:pPr>
            <a:r>
              <a:rPr lang="en-US" sz="850" dirty="0">
                <a:solidFill>
                  <a:srgbClr val="2C5F6A"/>
                </a:solidFill>
              </a:rPr>
              <a:t>Shrimp fried rice + kimchi</a:t>
            </a:r>
            <a:endParaRPr lang="en-US" sz="850" dirty="0"/>
          </a:p>
        </p:txBody>
      </p:sp>
      <p:sp>
        <p:nvSpPr>
          <p:cNvPr id="25" name="Text 23"/>
          <p:cNvSpPr/>
          <p:nvPr/>
        </p:nvSpPr>
        <p:spPr>
          <a:xfrm>
            <a:off x="3383280" y="1792224"/>
            <a:ext cx="1325880" cy="420624"/>
          </a:xfrm>
          <a:prstGeom prst="rect">
            <a:avLst/>
          </a:prstGeom>
          <a:noFill/>
          <a:ln/>
        </p:spPr>
        <p:txBody>
          <a:bodyPr wrap="square" rtlCol="0" anchor="ctr"/>
          <a:lstStyle/>
          <a:p>
            <a:pPr marL="0" indent="0">
              <a:buNone/>
            </a:pPr>
            <a:r>
              <a:rPr lang="en-US" sz="850" dirty="0">
                <a:solidFill>
                  <a:srgbClr val="2C5F6A"/>
                </a:solidFill>
              </a:rPr>
              <a:t>Korean sundubu jjigae</a:t>
            </a:r>
            <a:endParaRPr lang="en-US" sz="850" dirty="0"/>
          </a:p>
        </p:txBody>
      </p:sp>
      <p:sp>
        <p:nvSpPr>
          <p:cNvPr id="26" name="Text 24"/>
          <p:cNvSpPr/>
          <p:nvPr/>
        </p:nvSpPr>
        <p:spPr>
          <a:xfrm>
            <a:off x="4709160" y="1792224"/>
            <a:ext cx="749808" cy="420624"/>
          </a:xfrm>
          <a:prstGeom prst="rect">
            <a:avLst/>
          </a:prstGeom>
          <a:noFill/>
          <a:ln/>
        </p:spPr>
        <p:txBody>
          <a:bodyPr wrap="square" rtlCol="0" anchor="ctr"/>
          <a:lstStyle/>
          <a:p>
            <a:pPr marL="0" indent="0">
              <a:buNone/>
            </a:pPr>
            <a:r>
              <a:rPr lang="en-US" sz="850" dirty="0">
                <a:solidFill>
                  <a:srgbClr val="2C5F6A"/>
                </a:solidFill>
              </a:rPr>
              <a:t>Protein smoothie</a:t>
            </a:r>
            <a:endParaRPr lang="en-US" sz="850" dirty="0"/>
          </a:p>
        </p:txBody>
      </p:sp>
      <p:sp>
        <p:nvSpPr>
          <p:cNvPr id="27" name="Shape 25"/>
          <p:cNvSpPr/>
          <p:nvPr/>
        </p:nvSpPr>
        <p:spPr>
          <a:xfrm>
            <a:off x="274320" y="2249424"/>
            <a:ext cx="5166360" cy="457200"/>
          </a:xfrm>
          <a:prstGeom prst="rect">
            <a:avLst/>
          </a:prstGeom>
          <a:solidFill>
            <a:srgbClr val="F0F7F8"/>
          </a:solidFill>
          <a:ln/>
        </p:spPr>
        <p:txBody>
          <a:bodyPr/>
          <a:lstStyle/>
          <a:p>
            <a:endParaRPr lang="en-US"/>
          </a:p>
        </p:txBody>
      </p:sp>
      <p:sp>
        <p:nvSpPr>
          <p:cNvPr id="28" name="Text 26"/>
          <p:cNvSpPr/>
          <p:nvPr/>
        </p:nvSpPr>
        <p:spPr>
          <a:xfrm>
            <a:off x="274320" y="2249424"/>
            <a:ext cx="411480" cy="457200"/>
          </a:xfrm>
          <a:prstGeom prst="rect">
            <a:avLst/>
          </a:prstGeom>
          <a:noFill/>
          <a:ln/>
        </p:spPr>
        <p:txBody>
          <a:bodyPr wrap="square" rtlCol="0" anchor="ctr"/>
          <a:lstStyle/>
          <a:p>
            <a:pPr marL="0" indent="0" algn="ctr">
              <a:buNone/>
            </a:pPr>
            <a:r>
              <a:rPr lang="en-US" sz="900" b="1" dirty="0">
                <a:solidFill>
                  <a:srgbClr val="028090"/>
                </a:solidFill>
              </a:rPr>
              <a:t>Wed</a:t>
            </a:r>
            <a:endParaRPr lang="en-US" sz="900" dirty="0"/>
          </a:p>
        </p:txBody>
      </p:sp>
      <p:sp>
        <p:nvSpPr>
          <p:cNvPr id="29" name="Text 27"/>
          <p:cNvSpPr/>
          <p:nvPr/>
        </p:nvSpPr>
        <p:spPr>
          <a:xfrm>
            <a:off x="685800" y="2267712"/>
            <a:ext cx="1371600" cy="420624"/>
          </a:xfrm>
          <a:prstGeom prst="rect">
            <a:avLst/>
          </a:prstGeom>
          <a:noFill/>
          <a:ln/>
        </p:spPr>
        <p:txBody>
          <a:bodyPr wrap="square" rtlCol="0" anchor="ctr"/>
          <a:lstStyle/>
          <a:p>
            <a:pPr marL="0" indent="0">
              <a:buNone/>
            </a:pPr>
            <a:r>
              <a:rPr lang="en-US" sz="850" dirty="0">
                <a:solidFill>
                  <a:srgbClr val="2C5F6A"/>
                </a:solidFill>
              </a:rPr>
              <a:t>Tamagoyaki + miso soup</a:t>
            </a:r>
            <a:endParaRPr lang="en-US" sz="850" dirty="0"/>
          </a:p>
        </p:txBody>
      </p:sp>
      <p:sp>
        <p:nvSpPr>
          <p:cNvPr id="30" name="Text 28"/>
          <p:cNvSpPr/>
          <p:nvPr/>
        </p:nvSpPr>
        <p:spPr>
          <a:xfrm>
            <a:off x="2057400" y="2267712"/>
            <a:ext cx="1325880" cy="420624"/>
          </a:xfrm>
          <a:prstGeom prst="rect">
            <a:avLst/>
          </a:prstGeom>
          <a:noFill/>
          <a:ln/>
        </p:spPr>
        <p:txBody>
          <a:bodyPr wrap="square" rtlCol="0" anchor="ctr"/>
          <a:lstStyle/>
          <a:p>
            <a:pPr marL="0" indent="0">
              <a:buNone/>
            </a:pPr>
            <a:r>
              <a:rPr lang="en-US" sz="850" dirty="0">
                <a:solidFill>
                  <a:srgbClr val="2C5F6A"/>
                </a:solidFill>
              </a:rPr>
              <a:t>Tofu stir-fry + brown rice</a:t>
            </a:r>
            <a:endParaRPr lang="en-US" sz="850" dirty="0"/>
          </a:p>
        </p:txBody>
      </p:sp>
      <p:sp>
        <p:nvSpPr>
          <p:cNvPr id="31" name="Text 29"/>
          <p:cNvSpPr/>
          <p:nvPr/>
        </p:nvSpPr>
        <p:spPr>
          <a:xfrm>
            <a:off x="3383280" y="2267712"/>
            <a:ext cx="1325880" cy="420624"/>
          </a:xfrm>
          <a:prstGeom prst="rect">
            <a:avLst/>
          </a:prstGeom>
          <a:noFill/>
          <a:ln/>
        </p:spPr>
        <p:txBody>
          <a:bodyPr wrap="square" rtlCol="0" anchor="ctr"/>
          <a:lstStyle/>
          <a:p>
            <a:pPr marL="0" indent="0">
              <a:buNone/>
            </a:pPr>
            <a:r>
              <a:rPr lang="en-US" sz="850" dirty="0">
                <a:solidFill>
                  <a:srgbClr val="2C5F6A"/>
                </a:solidFill>
              </a:rPr>
              <a:t>Grilled chicken + spinach salad</a:t>
            </a:r>
            <a:endParaRPr lang="en-US" sz="850" dirty="0"/>
          </a:p>
        </p:txBody>
      </p:sp>
      <p:sp>
        <p:nvSpPr>
          <p:cNvPr id="32" name="Text 30"/>
          <p:cNvSpPr/>
          <p:nvPr/>
        </p:nvSpPr>
        <p:spPr>
          <a:xfrm>
            <a:off x="4709160" y="2267712"/>
            <a:ext cx="749808" cy="420624"/>
          </a:xfrm>
          <a:prstGeom prst="rect">
            <a:avLst/>
          </a:prstGeom>
          <a:noFill/>
          <a:ln/>
        </p:spPr>
        <p:txBody>
          <a:bodyPr wrap="square" rtlCol="0" anchor="ctr"/>
          <a:lstStyle/>
          <a:p>
            <a:pPr marL="0" indent="0">
              <a:buNone/>
            </a:pPr>
            <a:r>
              <a:rPr lang="en-US" sz="850" dirty="0">
                <a:solidFill>
                  <a:srgbClr val="2C5F6A"/>
                </a:solidFill>
              </a:rPr>
              <a:t>Almonds</a:t>
            </a:r>
            <a:endParaRPr lang="en-US" sz="850" dirty="0"/>
          </a:p>
        </p:txBody>
      </p:sp>
      <p:sp>
        <p:nvSpPr>
          <p:cNvPr id="33" name="Shape 31"/>
          <p:cNvSpPr/>
          <p:nvPr/>
        </p:nvSpPr>
        <p:spPr>
          <a:xfrm>
            <a:off x="274320" y="2724912"/>
            <a:ext cx="5166360" cy="457200"/>
          </a:xfrm>
          <a:prstGeom prst="rect">
            <a:avLst/>
          </a:prstGeom>
          <a:solidFill>
            <a:srgbClr val="FFFFFF"/>
          </a:solidFill>
          <a:ln/>
        </p:spPr>
        <p:txBody>
          <a:bodyPr/>
          <a:lstStyle/>
          <a:p>
            <a:endParaRPr lang="en-US"/>
          </a:p>
        </p:txBody>
      </p:sp>
      <p:sp>
        <p:nvSpPr>
          <p:cNvPr id="34" name="Text 32"/>
          <p:cNvSpPr/>
          <p:nvPr/>
        </p:nvSpPr>
        <p:spPr>
          <a:xfrm>
            <a:off x="274320" y="2724912"/>
            <a:ext cx="411480" cy="457200"/>
          </a:xfrm>
          <a:prstGeom prst="rect">
            <a:avLst/>
          </a:prstGeom>
          <a:noFill/>
          <a:ln/>
        </p:spPr>
        <p:txBody>
          <a:bodyPr wrap="square" rtlCol="0" anchor="ctr"/>
          <a:lstStyle/>
          <a:p>
            <a:pPr marL="0" indent="0" algn="ctr">
              <a:buNone/>
            </a:pPr>
            <a:r>
              <a:rPr lang="en-US" sz="900" b="1" dirty="0">
                <a:solidFill>
                  <a:srgbClr val="028090"/>
                </a:solidFill>
              </a:rPr>
              <a:t>Thu</a:t>
            </a:r>
            <a:endParaRPr lang="en-US" sz="900" dirty="0"/>
          </a:p>
        </p:txBody>
      </p:sp>
      <p:sp>
        <p:nvSpPr>
          <p:cNvPr id="35" name="Text 33"/>
          <p:cNvSpPr/>
          <p:nvPr/>
        </p:nvSpPr>
        <p:spPr>
          <a:xfrm>
            <a:off x="685800" y="2743200"/>
            <a:ext cx="1371600" cy="420624"/>
          </a:xfrm>
          <a:prstGeom prst="rect">
            <a:avLst/>
          </a:prstGeom>
          <a:noFill/>
          <a:ln/>
        </p:spPr>
        <p:txBody>
          <a:bodyPr wrap="square" rtlCol="0" anchor="ctr"/>
          <a:lstStyle/>
          <a:p>
            <a:pPr marL="0" indent="0">
              <a:buNone/>
            </a:pPr>
            <a:r>
              <a:rPr lang="en-US" sz="850" dirty="0">
                <a:solidFill>
                  <a:srgbClr val="2C5F6A"/>
                </a:solidFill>
              </a:rPr>
              <a:t>Smoothie bowl + protein powder</a:t>
            </a:r>
            <a:endParaRPr lang="en-US" sz="850" dirty="0"/>
          </a:p>
        </p:txBody>
      </p:sp>
      <p:sp>
        <p:nvSpPr>
          <p:cNvPr id="36" name="Text 34"/>
          <p:cNvSpPr/>
          <p:nvPr/>
        </p:nvSpPr>
        <p:spPr>
          <a:xfrm>
            <a:off x="2057400" y="2743200"/>
            <a:ext cx="1325880" cy="420624"/>
          </a:xfrm>
          <a:prstGeom prst="rect">
            <a:avLst/>
          </a:prstGeom>
          <a:noFill/>
          <a:ln/>
        </p:spPr>
        <p:txBody>
          <a:bodyPr wrap="square" rtlCol="0" anchor="ctr"/>
          <a:lstStyle/>
          <a:p>
            <a:pPr marL="0" indent="0">
              <a:buNone/>
            </a:pPr>
            <a:r>
              <a:rPr lang="en-US" sz="850" dirty="0">
                <a:solidFill>
                  <a:srgbClr val="2C5F6A"/>
                </a:solidFill>
              </a:rPr>
              <a:t>Pho + lean beef + herbs</a:t>
            </a:r>
            <a:endParaRPr lang="en-US" sz="850" dirty="0"/>
          </a:p>
        </p:txBody>
      </p:sp>
      <p:sp>
        <p:nvSpPr>
          <p:cNvPr id="37" name="Text 35"/>
          <p:cNvSpPr/>
          <p:nvPr/>
        </p:nvSpPr>
        <p:spPr>
          <a:xfrm>
            <a:off x="3383280" y="2743200"/>
            <a:ext cx="1325880" cy="420624"/>
          </a:xfrm>
          <a:prstGeom prst="rect">
            <a:avLst/>
          </a:prstGeom>
          <a:noFill/>
          <a:ln/>
        </p:spPr>
        <p:txBody>
          <a:bodyPr wrap="square" rtlCol="0" anchor="ctr"/>
          <a:lstStyle/>
          <a:p>
            <a:pPr marL="0" indent="0">
              <a:buNone/>
            </a:pPr>
            <a:r>
              <a:rPr lang="en-US" sz="850" dirty="0">
                <a:solidFill>
                  <a:srgbClr val="2C5F6A"/>
                </a:solidFill>
              </a:rPr>
              <a:t>Shrimp + mixed veg + rice</a:t>
            </a:r>
            <a:endParaRPr lang="en-US" sz="850" dirty="0"/>
          </a:p>
        </p:txBody>
      </p:sp>
      <p:sp>
        <p:nvSpPr>
          <p:cNvPr id="38" name="Text 36"/>
          <p:cNvSpPr/>
          <p:nvPr/>
        </p:nvSpPr>
        <p:spPr>
          <a:xfrm>
            <a:off x="4709160" y="2743200"/>
            <a:ext cx="749808" cy="420624"/>
          </a:xfrm>
          <a:prstGeom prst="rect">
            <a:avLst/>
          </a:prstGeom>
          <a:noFill/>
          <a:ln/>
        </p:spPr>
        <p:txBody>
          <a:bodyPr wrap="square" rtlCol="0" anchor="ctr"/>
          <a:lstStyle/>
          <a:p>
            <a:pPr marL="0" indent="0">
              <a:buNone/>
            </a:pPr>
            <a:r>
              <a:rPr lang="en-US" sz="850" dirty="0">
                <a:solidFill>
                  <a:srgbClr val="2C5F6A"/>
                </a:solidFill>
              </a:rPr>
              <a:t>Greek yogurt</a:t>
            </a:r>
            <a:endParaRPr lang="en-US" sz="850" dirty="0"/>
          </a:p>
        </p:txBody>
      </p:sp>
      <p:sp>
        <p:nvSpPr>
          <p:cNvPr id="39" name="Shape 37"/>
          <p:cNvSpPr/>
          <p:nvPr/>
        </p:nvSpPr>
        <p:spPr>
          <a:xfrm>
            <a:off x="274320" y="3200400"/>
            <a:ext cx="5166360" cy="457200"/>
          </a:xfrm>
          <a:prstGeom prst="rect">
            <a:avLst/>
          </a:prstGeom>
          <a:solidFill>
            <a:srgbClr val="F0F7F8"/>
          </a:solidFill>
          <a:ln/>
        </p:spPr>
        <p:txBody>
          <a:bodyPr/>
          <a:lstStyle/>
          <a:p>
            <a:endParaRPr lang="en-US"/>
          </a:p>
        </p:txBody>
      </p:sp>
      <p:sp>
        <p:nvSpPr>
          <p:cNvPr id="40" name="Text 38"/>
          <p:cNvSpPr/>
          <p:nvPr/>
        </p:nvSpPr>
        <p:spPr>
          <a:xfrm>
            <a:off x="274320" y="3200400"/>
            <a:ext cx="411480" cy="457200"/>
          </a:xfrm>
          <a:prstGeom prst="rect">
            <a:avLst/>
          </a:prstGeom>
          <a:noFill/>
          <a:ln/>
        </p:spPr>
        <p:txBody>
          <a:bodyPr wrap="square" rtlCol="0" anchor="ctr"/>
          <a:lstStyle/>
          <a:p>
            <a:pPr marL="0" indent="0" algn="ctr">
              <a:buNone/>
            </a:pPr>
            <a:r>
              <a:rPr lang="en-US" sz="900" b="1" dirty="0">
                <a:solidFill>
                  <a:srgbClr val="028090"/>
                </a:solidFill>
              </a:rPr>
              <a:t>Fri</a:t>
            </a:r>
            <a:endParaRPr lang="en-US" sz="900" dirty="0"/>
          </a:p>
        </p:txBody>
      </p:sp>
      <p:sp>
        <p:nvSpPr>
          <p:cNvPr id="41" name="Text 39"/>
          <p:cNvSpPr/>
          <p:nvPr/>
        </p:nvSpPr>
        <p:spPr>
          <a:xfrm>
            <a:off x="685800" y="3218688"/>
            <a:ext cx="1371600" cy="420624"/>
          </a:xfrm>
          <a:prstGeom prst="rect">
            <a:avLst/>
          </a:prstGeom>
          <a:noFill/>
          <a:ln/>
        </p:spPr>
        <p:txBody>
          <a:bodyPr wrap="square" rtlCol="0" anchor="ctr"/>
          <a:lstStyle/>
          <a:p>
            <a:pPr marL="0" indent="0">
              <a:buNone/>
            </a:pPr>
            <a:r>
              <a:rPr lang="en-US" sz="850" dirty="0">
                <a:solidFill>
                  <a:srgbClr val="2C5F6A"/>
                </a:solidFill>
              </a:rPr>
              <a:t>Chia pudding + coconut milk</a:t>
            </a:r>
            <a:endParaRPr lang="en-US" sz="850" dirty="0"/>
          </a:p>
        </p:txBody>
      </p:sp>
      <p:sp>
        <p:nvSpPr>
          <p:cNvPr id="42" name="Text 40"/>
          <p:cNvSpPr/>
          <p:nvPr/>
        </p:nvSpPr>
        <p:spPr>
          <a:xfrm>
            <a:off x="2057400" y="3218688"/>
            <a:ext cx="1325880" cy="420624"/>
          </a:xfrm>
          <a:prstGeom prst="rect">
            <a:avLst/>
          </a:prstGeom>
          <a:noFill/>
          <a:ln/>
        </p:spPr>
        <p:txBody>
          <a:bodyPr wrap="square" rtlCol="0" anchor="ctr"/>
          <a:lstStyle/>
          <a:p>
            <a:pPr marL="0" indent="0">
              <a:buNone/>
            </a:pPr>
            <a:r>
              <a:rPr lang="en-US" sz="850" dirty="0">
                <a:solidFill>
                  <a:srgbClr val="2C5F6A"/>
                </a:solidFill>
              </a:rPr>
              <a:t>Chicken teriyaki + broccoli</a:t>
            </a:r>
            <a:endParaRPr lang="en-US" sz="850" dirty="0"/>
          </a:p>
        </p:txBody>
      </p:sp>
      <p:sp>
        <p:nvSpPr>
          <p:cNvPr id="43" name="Text 41"/>
          <p:cNvSpPr/>
          <p:nvPr/>
        </p:nvSpPr>
        <p:spPr>
          <a:xfrm>
            <a:off x="3383280" y="3218688"/>
            <a:ext cx="1325880" cy="420624"/>
          </a:xfrm>
          <a:prstGeom prst="rect">
            <a:avLst/>
          </a:prstGeom>
          <a:noFill/>
          <a:ln/>
        </p:spPr>
        <p:txBody>
          <a:bodyPr wrap="square" rtlCol="0" anchor="ctr"/>
          <a:lstStyle/>
          <a:p>
            <a:pPr marL="0" indent="0">
              <a:buNone/>
            </a:pPr>
            <a:r>
              <a:rPr lang="en-US" sz="850" dirty="0">
                <a:solidFill>
                  <a:srgbClr val="2C5F6A"/>
                </a:solidFill>
              </a:rPr>
              <a:t>Lentil curry + quinoa</a:t>
            </a:r>
            <a:endParaRPr lang="en-US" sz="850" dirty="0"/>
          </a:p>
        </p:txBody>
      </p:sp>
      <p:sp>
        <p:nvSpPr>
          <p:cNvPr id="44" name="Text 42"/>
          <p:cNvSpPr/>
          <p:nvPr/>
        </p:nvSpPr>
        <p:spPr>
          <a:xfrm>
            <a:off x="4709160" y="3218688"/>
            <a:ext cx="749808" cy="420624"/>
          </a:xfrm>
          <a:prstGeom prst="rect">
            <a:avLst/>
          </a:prstGeom>
          <a:noFill/>
          <a:ln/>
        </p:spPr>
        <p:txBody>
          <a:bodyPr wrap="square" rtlCol="0" anchor="ctr"/>
          <a:lstStyle/>
          <a:p>
            <a:pPr marL="0" indent="0">
              <a:buNone/>
            </a:pPr>
            <a:r>
              <a:rPr lang="en-US" sz="850" dirty="0">
                <a:solidFill>
                  <a:srgbClr val="2C5F6A"/>
                </a:solidFill>
              </a:rPr>
              <a:t>Rice cakes + PB</a:t>
            </a:r>
            <a:endParaRPr lang="en-US" sz="850" dirty="0"/>
          </a:p>
        </p:txBody>
      </p:sp>
      <p:sp>
        <p:nvSpPr>
          <p:cNvPr id="45" name="Shape 43"/>
          <p:cNvSpPr/>
          <p:nvPr/>
        </p:nvSpPr>
        <p:spPr>
          <a:xfrm>
            <a:off x="274320" y="3675888"/>
            <a:ext cx="5166360" cy="457200"/>
          </a:xfrm>
          <a:prstGeom prst="rect">
            <a:avLst/>
          </a:prstGeom>
          <a:solidFill>
            <a:srgbClr val="FFFFFF"/>
          </a:solidFill>
          <a:ln/>
        </p:spPr>
        <p:txBody>
          <a:bodyPr/>
          <a:lstStyle/>
          <a:p>
            <a:endParaRPr lang="en-US"/>
          </a:p>
        </p:txBody>
      </p:sp>
      <p:sp>
        <p:nvSpPr>
          <p:cNvPr id="46" name="Text 44"/>
          <p:cNvSpPr/>
          <p:nvPr/>
        </p:nvSpPr>
        <p:spPr>
          <a:xfrm>
            <a:off x="274320" y="3675888"/>
            <a:ext cx="411480" cy="457200"/>
          </a:xfrm>
          <a:prstGeom prst="rect">
            <a:avLst/>
          </a:prstGeom>
          <a:noFill/>
          <a:ln/>
        </p:spPr>
        <p:txBody>
          <a:bodyPr wrap="square" rtlCol="0" anchor="ctr"/>
          <a:lstStyle/>
          <a:p>
            <a:pPr marL="0" indent="0" algn="ctr">
              <a:buNone/>
            </a:pPr>
            <a:r>
              <a:rPr lang="en-US" sz="900" b="1" dirty="0">
                <a:solidFill>
                  <a:srgbClr val="028090"/>
                </a:solidFill>
              </a:rPr>
              <a:t>Sat</a:t>
            </a:r>
            <a:endParaRPr lang="en-US" sz="900" dirty="0"/>
          </a:p>
        </p:txBody>
      </p:sp>
      <p:sp>
        <p:nvSpPr>
          <p:cNvPr id="47" name="Text 45"/>
          <p:cNvSpPr/>
          <p:nvPr/>
        </p:nvSpPr>
        <p:spPr>
          <a:xfrm>
            <a:off x="685800" y="3694176"/>
            <a:ext cx="1371600" cy="420624"/>
          </a:xfrm>
          <a:prstGeom prst="rect">
            <a:avLst/>
          </a:prstGeom>
          <a:noFill/>
          <a:ln/>
        </p:spPr>
        <p:txBody>
          <a:bodyPr wrap="square" rtlCol="0" anchor="ctr"/>
          <a:lstStyle/>
          <a:p>
            <a:pPr marL="0" indent="0">
              <a:buNone/>
            </a:pPr>
            <a:r>
              <a:rPr lang="en-US" sz="850" dirty="0">
                <a:solidFill>
                  <a:srgbClr val="2C5F6A"/>
                </a:solidFill>
              </a:rPr>
              <a:t>Veggie omelette + toast</a:t>
            </a:r>
            <a:endParaRPr lang="en-US" sz="850" dirty="0"/>
          </a:p>
        </p:txBody>
      </p:sp>
      <p:sp>
        <p:nvSpPr>
          <p:cNvPr id="48" name="Text 46"/>
          <p:cNvSpPr/>
          <p:nvPr/>
        </p:nvSpPr>
        <p:spPr>
          <a:xfrm>
            <a:off x="2057400" y="3694176"/>
            <a:ext cx="1325880" cy="420624"/>
          </a:xfrm>
          <a:prstGeom prst="rect">
            <a:avLst/>
          </a:prstGeom>
          <a:noFill/>
          <a:ln/>
        </p:spPr>
        <p:txBody>
          <a:bodyPr wrap="square" rtlCol="0" anchor="ctr"/>
          <a:lstStyle/>
          <a:p>
            <a:pPr marL="0" indent="0">
              <a:buNone/>
            </a:pPr>
            <a:r>
              <a:rPr lang="en-US" sz="850" dirty="0">
                <a:solidFill>
                  <a:srgbClr val="2C5F6A"/>
                </a:solidFill>
              </a:rPr>
              <a:t>Pork bulgogi + noodles</a:t>
            </a:r>
            <a:endParaRPr lang="en-US" sz="850" dirty="0"/>
          </a:p>
        </p:txBody>
      </p:sp>
      <p:sp>
        <p:nvSpPr>
          <p:cNvPr id="49" name="Text 47"/>
          <p:cNvSpPr/>
          <p:nvPr/>
        </p:nvSpPr>
        <p:spPr>
          <a:xfrm>
            <a:off x="3383280" y="3694176"/>
            <a:ext cx="1325880" cy="420624"/>
          </a:xfrm>
          <a:prstGeom prst="rect">
            <a:avLst/>
          </a:prstGeom>
          <a:noFill/>
          <a:ln/>
        </p:spPr>
        <p:txBody>
          <a:bodyPr wrap="square" rtlCol="0" anchor="ctr"/>
          <a:lstStyle/>
          <a:p>
            <a:pPr marL="0" indent="0">
              <a:buNone/>
            </a:pPr>
            <a:r>
              <a:rPr lang="en-US" sz="850" dirty="0">
                <a:solidFill>
                  <a:srgbClr val="2C5F6A"/>
                </a:solidFill>
              </a:rPr>
              <a:t>Grilled chicken + quinoa</a:t>
            </a:r>
            <a:endParaRPr lang="en-US" sz="850" dirty="0"/>
          </a:p>
        </p:txBody>
      </p:sp>
      <p:sp>
        <p:nvSpPr>
          <p:cNvPr id="50" name="Text 48"/>
          <p:cNvSpPr/>
          <p:nvPr/>
        </p:nvSpPr>
        <p:spPr>
          <a:xfrm>
            <a:off x="4709160" y="3694176"/>
            <a:ext cx="749808" cy="420624"/>
          </a:xfrm>
          <a:prstGeom prst="rect">
            <a:avLst/>
          </a:prstGeom>
          <a:noFill/>
          <a:ln/>
        </p:spPr>
        <p:txBody>
          <a:bodyPr wrap="square" rtlCol="0" anchor="ctr"/>
          <a:lstStyle/>
          <a:p>
            <a:pPr marL="0" indent="0">
              <a:buNone/>
            </a:pPr>
            <a:r>
              <a:rPr lang="en-US" sz="850" dirty="0">
                <a:solidFill>
                  <a:srgbClr val="2C5F6A"/>
                </a:solidFill>
              </a:rPr>
              <a:t>Protein bar</a:t>
            </a:r>
            <a:endParaRPr lang="en-US" sz="850" dirty="0"/>
          </a:p>
        </p:txBody>
      </p:sp>
      <p:sp>
        <p:nvSpPr>
          <p:cNvPr id="51" name="Shape 49"/>
          <p:cNvSpPr/>
          <p:nvPr/>
        </p:nvSpPr>
        <p:spPr>
          <a:xfrm>
            <a:off x="274320" y="4151376"/>
            <a:ext cx="5166360" cy="457200"/>
          </a:xfrm>
          <a:prstGeom prst="rect">
            <a:avLst/>
          </a:prstGeom>
          <a:solidFill>
            <a:srgbClr val="F0F7F8"/>
          </a:solidFill>
          <a:ln/>
        </p:spPr>
        <p:txBody>
          <a:bodyPr/>
          <a:lstStyle/>
          <a:p>
            <a:endParaRPr lang="en-US"/>
          </a:p>
        </p:txBody>
      </p:sp>
      <p:sp>
        <p:nvSpPr>
          <p:cNvPr id="52" name="Text 50"/>
          <p:cNvSpPr/>
          <p:nvPr/>
        </p:nvSpPr>
        <p:spPr>
          <a:xfrm>
            <a:off x="274320" y="4151376"/>
            <a:ext cx="411480" cy="457200"/>
          </a:xfrm>
          <a:prstGeom prst="rect">
            <a:avLst/>
          </a:prstGeom>
          <a:noFill/>
          <a:ln/>
        </p:spPr>
        <p:txBody>
          <a:bodyPr wrap="square" rtlCol="0" anchor="ctr"/>
          <a:lstStyle/>
          <a:p>
            <a:pPr marL="0" indent="0" algn="ctr">
              <a:buNone/>
            </a:pPr>
            <a:r>
              <a:rPr lang="en-US" sz="900" b="1" dirty="0">
                <a:solidFill>
                  <a:srgbClr val="028090"/>
                </a:solidFill>
              </a:rPr>
              <a:t>Sun</a:t>
            </a:r>
            <a:endParaRPr lang="en-US" sz="900" dirty="0"/>
          </a:p>
        </p:txBody>
      </p:sp>
      <p:sp>
        <p:nvSpPr>
          <p:cNvPr id="53" name="Text 51"/>
          <p:cNvSpPr/>
          <p:nvPr/>
        </p:nvSpPr>
        <p:spPr>
          <a:xfrm>
            <a:off x="685800" y="4169664"/>
            <a:ext cx="1371600" cy="420624"/>
          </a:xfrm>
          <a:prstGeom prst="rect">
            <a:avLst/>
          </a:prstGeom>
          <a:noFill/>
          <a:ln/>
        </p:spPr>
        <p:txBody>
          <a:bodyPr wrap="square" rtlCol="0" anchor="ctr"/>
          <a:lstStyle/>
          <a:p>
            <a:pPr marL="0" indent="0">
              <a:buNone/>
            </a:pPr>
            <a:r>
              <a:rPr lang="en-US" sz="850" dirty="0">
                <a:solidFill>
                  <a:srgbClr val="2C5F6A"/>
                </a:solidFill>
              </a:rPr>
              <a:t>Congee + poached egg</a:t>
            </a:r>
            <a:endParaRPr lang="en-US" sz="850" dirty="0"/>
          </a:p>
        </p:txBody>
      </p:sp>
      <p:sp>
        <p:nvSpPr>
          <p:cNvPr id="54" name="Text 52"/>
          <p:cNvSpPr/>
          <p:nvPr/>
        </p:nvSpPr>
        <p:spPr>
          <a:xfrm>
            <a:off x="2057400" y="4169664"/>
            <a:ext cx="1325880" cy="420624"/>
          </a:xfrm>
          <a:prstGeom prst="rect">
            <a:avLst/>
          </a:prstGeom>
          <a:noFill/>
          <a:ln/>
        </p:spPr>
        <p:txBody>
          <a:bodyPr wrap="square" rtlCol="0" anchor="ctr"/>
          <a:lstStyle/>
          <a:p>
            <a:pPr marL="0" indent="0">
              <a:buNone/>
            </a:pPr>
            <a:r>
              <a:rPr lang="en-US" sz="850" dirty="0">
                <a:solidFill>
                  <a:srgbClr val="2C5F6A"/>
                </a:solidFill>
              </a:rPr>
              <a:t>Sushi rolls + avocado</a:t>
            </a:r>
            <a:endParaRPr lang="en-US" sz="850" dirty="0"/>
          </a:p>
        </p:txBody>
      </p:sp>
      <p:sp>
        <p:nvSpPr>
          <p:cNvPr id="55" name="Text 53"/>
          <p:cNvSpPr/>
          <p:nvPr/>
        </p:nvSpPr>
        <p:spPr>
          <a:xfrm>
            <a:off x="3383280" y="4169664"/>
            <a:ext cx="1325880" cy="420624"/>
          </a:xfrm>
          <a:prstGeom prst="rect">
            <a:avLst/>
          </a:prstGeom>
          <a:noFill/>
          <a:ln/>
        </p:spPr>
        <p:txBody>
          <a:bodyPr wrap="square" rtlCol="0" anchor="ctr"/>
          <a:lstStyle/>
          <a:p>
            <a:pPr marL="0" indent="0">
              <a:buNone/>
            </a:pPr>
            <a:r>
              <a:rPr lang="en-US" sz="850" dirty="0">
                <a:solidFill>
                  <a:srgbClr val="2C5F6A"/>
                </a:solidFill>
              </a:rPr>
              <a:t>Miso cod + brown rice</a:t>
            </a:r>
            <a:endParaRPr lang="en-US" sz="850" dirty="0"/>
          </a:p>
        </p:txBody>
      </p:sp>
      <p:sp>
        <p:nvSpPr>
          <p:cNvPr id="56" name="Text 54"/>
          <p:cNvSpPr/>
          <p:nvPr/>
        </p:nvSpPr>
        <p:spPr>
          <a:xfrm>
            <a:off x="4709160" y="4169664"/>
            <a:ext cx="749808" cy="420624"/>
          </a:xfrm>
          <a:prstGeom prst="rect">
            <a:avLst/>
          </a:prstGeom>
          <a:noFill/>
          <a:ln/>
        </p:spPr>
        <p:txBody>
          <a:bodyPr wrap="square" rtlCol="0" anchor="ctr"/>
          <a:lstStyle/>
          <a:p>
            <a:pPr marL="0" indent="0">
              <a:buNone/>
            </a:pPr>
            <a:r>
              <a:rPr lang="en-US" sz="850" dirty="0">
                <a:solidFill>
                  <a:srgbClr val="2C5F6A"/>
                </a:solidFill>
              </a:rPr>
              <a:t>Hummus + carrots</a:t>
            </a:r>
            <a:endParaRPr lang="en-US" sz="850" dirty="0"/>
          </a:p>
        </p:txBody>
      </p:sp>
      <p:sp>
        <p:nvSpPr>
          <p:cNvPr id="57" name="Text 55"/>
          <p:cNvSpPr/>
          <p:nvPr/>
        </p:nvSpPr>
        <p:spPr>
          <a:xfrm>
            <a:off x="5577840" y="749808"/>
            <a:ext cx="3337560" cy="274320"/>
          </a:xfrm>
          <a:prstGeom prst="rect">
            <a:avLst/>
          </a:prstGeom>
          <a:noFill/>
          <a:ln/>
        </p:spPr>
        <p:txBody>
          <a:bodyPr wrap="square" rtlCol="0" anchor="ctr"/>
          <a:lstStyle/>
          <a:p>
            <a:pPr marL="0" indent="0">
              <a:buNone/>
            </a:pPr>
            <a:r>
              <a:rPr lang="en-US" sz="1100" b="1" dirty="0">
                <a:solidFill>
                  <a:srgbClr val="028090"/>
                </a:solidFill>
              </a:rPr>
              <a:t>Grocery list  (auto-generated from meal plan)</a:t>
            </a:r>
            <a:endParaRPr lang="en-US" sz="1100" dirty="0"/>
          </a:p>
        </p:txBody>
      </p:sp>
      <p:sp>
        <p:nvSpPr>
          <p:cNvPr id="58" name="Shape 56"/>
          <p:cNvSpPr/>
          <p:nvPr/>
        </p:nvSpPr>
        <p:spPr>
          <a:xfrm>
            <a:off x="5577840" y="1042416"/>
            <a:ext cx="3337560" cy="237744"/>
          </a:xfrm>
          <a:prstGeom prst="rect">
            <a:avLst/>
          </a:prstGeom>
          <a:solidFill>
            <a:srgbClr val="02C39A"/>
          </a:solidFill>
          <a:ln/>
        </p:spPr>
        <p:txBody>
          <a:bodyPr/>
          <a:lstStyle/>
          <a:p>
            <a:endParaRPr lang="en-US"/>
          </a:p>
        </p:txBody>
      </p:sp>
      <p:sp>
        <p:nvSpPr>
          <p:cNvPr id="59" name="Text 57"/>
          <p:cNvSpPr/>
          <p:nvPr/>
        </p:nvSpPr>
        <p:spPr>
          <a:xfrm>
            <a:off x="5623560" y="1042416"/>
            <a:ext cx="3246120" cy="237744"/>
          </a:xfrm>
          <a:prstGeom prst="rect">
            <a:avLst/>
          </a:prstGeom>
          <a:noFill/>
          <a:ln/>
        </p:spPr>
        <p:txBody>
          <a:bodyPr wrap="square" rtlCol="0" anchor="ctr"/>
          <a:lstStyle/>
          <a:p>
            <a:pPr marL="0" indent="0">
              <a:buNone/>
            </a:pPr>
            <a:r>
              <a:rPr lang="en-US" sz="1000" b="1" dirty="0">
                <a:solidFill>
                  <a:srgbClr val="FFFFFF"/>
                </a:solidFill>
              </a:rPr>
              <a:t>Produce</a:t>
            </a:r>
            <a:endParaRPr lang="en-US" sz="1000" dirty="0"/>
          </a:p>
        </p:txBody>
      </p:sp>
      <p:sp>
        <p:nvSpPr>
          <p:cNvPr id="60" name="Shape 58"/>
          <p:cNvSpPr/>
          <p:nvPr/>
        </p:nvSpPr>
        <p:spPr>
          <a:xfrm>
            <a:off x="5623560" y="1344168"/>
            <a:ext cx="91440" cy="91440"/>
          </a:xfrm>
          <a:prstGeom prst="ellipse">
            <a:avLst/>
          </a:prstGeom>
          <a:solidFill>
            <a:srgbClr val="02C39A"/>
          </a:solidFill>
          <a:ln/>
        </p:spPr>
        <p:txBody>
          <a:bodyPr/>
          <a:lstStyle/>
          <a:p>
            <a:endParaRPr lang="en-US"/>
          </a:p>
        </p:txBody>
      </p:sp>
      <p:sp>
        <p:nvSpPr>
          <p:cNvPr id="61" name="Text 59"/>
          <p:cNvSpPr/>
          <p:nvPr/>
        </p:nvSpPr>
        <p:spPr>
          <a:xfrm>
            <a:off x="5760720" y="1280160"/>
            <a:ext cx="1463040" cy="219456"/>
          </a:xfrm>
          <a:prstGeom prst="rect">
            <a:avLst/>
          </a:prstGeom>
          <a:noFill/>
          <a:ln/>
        </p:spPr>
        <p:txBody>
          <a:bodyPr wrap="square" rtlCol="0" anchor="ctr"/>
          <a:lstStyle/>
          <a:p>
            <a:pPr marL="0" indent="0">
              <a:buNone/>
            </a:pPr>
            <a:r>
              <a:rPr lang="en-US" sz="900" dirty="0">
                <a:solidFill>
                  <a:srgbClr val="2C5F6A"/>
                </a:solidFill>
              </a:rPr>
              <a:t>Spinach (1 bag)</a:t>
            </a:r>
            <a:endParaRPr lang="en-US" sz="900" dirty="0"/>
          </a:p>
        </p:txBody>
      </p:sp>
      <p:sp>
        <p:nvSpPr>
          <p:cNvPr id="62" name="Shape 60"/>
          <p:cNvSpPr/>
          <p:nvPr/>
        </p:nvSpPr>
        <p:spPr>
          <a:xfrm>
            <a:off x="7296912" y="1344168"/>
            <a:ext cx="91440" cy="91440"/>
          </a:xfrm>
          <a:prstGeom prst="ellipse">
            <a:avLst/>
          </a:prstGeom>
          <a:solidFill>
            <a:srgbClr val="02C39A"/>
          </a:solidFill>
          <a:ln/>
        </p:spPr>
        <p:txBody>
          <a:bodyPr/>
          <a:lstStyle/>
          <a:p>
            <a:endParaRPr lang="en-US"/>
          </a:p>
        </p:txBody>
      </p:sp>
      <p:sp>
        <p:nvSpPr>
          <p:cNvPr id="63" name="Text 61"/>
          <p:cNvSpPr/>
          <p:nvPr/>
        </p:nvSpPr>
        <p:spPr>
          <a:xfrm>
            <a:off x="7434072" y="1280160"/>
            <a:ext cx="1463040" cy="219456"/>
          </a:xfrm>
          <a:prstGeom prst="rect">
            <a:avLst/>
          </a:prstGeom>
          <a:noFill/>
          <a:ln/>
        </p:spPr>
        <p:txBody>
          <a:bodyPr wrap="square" rtlCol="0" anchor="ctr"/>
          <a:lstStyle/>
          <a:p>
            <a:pPr marL="0" indent="0">
              <a:buNone/>
            </a:pPr>
            <a:r>
              <a:rPr lang="en-US" sz="900" dirty="0">
                <a:solidFill>
                  <a:srgbClr val="2C5F6A"/>
                </a:solidFill>
              </a:rPr>
              <a:t>Broccoli (2 heads)</a:t>
            </a:r>
            <a:endParaRPr lang="en-US" sz="900" dirty="0"/>
          </a:p>
        </p:txBody>
      </p:sp>
      <p:sp>
        <p:nvSpPr>
          <p:cNvPr id="64" name="Shape 62"/>
          <p:cNvSpPr/>
          <p:nvPr/>
        </p:nvSpPr>
        <p:spPr>
          <a:xfrm>
            <a:off x="5623560" y="1563624"/>
            <a:ext cx="91440" cy="91440"/>
          </a:xfrm>
          <a:prstGeom prst="ellipse">
            <a:avLst/>
          </a:prstGeom>
          <a:solidFill>
            <a:srgbClr val="02C39A"/>
          </a:solidFill>
          <a:ln/>
        </p:spPr>
        <p:txBody>
          <a:bodyPr/>
          <a:lstStyle/>
          <a:p>
            <a:endParaRPr lang="en-US"/>
          </a:p>
        </p:txBody>
      </p:sp>
      <p:sp>
        <p:nvSpPr>
          <p:cNvPr id="65" name="Text 63"/>
          <p:cNvSpPr/>
          <p:nvPr/>
        </p:nvSpPr>
        <p:spPr>
          <a:xfrm>
            <a:off x="5760720" y="1499616"/>
            <a:ext cx="1463040" cy="219456"/>
          </a:xfrm>
          <a:prstGeom prst="rect">
            <a:avLst/>
          </a:prstGeom>
          <a:noFill/>
          <a:ln/>
        </p:spPr>
        <p:txBody>
          <a:bodyPr wrap="square" rtlCol="0" anchor="ctr"/>
          <a:lstStyle/>
          <a:p>
            <a:pPr marL="0" indent="0">
              <a:buNone/>
            </a:pPr>
            <a:r>
              <a:rPr lang="en-US" sz="900" dirty="0">
                <a:solidFill>
                  <a:srgbClr val="2C5F6A"/>
                </a:solidFill>
              </a:rPr>
              <a:t>Bok choy (4 heads)</a:t>
            </a:r>
            <a:endParaRPr lang="en-US" sz="900" dirty="0"/>
          </a:p>
        </p:txBody>
      </p:sp>
      <p:sp>
        <p:nvSpPr>
          <p:cNvPr id="66" name="Shape 64"/>
          <p:cNvSpPr/>
          <p:nvPr/>
        </p:nvSpPr>
        <p:spPr>
          <a:xfrm>
            <a:off x="7296912" y="1563624"/>
            <a:ext cx="91440" cy="91440"/>
          </a:xfrm>
          <a:prstGeom prst="ellipse">
            <a:avLst/>
          </a:prstGeom>
          <a:solidFill>
            <a:srgbClr val="02C39A"/>
          </a:solidFill>
          <a:ln/>
        </p:spPr>
        <p:txBody>
          <a:bodyPr/>
          <a:lstStyle/>
          <a:p>
            <a:endParaRPr lang="en-US"/>
          </a:p>
        </p:txBody>
      </p:sp>
      <p:sp>
        <p:nvSpPr>
          <p:cNvPr id="67" name="Text 65"/>
          <p:cNvSpPr/>
          <p:nvPr/>
        </p:nvSpPr>
        <p:spPr>
          <a:xfrm>
            <a:off x="7434072" y="1499616"/>
            <a:ext cx="1463040" cy="219456"/>
          </a:xfrm>
          <a:prstGeom prst="rect">
            <a:avLst/>
          </a:prstGeom>
          <a:noFill/>
          <a:ln/>
        </p:spPr>
        <p:txBody>
          <a:bodyPr wrap="square" rtlCol="0" anchor="ctr"/>
          <a:lstStyle/>
          <a:p>
            <a:pPr marL="0" indent="0">
              <a:buNone/>
            </a:pPr>
            <a:r>
              <a:rPr lang="en-US" sz="900" dirty="0">
                <a:solidFill>
                  <a:srgbClr val="2C5F6A"/>
                </a:solidFill>
              </a:rPr>
              <a:t>Banana (4)</a:t>
            </a:r>
            <a:endParaRPr lang="en-US" sz="900" dirty="0"/>
          </a:p>
        </p:txBody>
      </p:sp>
      <p:sp>
        <p:nvSpPr>
          <p:cNvPr id="68" name="Shape 66"/>
          <p:cNvSpPr/>
          <p:nvPr/>
        </p:nvSpPr>
        <p:spPr>
          <a:xfrm>
            <a:off x="5623560" y="1783080"/>
            <a:ext cx="91440" cy="91440"/>
          </a:xfrm>
          <a:prstGeom prst="ellipse">
            <a:avLst/>
          </a:prstGeom>
          <a:solidFill>
            <a:srgbClr val="02C39A"/>
          </a:solidFill>
          <a:ln/>
        </p:spPr>
        <p:txBody>
          <a:bodyPr/>
          <a:lstStyle/>
          <a:p>
            <a:endParaRPr lang="en-US"/>
          </a:p>
        </p:txBody>
      </p:sp>
      <p:sp>
        <p:nvSpPr>
          <p:cNvPr id="69" name="Text 67"/>
          <p:cNvSpPr/>
          <p:nvPr/>
        </p:nvSpPr>
        <p:spPr>
          <a:xfrm>
            <a:off x="5760720" y="1719072"/>
            <a:ext cx="1463040" cy="219456"/>
          </a:xfrm>
          <a:prstGeom prst="rect">
            <a:avLst/>
          </a:prstGeom>
          <a:noFill/>
          <a:ln/>
        </p:spPr>
        <p:txBody>
          <a:bodyPr wrap="square" rtlCol="0" anchor="ctr"/>
          <a:lstStyle/>
          <a:p>
            <a:pPr marL="0" indent="0">
              <a:buNone/>
            </a:pPr>
            <a:r>
              <a:rPr lang="en-US" sz="900" dirty="0">
                <a:solidFill>
                  <a:srgbClr val="2C5F6A"/>
                </a:solidFill>
              </a:rPr>
              <a:t>Avocado (2)</a:t>
            </a:r>
            <a:endParaRPr lang="en-US" sz="900" dirty="0"/>
          </a:p>
        </p:txBody>
      </p:sp>
      <p:sp>
        <p:nvSpPr>
          <p:cNvPr id="70" name="Shape 68"/>
          <p:cNvSpPr/>
          <p:nvPr/>
        </p:nvSpPr>
        <p:spPr>
          <a:xfrm>
            <a:off x="7296912" y="1783080"/>
            <a:ext cx="91440" cy="91440"/>
          </a:xfrm>
          <a:prstGeom prst="ellipse">
            <a:avLst/>
          </a:prstGeom>
          <a:solidFill>
            <a:srgbClr val="02C39A"/>
          </a:solidFill>
          <a:ln/>
        </p:spPr>
        <p:txBody>
          <a:bodyPr/>
          <a:lstStyle/>
          <a:p>
            <a:endParaRPr lang="en-US"/>
          </a:p>
        </p:txBody>
      </p:sp>
      <p:sp>
        <p:nvSpPr>
          <p:cNvPr id="71" name="Text 69"/>
          <p:cNvSpPr/>
          <p:nvPr/>
        </p:nvSpPr>
        <p:spPr>
          <a:xfrm>
            <a:off x="7434072" y="1719072"/>
            <a:ext cx="1463040" cy="219456"/>
          </a:xfrm>
          <a:prstGeom prst="rect">
            <a:avLst/>
          </a:prstGeom>
          <a:noFill/>
          <a:ln/>
        </p:spPr>
        <p:txBody>
          <a:bodyPr wrap="square" rtlCol="0" anchor="ctr"/>
          <a:lstStyle/>
          <a:p>
            <a:pPr marL="0" indent="0">
              <a:buNone/>
            </a:pPr>
            <a:r>
              <a:rPr lang="en-US" sz="900" dirty="0">
                <a:solidFill>
                  <a:srgbClr val="2C5F6A"/>
                </a:solidFill>
              </a:rPr>
              <a:t>Carrots (2)</a:t>
            </a:r>
            <a:endParaRPr lang="en-US" sz="900" dirty="0"/>
          </a:p>
        </p:txBody>
      </p:sp>
      <p:sp>
        <p:nvSpPr>
          <p:cNvPr id="72" name="Shape 70"/>
          <p:cNvSpPr/>
          <p:nvPr/>
        </p:nvSpPr>
        <p:spPr>
          <a:xfrm>
            <a:off x="5577840" y="2029968"/>
            <a:ext cx="3337560" cy="237744"/>
          </a:xfrm>
          <a:prstGeom prst="rect">
            <a:avLst/>
          </a:prstGeom>
          <a:solidFill>
            <a:srgbClr val="028090"/>
          </a:solidFill>
          <a:ln/>
        </p:spPr>
        <p:txBody>
          <a:bodyPr/>
          <a:lstStyle/>
          <a:p>
            <a:endParaRPr lang="en-US"/>
          </a:p>
        </p:txBody>
      </p:sp>
      <p:sp>
        <p:nvSpPr>
          <p:cNvPr id="73" name="Text 71"/>
          <p:cNvSpPr/>
          <p:nvPr/>
        </p:nvSpPr>
        <p:spPr>
          <a:xfrm>
            <a:off x="5623560" y="2029968"/>
            <a:ext cx="3246120" cy="237744"/>
          </a:xfrm>
          <a:prstGeom prst="rect">
            <a:avLst/>
          </a:prstGeom>
          <a:noFill/>
          <a:ln/>
        </p:spPr>
        <p:txBody>
          <a:bodyPr wrap="square" rtlCol="0" anchor="ctr"/>
          <a:lstStyle/>
          <a:p>
            <a:pPr marL="0" indent="0">
              <a:buNone/>
            </a:pPr>
            <a:r>
              <a:rPr lang="en-US" sz="1000" b="1" dirty="0">
                <a:solidFill>
                  <a:srgbClr val="FFFFFF"/>
                </a:solidFill>
              </a:rPr>
              <a:t>Protein</a:t>
            </a:r>
            <a:endParaRPr lang="en-US" sz="1000" dirty="0"/>
          </a:p>
        </p:txBody>
      </p:sp>
      <p:sp>
        <p:nvSpPr>
          <p:cNvPr id="74" name="Shape 72"/>
          <p:cNvSpPr/>
          <p:nvPr/>
        </p:nvSpPr>
        <p:spPr>
          <a:xfrm>
            <a:off x="5623560" y="2331720"/>
            <a:ext cx="91440" cy="91440"/>
          </a:xfrm>
          <a:prstGeom prst="ellipse">
            <a:avLst/>
          </a:prstGeom>
          <a:solidFill>
            <a:srgbClr val="028090"/>
          </a:solidFill>
          <a:ln/>
        </p:spPr>
        <p:txBody>
          <a:bodyPr/>
          <a:lstStyle/>
          <a:p>
            <a:endParaRPr lang="en-US"/>
          </a:p>
        </p:txBody>
      </p:sp>
      <p:sp>
        <p:nvSpPr>
          <p:cNvPr id="75" name="Text 73"/>
          <p:cNvSpPr/>
          <p:nvPr/>
        </p:nvSpPr>
        <p:spPr>
          <a:xfrm>
            <a:off x="5760720" y="2267712"/>
            <a:ext cx="1463040" cy="219456"/>
          </a:xfrm>
          <a:prstGeom prst="rect">
            <a:avLst/>
          </a:prstGeom>
          <a:noFill/>
          <a:ln/>
        </p:spPr>
        <p:txBody>
          <a:bodyPr wrap="square" rtlCol="0" anchor="ctr"/>
          <a:lstStyle/>
          <a:p>
            <a:pPr marL="0" indent="0">
              <a:buNone/>
            </a:pPr>
            <a:r>
              <a:rPr lang="en-US" sz="900" dirty="0">
                <a:solidFill>
                  <a:srgbClr val="2C5F6A"/>
                </a:solidFill>
              </a:rPr>
              <a:t>Chicken breast (2 lbs)</a:t>
            </a:r>
            <a:endParaRPr lang="en-US" sz="900" dirty="0"/>
          </a:p>
        </p:txBody>
      </p:sp>
      <p:sp>
        <p:nvSpPr>
          <p:cNvPr id="76" name="Shape 74"/>
          <p:cNvSpPr/>
          <p:nvPr/>
        </p:nvSpPr>
        <p:spPr>
          <a:xfrm>
            <a:off x="7296912" y="2331720"/>
            <a:ext cx="91440" cy="91440"/>
          </a:xfrm>
          <a:prstGeom prst="ellipse">
            <a:avLst/>
          </a:prstGeom>
          <a:solidFill>
            <a:srgbClr val="028090"/>
          </a:solidFill>
          <a:ln/>
        </p:spPr>
        <p:txBody>
          <a:bodyPr/>
          <a:lstStyle/>
          <a:p>
            <a:endParaRPr lang="en-US"/>
          </a:p>
        </p:txBody>
      </p:sp>
      <p:sp>
        <p:nvSpPr>
          <p:cNvPr id="77" name="Text 75"/>
          <p:cNvSpPr/>
          <p:nvPr/>
        </p:nvSpPr>
        <p:spPr>
          <a:xfrm>
            <a:off x="7434072" y="2267712"/>
            <a:ext cx="1463040" cy="219456"/>
          </a:xfrm>
          <a:prstGeom prst="rect">
            <a:avLst/>
          </a:prstGeom>
          <a:noFill/>
          <a:ln/>
        </p:spPr>
        <p:txBody>
          <a:bodyPr wrap="square" rtlCol="0" anchor="ctr"/>
          <a:lstStyle/>
          <a:p>
            <a:pPr marL="0" indent="0">
              <a:buNone/>
            </a:pPr>
            <a:r>
              <a:rPr lang="en-US" sz="900" dirty="0">
                <a:solidFill>
                  <a:srgbClr val="2C5F6A"/>
                </a:solidFill>
              </a:rPr>
              <a:t>Beef (1 lb)</a:t>
            </a:r>
            <a:endParaRPr lang="en-US" sz="900" dirty="0"/>
          </a:p>
        </p:txBody>
      </p:sp>
      <p:sp>
        <p:nvSpPr>
          <p:cNvPr id="78" name="Shape 76"/>
          <p:cNvSpPr/>
          <p:nvPr/>
        </p:nvSpPr>
        <p:spPr>
          <a:xfrm>
            <a:off x="5623560" y="2551176"/>
            <a:ext cx="91440" cy="91440"/>
          </a:xfrm>
          <a:prstGeom prst="ellipse">
            <a:avLst/>
          </a:prstGeom>
          <a:solidFill>
            <a:srgbClr val="028090"/>
          </a:solidFill>
          <a:ln/>
        </p:spPr>
        <p:txBody>
          <a:bodyPr/>
          <a:lstStyle/>
          <a:p>
            <a:endParaRPr lang="en-US"/>
          </a:p>
        </p:txBody>
      </p:sp>
      <p:sp>
        <p:nvSpPr>
          <p:cNvPr id="79" name="Text 77"/>
          <p:cNvSpPr/>
          <p:nvPr/>
        </p:nvSpPr>
        <p:spPr>
          <a:xfrm>
            <a:off x="5760720" y="2487168"/>
            <a:ext cx="1463040" cy="219456"/>
          </a:xfrm>
          <a:prstGeom prst="rect">
            <a:avLst/>
          </a:prstGeom>
          <a:noFill/>
          <a:ln/>
        </p:spPr>
        <p:txBody>
          <a:bodyPr wrap="square" rtlCol="0" anchor="ctr"/>
          <a:lstStyle/>
          <a:p>
            <a:pPr marL="0" indent="0">
              <a:buNone/>
            </a:pPr>
            <a:r>
              <a:rPr lang="en-US" sz="900" dirty="0">
                <a:solidFill>
                  <a:srgbClr val="2C5F6A"/>
                </a:solidFill>
              </a:rPr>
              <a:t>Shrimp (1 lb)</a:t>
            </a:r>
            <a:endParaRPr lang="en-US" sz="900" dirty="0"/>
          </a:p>
        </p:txBody>
      </p:sp>
      <p:sp>
        <p:nvSpPr>
          <p:cNvPr id="80" name="Shape 78"/>
          <p:cNvSpPr/>
          <p:nvPr/>
        </p:nvSpPr>
        <p:spPr>
          <a:xfrm>
            <a:off x="7296912" y="2551176"/>
            <a:ext cx="91440" cy="91440"/>
          </a:xfrm>
          <a:prstGeom prst="ellipse">
            <a:avLst/>
          </a:prstGeom>
          <a:solidFill>
            <a:srgbClr val="028090"/>
          </a:solidFill>
          <a:ln/>
        </p:spPr>
        <p:txBody>
          <a:bodyPr/>
          <a:lstStyle/>
          <a:p>
            <a:endParaRPr lang="en-US"/>
          </a:p>
        </p:txBody>
      </p:sp>
      <p:sp>
        <p:nvSpPr>
          <p:cNvPr id="81" name="Text 79"/>
          <p:cNvSpPr/>
          <p:nvPr/>
        </p:nvSpPr>
        <p:spPr>
          <a:xfrm>
            <a:off x="7434072" y="2487168"/>
            <a:ext cx="1463040" cy="219456"/>
          </a:xfrm>
          <a:prstGeom prst="rect">
            <a:avLst/>
          </a:prstGeom>
          <a:noFill/>
          <a:ln/>
        </p:spPr>
        <p:txBody>
          <a:bodyPr wrap="square" rtlCol="0" anchor="ctr"/>
          <a:lstStyle/>
          <a:p>
            <a:pPr marL="0" indent="0">
              <a:buNone/>
            </a:pPr>
            <a:r>
              <a:rPr lang="en-US" sz="900" dirty="0">
                <a:solidFill>
                  <a:srgbClr val="2C5F6A"/>
                </a:solidFill>
              </a:rPr>
              <a:t>Tofu (2 blocks)</a:t>
            </a:r>
            <a:endParaRPr lang="en-US" sz="900" dirty="0"/>
          </a:p>
        </p:txBody>
      </p:sp>
      <p:sp>
        <p:nvSpPr>
          <p:cNvPr id="82" name="Shape 80"/>
          <p:cNvSpPr/>
          <p:nvPr/>
        </p:nvSpPr>
        <p:spPr>
          <a:xfrm>
            <a:off x="5623560" y="2770632"/>
            <a:ext cx="91440" cy="91440"/>
          </a:xfrm>
          <a:prstGeom prst="ellipse">
            <a:avLst/>
          </a:prstGeom>
          <a:solidFill>
            <a:srgbClr val="028090"/>
          </a:solidFill>
          <a:ln/>
        </p:spPr>
        <p:txBody>
          <a:bodyPr/>
          <a:lstStyle/>
          <a:p>
            <a:endParaRPr lang="en-US"/>
          </a:p>
        </p:txBody>
      </p:sp>
      <p:sp>
        <p:nvSpPr>
          <p:cNvPr id="83" name="Text 81"/>
          <p:cNvSpPr/>
          <p:nvPr/>
        </p:nvSpPr>
        <p:spPr>
          <a:xfrm>
            <a:off x="5760720" y="2706624"/>
            <a:ext cx="1463040" cy="219456"/>
          </a:xfrm>
          <a:prstGeom prst="rect">
            <a:avLst/>
          </a:prstGeom>
          <a:noFill/>
          <a:ln/>
        </p:spPr>
        <p:txBody>
          <a:bodyPr wrap="square" rtlCol="0" anchor="ctr"/>
          <a:lstStyle/>
          <a:p>
            <a:pPr marL="0" indent="0">
              <a:buNone/>
            </a:pPr>
            <a:r>
              <a:rPr lang="en-US" sz="900" dirty="0">
                <a:solidFill>
                  <a:srgbClr val="2C5F6A"/>
                </a:solidFill>
              </a:rPr>
              <a:t>Eggs (1 dozen)</a:t>
            </a:r>
            <a:endParaRPr lang="en-US" sz="900" dirty="0"/>
          </a:p>
        </p:txBody>
      </p:sp>
      <p:sp>
        <p:nvSpPr>
          <p:cNvPr id="84" name="Shape 82"/>
          <p:cNvSpPr/>
          <p:nvPr/>
        </p:nvSpPr>
        <p:spPr>
          <a:xfrm>
            <a:off x="7296912" y="2770632"/>
            <a:ext cx="91440" cy="91440"/>
          </a:xfrm>
          <a:prstGeom prst="ellipse">
            <a:avLst/>
          </a:prstGeom>
          <a:solidFill>
            <a:srgbClr val="028090"/>
          </a:solidFill>
          <a:ln/>
        </p:spPr>
        <p:txBody>
          <a:bodyPr/>
          <a:lstStyle/>
          <a:p>
            <a:endParaRPr lang="en-US"/>
          </a:p>
        </p:txBody>
      </p:sp>
      <p:sp>
        <p:nvSpPr>
          <p:cNvPr id="85" name="Text 83"/>
          <p:cNvSpPr/>
          <p:nvPr/>
        </p:nvSpPr>
        <p:spPr>
          <a:xfrm>
            <a:off x="7434072" y="2706624"/>
            <a:ext cx="1463040" cy="219456"/>
          </a:xfrm>
          <a:prstGeom prst="rect">
            <a:avLst/>
          </a:prstGeom>
          <a:noFill/>
          <a:ln/>
        </p:spPr>
        <p:txBody>
          <a:bodyPr wrap="square" rtlCol="0" anchor="ctr"/>
          <a:lstStyle/>
          <a:p>
            <a:pPr marL="0" indent="0">
              <a:buNone/>
            </a:pPr>
            <a:r>
              <a:rPr lang="en-US" sz="900" dirty="0">
                <a:solidFill>
                  <a:srgbClr val="2C5F6A"/>
                </a:solidFill>
              </a:rPr>
              <a:t>Salmon (1 lb)</a:t>
            </a:r>
            <a:endParaRPr lang="en-US" sz="900" dirty="0"/>
          </a:p>
        </p:txBody>
      </p:sp>
      <p:sp>
        <p:nvSpPr>
          <p:cNvPr id="86" name="Shape 84"/>
          <p:cNvSpPr/>
          <p:nvPr/>
        </p:nvSpPr>
        <p:spPr>
          <a:xfrm>
            <a:off x="5577840" y="3017520"/>
            <a:ext cx="3337560" cy="237744"/>
          </a:xfrm>
          <a:prstGeom prst="rect">
            <a:avLst/>
          </a:prstGeom>
          <a:solidFill>
            <a:srgbClr val="1C6E7A"/>
          </a:solidFill>
          <a:ln/>
        </p:spPr>
        <p:txBody>
          <a:bodyPr/>
          <a:lstStyle/>
          <a:p>
            <a:endParaRPr lang="en-US"/>
          </a:p>
        </p:txBody>
      </p:sp>
      <p:sp>
        <p:nvSpPr>
          <p:cNvPr id="87" name="Text 85"/>
          <p:cNvSpPr/>
          <p:nvPr/>
        </p:nvSpPr>
        <p:spPr>
          <a:xfrm>
            <a:off x="5623560" y="3017520"/>
            <a:ext cx="3246120" cy="237744"/>
          </a:xfrm>
          <a:prstGeom prst="rect">
            <a:avLst/>
          </a:prstGeom>
          <a:noFill/>
          <a:ln/>
        </p:spPr>
        <p:txBody>
          <a:bodyPr wrap="square" rtlCol="0" anchor="ctr"/>
          <a:lstStyle/>
          <a:p>
            <a:pPr marL="0" indent="0">
              <a:buNone/>
            </a:pPr>
            <a:r>
              <a:rPr lang="en-US" sz="1000" b="1" dirty="0">
                <a:solidFill>
                  <a:srgbClr val="FFFFFF"/>
                </a:solidFill>
              </a:rPr>
              <a:t>Grains</a:t>
            </a:r>
            <a:endParaRPr lang="en-US" sz="1000" dirty="0"/>
          </a:p>
        </p:txBody>
      </p:sp>
      <p:sp>
        <p:nvSpPr>
          <p:cNvPr id="88" name="Shape 86"/>
          <p:cNvSpPr/>
          <p:nvPr/>
        </p:nvSpPr>
        <p:spPr>
          <a:xfrm>
            <a:off x="5623560" y="3319272"/>
            <a:ext cx="91440" cy="91440"/>
          </a:xfrm>
          <a:prstGeom prst="ellipse">
            <a:avLst/>
          </a:prstGeom>
          <a:solidFill>
            <a:srgbClr val="1C6E7A"/>
          </a:solidFill>
          <a:ln/>
        </p:spPr>
        <p:txBody>
          <a:bodyPr/>
          <a:lstStyle/>
          <a:p>
            <a:endParaRPr lang="en-US"/>
          </a:p>
        </p:txBody>
      </p:sp>
      <p:sp>
        <p:nvSpPr>
          <p:cNvPr id="89" name="Text 87"/>
          <p:cNvSpPr/>
          <p:nvPr/>
        </p:nvSpPr>
        <p:spPr>
          <a:xfrm>
            <a:off x="5760720" y="3255264"/>
            <a:ext cx="1463040" cy="219456"/>
          </a:xfrm>
          <a:prstGeom prst="rect">
            <a:avLst/>
          </a:prstGeom>
          <a:noFill/>
          <a:ln/>
        </p:spPr>
        <p:txBody>
          <a:bodyPr wrap="square" rtlCol="0" anchor="ctr"/>
          <a:lstStyle/>
          <a:p>
            <a:pPr marL="0" indent="0">
              <a:buNone/>
            </a:pPr>
            <a:r>
              <a:rPr lang="en-US" sz="900" dirty="0">
                <a:solidFill>
                  <a:srgbClr val="2C5F6A"/>
                </a:solidFill>
              </a:rPr>
              <a:t>Brown rice (3 cups)</a:t>
            </a:r>
            <a:endParaRPr lang="en-US" sz="900" dirty="0"/>
          </a:p>
        </p:txBody>
      </p:sp>
      <p:sp>
        <p:nvSpPr>
          <p:cNvPr id="90" name="Shape 88"/>
          <p:cNvSpPr/>
          <p:nvPr/>
        </p:nvSpPr>
        <p:spPr>
          <a:xfrm>
            <a:off x="7296912" y="3319272"/>
            <a:ext cx="91440" cy="91440"/>
          </a:xfrm>
          <a:prstGeom prst="ellipse">
            <a:avLst/>
          </a:prstGeom>
          <a:solidFill>
            <a:srgbClr val="1C6E7A"/>
          </a:solidFill>
          <a:ln/>
        </p:spPr>
        <p:txBody>
          <a:bodyPr/>
          <a:lstStyle/>
          <a:p>
            <a:endParaRPr lang="en-US"/>
          </a:p>
        </p:txBody>
      </p:sp>
      <p:sp>
        <p:nvSpPr>
          <p:cNvPr id="91" name="Text 89"/>
          <p:cNvSpPr/>
          <p:nvPr/>
        </p:nvSpPr>
        <p:spPr>
          <a:xfrm>
            <a:off x="7434072" y="3255264"/>
            <a:ext cx="1463040" cy="219456"/>
          </a:xfrm>
          <a:prstGeom prst="rect">
            <a:avLst/>
          </a:prstGeom>
          <a:noFill/>
          <a:ln/>
        </p:spPr>
        <p:txBody>
          <a:bodyPr wrap="square" rtlCol="0" anchor="ctr"/>
          <a:lstStyle/>
          <a:p>
            <a:pPr marL="0" indent="0">
              <a:buNone/>
            </a:pPr>
            <a:r>
              <a:rPr lang="en-US" sz="900" dirty="0">
                <a:solidFill>
                  <a:srgbClr val="2C5F6A"/>
                </a:solidFill>
              </a:rPr>
              <a:t>Quinoa (2 cups)</a:t>
            </a:r>
            <a:endParaRPr lang="en-US" sz="900" dirty="0"/>
          </a:p>
        </p:txBody>
      </p:sp>
      <p:sp>
        <p:nvSpPr>
          <p:cNvPr id="92" name="Shape 90"/>
          <p:cNvSpPr/>
          <p:nvPr/>
        </p:nvSpPr>
        <p:spPr>
          <a:xfrm>
            <a:off x="5623560" y="3538728"/>
            <a:ext cx="91440" cy="91440"/>
          </a:xfrm>
          <a:prstGeom prst="ellipse">
            <a:avLst/>
          </a:prstGeom>
          <a:solidFill>
            <a:srgbClr val="1C6E7A"/>
          </a:solidFill>
          <a:ln/>
        </p:spPr>
        <p:txBody>
          <a:bodyPr/>
          <a:lstStyle/>
          <a:p>
            <a:endParaRPr lang="en-US"/>
          </a:p>
        </p:txBody>
      </p:sp>
      <p:sp>
        <p:nvSpPr>
          <p:cNvPr id="93" name="Text 91"/>
          <p:cNvSpPr/>
          <p:nvPr/>
        </p:nvSpPr>
        <p:spPr>
          <a:xfrm>
            <a:off x="5760720" y="3474720"/>
            <a:ext cx="1463040" cy="219456"/>
          </a:xfrm>
          <a:prstGeom prst="rect">
            <a:avLst/>
          </a:prstGeom>
          <a:noFill/>
          <a:ln/>
        </p:spPr>
        <p:txBody>
          <a:bodyPr wrap="square" rtlCol="0" anchor="ctr"/>
          <a:lstStyle/>
          <a:p>
            <a:pPr marL="0" indent="0">
              <a:buNone/>
            </a:pPr>
            <a:r>
              <a:rPr lang="en-US" sz="900" dirty="0">
                <a:solidFill>
                  <a:srgbClr val="2C5F6A"/>
                </a:solidFill>
              </a:rPr>
              <a:t>Soba noodles (1 pkg)</a:t>
            </a:r>
            <a:endParaRPr lang="en-US" sz="900" dirty="0"/>
          </a:p>
        </p:txBody>
      </p:sp>
      <p:sp>
        <p:nvSpPr>
          <p:cNvPr id="94" name="Shape 92"/>
          <p:cNvSpPr/>
          <p:nvPr/>
        </p:nvSpPr>
        <p:spPr>
          <a:xfrm>
            <a:off x="7296912" y="3538728"/>
            <a:ext cx="91440" cy="91440"/>
          </a:xfrm>
          <a:prstGeom prst="ellipse">
            <a:avLst/>
          </a:prstGeom>
          <a:solidFill>
            <a:srgbClr val="1C6E7A"/>
          </a:solidFill>
          <a:ln/>
        </p:spPr>
        <p:txBody>
          <a:bodyPr/>
          <a:lstStyle/>
          <a:p>
            <a:endParaRPr lang="en-US"/>
          </a:p>
        </p:txBody>
      </p:sp>
      <p:sp>
        <p:nvSpPr>
          <p:cNvPr id="95" name="Text 93"/>
          <p:cNvSpPr/>
          <p:nvPr/>
        </p:nvSpPr>
        <p:spPr>
          <a:xfrm>
            <a:off x="7434072" y="3474720"/>
            <a:ext cx="1463040" cy="219456"/>
          </a:xfrm>
          <a:prstGeom prst="rect">
            <a:avLst/>
          </a:prstGeom>
          <a:noFill/>
          <a:ln/>
        </p:spPr>
        <p:txBody>
          <a:bodyPr wrap="square" rtlCol="0" anchor="ctr"/>
          <a:lstStyle/>
          <a:p>
            <a:pPr marL="0" indent="0">
              <a:buNone/>
            </a:pPr>
            <a:r>
              <a:rPr lang="en-US" sz="900" dirty="0">
                <a:solidFill>
                  <a:srgbClr val="2C5F6A"/>
                </a:solidFill>
              </a:rPr>
              <a:t>Oatmeal (1 bag)</a:t>
            </a:r>
            <a:endParaRPr lang="en-US" sz="900" dirty="0"/>
          </a:p>
        </p:txBody>
      </p:sp>
      <p:sp>
        <p:nvSpPr>
          <p:cNvPr id="96" name="Shape 94"/>
          <p:cNvSpPr/>
          <p:nvPr/>
        </p:nvSpPr>
        <p:spPr>
          <a:xfrm>
            <a:off x="5577840" y="3785616"/>
            <a:ext cx="3337560" cy="237744"/>
          </a:xfrm>
          <a:prstGeom prst="rect">
            <a:avLst/>
          </a:prstGeom>
          <a:solidFill>
            <a:srgbClr val="7A9EA5"/>
          </a:solidFill>
          <a:ln/>
        </p:spPr>
        <p:txBody>
          <a:bodyPr/>
          <a:lstStyle/>
          <a:p>
            <a:endParaRPr lang="en-US"/>
          </a:p>
        </p:txBody>
      </p:sp>
      <p:sp>
        <p:nvSpPr>
          <p:cNvPr id="97" name="Text 95"/>
          <p:cNvSpPr/>
          <p:nvPr/>
        </p:nvSpPr>
        <p:spPr>
          <a:xfrm>
            <a:off x="5623560" y="3785616"/>
            <a:ext cx="3246120" cy="237744"/>
          </a:xfrm>
          <a:prstGeom prst="rect">
            <a:avLst/>
          </a:prstGeom>
          <a:noFill/>
          <a:ln/>
        </p:spPr>
        <p:txBody>
          <a:bodyPr wrap="square" rtlCol="0" anchor="ctr"/>
          <a:lstStyle/>
          <a:p>
            <a:pPr marL="0" indent="0">
              <a:buNone/>
            </a:pPr>
            <a:r>
              <a:rPr lang="en-US" sz="1000" b="1" dirty="0">
                <a:solidFill>
                  <a:srgbClr val="FFFFFF"/>
                </a:solidFill>
              </a:rPr>
              <a:t>Pantry</a:t>
            </a:r>
            <a:endParaRPr lang="en-US" sz="1000" dirty="0"/>
          </a:p>
        </p:txBody>
      </p:sp>
      <p:sp>
        <p:nvSpPr>
          <p:cNvPr id="98" name="Shape 96"/>
          <p:cNvSpPr/>
          <p:nvPr/>
        </p:nvSpPr>
        <p:spPr>
          <a:xfrm>
            <a:off x="5623560" y="4087368"/>
            <a:ext cx="91440" cy="91440"/>
          </a:xfrm>
          <a:prstGeom prst="ellipse">
            <a:avLst/>
          </a:prstGeom>
          <a:solidFill>
            <a:srgbClr val="7A9EA5"/>
          </a:solidFill>
          <a:ln/>
        </p:spPr>
        <p:txBody>
          <a:bodyPr/>
          <a:lstStyle/>
          <a:p>
            <a:endParaRPr lang="en-US"/>
          </a:p>
        </p:txBody>
      </p:sp>
      <p:sp>
        <p:nvSpPr>
          <p:cNvPr id="99" name="Text 97"/>
          <p:cNvSpPr/>
          <p:nvPr/>
        </p:nvSpPr>
        <p:spPr>
          <a:xfrm>
            <a:off x="5760720" y="4023360"/>
            <a:ext cx="1463040" cy="219456"/>
          </a:xfrm>
          <a:prstGeom prst="rect">
            <a:avLst/>
          </a:prstGeom>
          <a:noFill/>
          <a:ln/>
        </p:spPr>
        <p:txBody>
          <a:bodyPr wrap="square" rtlCol="0" anchor="ctr"/>
          <a:lstStyle/>
          <a:p>
            <a:pPr marL="0" indent="0">
              <a:buNone/>
            </a:pPr>
            <a:r>
              <a:rPr lang="en-US" sz="900" dirty="0">
                <a:solidFill>
                  <a:srgbClr val="2C5F6A"/>
                </a:solidFill>
              </a:rPr>
              <a:t>Miso paste (1 jar)</a:t>
            </a:r>
            <a:endParaRPr lang="en-US" sz="900" dirty="0"/>
          </a:p>
        </p:txBody>
      </p:sp>
      <p:sp>
        <p:nvSpPr>
          <p:cNvPr id="100" name="Shape 98"/>
          <p:cNvSpPr/>
          <p:nvPr/>
        </p:nvSpPr>
        <p:spPr>
          <a:xfrm>
            <a:off x="7296912" y="4087368"/>
            <a:ext cx="91440" cy="91440"/>
          </a:xfrm>
          <a:prstGeom prst="ellipse">
            <a:avLst/>
          </a:prstGeom>
          <a:solidFill>
            <a:srgbClr val="7A9EA5"/>
          </a:solidFill>
          <a:ln/>
        </p:spPr>
        <p:txBody>
          <a:bodyPr/>
          <a:lstStyle/>
          <a:p>
            <a:endParaRPr lang="en-US"/>
          </a:p>
        </p:txBody>
      </p:sp>
      <p:sp>
        <p:nvSpPr>
          <p:cNvPr id="101" name="Text 99"/>
          <p:cNvSpPr/>
          <p:nvPr/>
        </p:nvSpPr>
        <p:spPr>
          <a:xfrm>
            <a:off x="7434072" y="4023360"/>
            <a:ext cx="1463040" cy="219456"/>
          </a:xfrm>
          <a:prstGeom prst="rect">
            <a:avLst/>
          </a:prstGeom>
          <a:noFill/>
          <a:ln/>
        </p:spPr>
        <p:txBody>
          <a:bodyPr wrap="square" rtlCol="0" anchor="ctr"/>
          <a:lstStyle/>
          <a:p>
            <a:pPr marL="0" indent="0">
              <a:buNone/>
            </a:pPr>
            <a:r>
              <a:rPr lang="en-US" sz="900" dirty="0">
                <a:solidFill>
                  <a:srgbClr val="2C5F6A"/>
                </a:solidFill>
              </a:rPr>
              <a:t>Teriyaki sauce</a:t>
            </a:r>
            <a:endParaRPr lang="en-US" sz="900" dirty="0"/>
          </a:p>
        </p:txBody>
      </p:sp>
      <p:sp>
        <p:nvSpPr>
          <p:cNvPr id="102" name="Shape 100"/>
          <p:cNvSpPr/>
          <p:nvPr/>
        </p:nvSpPr>
        <p:spPr>
          <a:xfrm>
            <a:off x="5623560" y="4306824"/>
            <a:ext cx="91440" cy="91440"/>
          </a:xfrm>
          <a:prstGeom prst="ellipse">
            <a:avLst/>
          </a:prstGeom>
          <a:solidFill>
            <a:srgbClr val="7A9EA5"/>
          </a:solidFill>
          <a:ln/>
        </p:spPr>
        <p:txBody>
          <a:bodyPr/>
          <a:lstStyle/>
          <a:p>
            <a:endParaRPr lang="en-US"/>
          </a:p>
        </p:txBody>
      </p:sp>
      <p:sp>
        <p:nvSpPr>
          <p:cNvPr id="103" name="Text 101"/>
          <p:cNvSpPr/>
          <p:nvPr/>
        </p:nvSpPr>
        <p:spPr>
          <a:xfrm>
            <a:off x="5760720" y="4242816"/>
            <a:ext cx="1463040" cy="219456"/>
          </a:xfrm>
          <a:prstGeom prst="rect">
            <a:avLst/>
          </a:prstGeom>
          <a:noFill/>
          <a:ln/>
        </p:spPr>
        <p:txBody>
          <a:bodyPr wrap="square" rtlCol="0" anchor="ctr"/>
          <a:lstStyle/>
          <a:p>
            <a:pPr marL="0" indent="0">
              <a:buNone/>
            </a:pPr>
            <a:r>
              <a:rPr lang="en-US" sz="900" dirty="0">
                <a:solidFill>
                  <a:srgbClr val="2C5F6A"/>
                </a:solidFill>
              </a:rPr>
              <a:t>Kimchi (1 jar)</a:t>
            </a:r>
            <a:endParaRPr lang="en-US" sz="900" dirty="0"/>
          </a:p>
        </p:txBody>
      </p:sp>
      <p:sp>
        <p:nvSpPr>
          <p:cNvPr id="104" name="Shape 102"/>
          <p:cNvSpPr/>
          <p:nvPr/>
        </p:nvSpPr>
        <p:spPr>
          <a:xfrm>
            <a:off x="7296912" y="4306824"/>
            <a:ext cx="91440" cy="91440"/>
          </a:xfrm>
          <a:prstGeom prst="ellipse">
            <a:avLst/>
          </a:prstGeom>
          <a:solidFill>
            <a:srgbClr val="7A9EA5"/>
          </a:solidFill>
          <a:ln/>
        </p:spPr>
        <p:txBody>
          <a:bodyPr/>
          <a:lstStyle/>
          <a:p>
            <a:endParaRPr lang="en-US"/>
          </a:p>
        </p:txBody>
      </p:sp>
      <p:sp>
        <p:nvSpPr>
          <p:cNvPr id="105" name="Text 103"/>
          <p:cNvSpPr/>
          <p:nvPr/>
        </p:nvSpPr>
        <p:spPr>
          <a:xfrm>
            <a:off x="7434072" y="4242816"/>
            <a:ext cx="1463040" cy="219456"/>
          </a:xfrm>
          <a:prstGeom prst="rect">
            <a:avLst/>
          </a:prstGeom>
          <a:noFill/>
          <a:ln/>
        </p:spPr>
        <p:txBody>
          <a:bodyPr wrap="square" rtlCol="0" anchor="ctr"/>
          <a:lstStyle/>
          <a:p>
            <a:pPr marL="0" indent="0">
              <a:buNone/>
            </a:pPr>
            <a:r>
              <a:rPr lang="en-US" sz="900" dirty="0">
                <a:solidFill>
                  <a:srgbClr val="2C5F6A"/>
                </a:solidFill>
              </a:rPr>
              <a:t>Sesame oil</a:t>
            </a:r>
            <a:endParaRPr lang="en-US" sz="900" dirty="0"/>
          </a:p>
        </p:txBody>
      </p:sp>
      <p:pic>
        <p:nvPicPr>
          <p:cNvPr id="123" name="Audio 122">
            <a:extLst>
              <a:ext uri="{FF2B5EF4-FFF2-40B4-BE49-F238E27FC236}">
                <a16:creationId xmlns:a16="http://schemas.microsoft.com/office/drawing/2014/main" id="{95417445-8867-A34E-A242-109BB77013F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8200"/>
    </mc:Choice>
    <mc:Fallback xmlns="">
      <p:transition spd="slow" advTm="28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A2F"/>
          </a:solidFill>
          <a:ln/>
        </p:spPr>
        <p:txBody>
          <a:bodyPr/>
          <a:lstStyle/>
          <a:p>
            <a:endParaRPr lang="en-US"/>
          </a:p>
        </p:txBody>
      </p:sp>
      <p:sp>
        <p:nvSpPr>
          <p:cNvPr id="3" name="Text 1"/>
          <p:cNvSpPr/>
          <p:nvPr/>
        </p:nvSpPr>
        <p:spPr>
          <a:xfrm>
            <a:off x="457200" y="0"/>
            <a:ext cx="8229600" cy="640080"/>
          </a:xfrm>
          <a:prstGeom prst="rect">
            <a:avLst/>
          </a:prstGeom>
          <a:noFill/>
          <a:ln/>
        </p:spPr>
        <p:txBody>
          <a:bodyPr wrap="square" lIns="0" tIns="0" rIns="0" bIns="0" rtlCol="0" anchor="ctr"/>
          <a:lstStyle/>
          <a:p>
            <a:pPr marL="0" indent="0">
              <a:buNone/>
            </a:pPr>
            <a:r>
              <a:rPr lang="en-US" sz="2200" b="1" dirty="0">
                <a:solidFill>
                  <a:srgbClr val="FFFFFF"/>
                </a:solidFill>
              </a:rPr>
              <a:t>Persistent Memory &amp; Proactive Coach</a:t>
            </a:r>
            <a:endParaRPr lang="en-US" sz="2200" dirty="0"/>
          </a:p>
        </p:txBody>
      </p:sp>
      <p:sp>
        <p:nvSpPr>
          <p:cNvPr id="4" name="Shape 2"/>
          <p:cNvSpPr/>
          <p:nvPr/>
        </p:nvSpPr>
        <p:spPr>
          <a:xfrm>
            <a:off x="320040" y="777240"/>
            <a:ext cx="4114800" cy="4114800"/>
          </a:xfrm>
          <a:prstGeom prst="rect">
            <a:avLst/>
          </a:prstGeom>
          <a:solidFill>
            <a:srgbClr val="0D1117"/>
          </a:solidFill>
          <a:ln w="15240">
            <a:solidFill>
              <a:srgbClr val="30363D"/>
            </a:solidFill>
            <a:prstDash val="solid"/>
          </a:ln>
          <a:effectLst>
            <a:outerShdw blurRad="101600" dist="38100" dir="8100000" algn="bl" rotWithShape="0">
              <a:srgbClr val="000000">
                <a:alpha val="10000"/>
              </a:srgbClr>
            </a:outerShdw>
          </a:effectLst>
        </p:spPr>
        <p:txBody>
          <a:bodyPr/>
          <a:lstStyle/>
          <a:p>
            <a:endParaRPr lang="en-US"/>
          </a:p>
        </p:txBody>
      </p:sp>
      <p:sp>
        <p:nvSpPr>
          <p:cNvPr id="5" name="Text 3"/>
          <p:cNvSpPr/>
          <p:nvPr/>
        </p:nvSpPr>
        <p:spPr>
          <a:xfrm>
            <a:off x="320040" y="777240"/>
            <a:ext cx="4114800" cy="320040"/>
          </a:xfrm>
          <a:prstGeom prst="rect">
            <a:avLst/>
          </a:prstGeom>
          <a:noFill/>
          <a:ln/>
        </p:spPr>
        <p:txBody>
          <a:bodyPr wrap="square" rtlCol="0" anchor="ctr"/>
          <a:lstStyle/>
          <a:p>
            <a:pPr marL="0" indent="0" algn="ctr">
              <a:buNone/>
            </a:pPr>
            <a:r>
              <a:rPr lang="en-US" sz="1100" dirty="0">
                <a:solidFill>
                  <a:srgbClr val="8B949E"/>
                </a:solidFill>
                <a:latin typeface="Consolas" pitchFamily="34" charset="0"/>
                <a:ea typeface="Consolas" pitchFamily="34" charset="-122"/>
                <a:cs typeface="Consolas" pitchFamily="34" charset="-120"/>
              </a:rPr>
              <a:t>user_profile.json</a:t>
            </a:r>
            <a:endParaRPr lang="en-US" sz="1100" dirty="0"/>
          </a:p>
        </p:txBody>
      </p:sp>
      <p:sp>
        <p:nvSpPr>
          <p:cNvPr id="6" name="Text 4"/>
          <p:cNvSpPr/>
          <p:nvPr/>
        </p:nvSpPr>
        <p:spPr>
          <a:xfrm>
            <a:off x="411480" y="1152144"/>
            <a:ext cx="3931920" cy="201168"/>
          </a:xfrm>
          <a:prstGeom prst="rect">
            <a:avLst/>
          </a:prstGeom>
          <a:noFill/>
          <a:ln/>
        </p:spPr>
        <p:txBody>
          <a:bodyPr wrap="square" rtlCol="0" anchor="ctr"/>
          <a:lstStyle/>
          <a:p>
            <a:pPr marL="0" indent="0">
              <a:buNone/>
            </a:pPr>
            <a:r>
              <a:rPr lang="en-US" sz="1000" dirty="0">
                <a:solidFill>
                  <a:srgbClr val="E6EDF3"/>
                </a:solidFill>
                <a:latin typeface="Consolas" pitchFamily="34" charset="0"/>
                <a:ea typeface="Consolas" pitchFamily="34" charset="-122"/>
                <a:cs typeface="Consolas" pitchFamily="34" charset="-120"/>
              </a:rPr>
              <a:t>{</a:t>
            </a:r>
            <a:endParaRPr lang="en-US" sz="1000" dirty="0"/>
          </a:p>
        </p:txBody>
      </p:sp>
      <p:sp>
        <p:nvSpPr>
          <p:cNvPr id="7" name="Text 5"/>
          <p:cNvSpPr/>
          <p:nvPr/>
        </p:nvSpPr>
        <p:spPr>
          <a:xfrm>
            <a:off x="411480" y="1344168"/>
            <a:ext cx="3931920" cy="201168"/>
          </a:xfrm>
          <a:prstGeom prst="rect">
            <a:avLst/>
          </a:prstGeom>
          <a:noFill/>
          <a:ln/>
        </p:spPr>
        <p:txBody>
          <a:bodyPr wrap="square" rtlCol="0" anchor="ctr"/>
          <a:lstStyle/>
          <a:p>
            <a:pPr marL="0" indent="0">
              <a:buNone/>
            </a:pPr>
            <a:r>
              <a:rPr lang="en-US" sz="1000" dirty="0">
                <a:solidFill>
                  <a:srgbClr val="79C0FF"/>
                </a:solidFill>
                <a:latin typeface="Consolas" pitchFamily="34" charset="0"/>
                <a:ea typeface="Consolas" pitchFamily="34" charset="-122"/>
                <a:cs typeface="Consolas" pitchFamily="34" charset="-120"/>
              </a:rPr>
              <a:t>  "goal": "gain muscle",</a:t>
            </a:r>
            <a:endParaRPr lang="en-US" sz="1000" dirty="0"/>
          </a:p>
        </p:txBody>
      </p:sp>
      <p:sp>
        <p:nvSpPr>
          <p:cNvPr id="8" name="Text 6"/>
          <p:cNvSpPr/>
          <p:nvPr/>
        </p:nvSpPr>
        <p:spPr>
          <a:xfrm>
            <a:off x="411480" y="1536192"/>
            <a:ext cx="3931920" cy="201168"/>
          </a:xfrm>
          <a:prstGeom prst="rect">
            <a:avLst/>
          </a:prstGeom>
          <a:noFill/>
          <a:ln/>
        </p:spPr>
        <p:txBody>
          <a:bodyPr wrap="square" rtlCol="0" anchor="ctr"/>
          <a:lstStyle/>
          <a:p>
            <a:pPr marL="0" indent="0">
              <a:buNone/>
            </a:pPr>
            <a:r>
              <a:rPr lang="en-US" sz="1000" dirty="0">
                <a:solidFill>
                  <a:srgbClr val="79C0FF"/>
                </a:solidFill>
                <a:latin typeface="Consolas" pitchFamily="34" charset="0"/>
                <a:ea typeface="Consolas" pitchFamily="34" charset="-122"/>
                <a:cs typeface="Consolas" pitchFamily="34" charset="-120"/>
              </a:rPr>
              <a:t>  "cuisine_preference": "Asian",</a:t>
            </a:r>
            <a:endParaRPr lang="en-US" sz="1000" dirty="0"/>
          </a:p>
        </p:txBody>
      </p:sp>
      <p:sp>
        <p:nvSpPr>
          <p:cNvPr id="9" name="Text 7"/>
          <p:cNvSpPr/>
          <p:nvPr/>
        </p:nvSpPr>
        <p:spPr>
          <a:xfrm>
            <a:off x="411480" y="1728216"/>
            <a:ext cx="3931920" cy="201168"/>
          </a:xfrm>
          <a:prstGeom prst="rect">
            <a:avLst/>
          </a:prstGeom>
          <a:noFill/>
          <a:ln/>
        </p:spPr>
        <p:txBody>
          <a:bodyPr wrap="square" rtlCol="0" anchor="ctr"/>
          <a:lstStyle/>
          <a:p>
            <a:pPr marL="0" indent="0">
              <a:buNone/>
            </a:pPr>
            <a:r>
              <a:rPr lang="en-US" sz="1000" dirty="0">
                <a:solidFill>
                  <a:srgbClr val="79C0FF"/>
                </a:solidFill>
                <a:latin typeface="Consolas" pitchFamily="34" charset="0"/>
                <a:ea typeface="Consolas" pitchFamily="34" charset="-122"/>
                <a:cs typeface="Consolas" pitchFamily="34" charset="-120"/>
              </a:rPr>
              <a:t>  "restrictions": "none",</a:t>
            </a:r>
            <a:endParaRPr lang="en-US" sz="1000" dirty="0"/>
          </a:p>
        </p:txBody>
      </p:sp>
      <p:sp>
        <p:nvSpPr>
          <p:cNvPr id="10" name="Text 8"/>
          <p:cNvSpPr/>
          <p:nvPr/>
        </p:nvSpPr>
        <p:spPr>
          <a:xfrm>
            <a:off x="411480" y="1920240"/>
            <a:ext cx="3931920" cy="201168"/>
          </a:xfrm>
          <a:prstGeom prst="rect">
            <a:avLst/>
          </a:prstGeom>
          <a:noFill/>
          <a:ln/>
        </p:spPr>
        <p:txBody>
          <a:bodyPr wrap="square" rtlCol="0" anchor="ctr"/>
          <a:lstStyle/>
          <a:p>
            <a:pPr marL="0" indent="0">
              <a:buNone/>
            </a:pPr>
            <a:r>
              <a:rPr lang="en-US" sz="1000" dirty="0">
                <a:solidFill>
                  <a:srgbClr val="3FB950"/>
                </a:solidFill>
                <a:latin typeface="Consolas" pitchFamily="34" charset="0"/>
                <a:ea typeface="Consolas" pitchFamily="34" charset="-122"/>
                <a:cs typeface="Consolas" pitchFamily="34" charset="-120"/>
              </a:rPr>
              <a:t>  "workout_log": [</a:t>
            </a:r>
            <a:endParaRPr lang="en-US" sz="1000" dirty="0"/>
          </a:p>
        </p:txBody>
      </p:sp>
      <p:sp>
        <p:nvSpPr>
          <p:cNvPr id="11" name="Text 9"/>
          <p:cNvSpPr/>
          <p:nvPr/>
        </p:nvSpPr>
        <p:spPr>
          <a:xfrm>
            <a:off x="411480" y="2112264"/>
            <a:ext cx="3931920" cy="201168"/>
          </a:xfrm>
          <a:prstGeom prst="rect">
            <a:avLst/>
          </a:prstGeom>
          <a:noFill/>
          <a:ln/>
        </p:spPr>
        <p:txBody>
          <a:bodyPr wrap="square" rtlCol="0" anchor="ctr"/>
          <a:lstStyle/>
          <a:p>
            <a:pPr marL="0" indent="0">
              <a:buNone/>
            </a:pPr>
            <a:r>
              <a:rPr lang="en-US" sz="1000" dirty="0">
                <a:solidFill>
                  <a:srgbClr val="E6EDF3"/>
                </a:solidFill>
                <a:latin typeface="Consolas" pitchFamily="34" charset="0"/>
                <a:ea typeface="Consolas" pitchFamily="34" charset="-122"/>
                <a:cs typeface="Consolas" pitchFamily="34" charset="-120"/>
              </a:rPr>
              <a:t>    { "date": "2026-04-03",</a:t>
            </a:r>
            <a:endParaRPr lang="en-US" sz="1000" dirty="0"/>
          </a:p>
        </p:txBody>
      </p:sp>
      <p:sp>
        <p:nvSpPr>
          <p:cNvPr id="12" name="Text 10"/>
          <p:cNvSpPr/>
          <p:nvPr/>
        </p:nvSpPr>
        <p:spPr>
          <a:xfrm>
            <a:off x="411480" y="2304288"/>
            <a:ext cx="3931920" cy="201168"/>
          </a:xfrm>
          <a:prstGeom prst="rect">
            <a:avLst/>
          </a:prstGeom>
          <a:noFill/>
          <a:ln/>
        </p:spPr>
        <p:txBody>
          <a:bodyPr wrap="square" rtlCol="0" anchor="ctr"/>
          <a:lstStyle/>
          <a:p>
            <a:pPr marL="0" indent="0">
              <a:buNone/>
            </a:pPr>
            <a:r>
              <a:rPr lang="en-US" sz="1000" dirty="0">
                <a:solidFill>
                  <a:srgbClr val="E6EDF3"/>
                </a:solidFill>
                <a:latin typeface="Consolas" pitchFamily="34" charset="0"/>
                <a:ea typeface="Consolas" pitchFamily="34" charset="-122"/>
                <a:cs typeface="Consolas" pitchFamily="34" charset="-120"/>
              </a:rPr>
              <a:t>      "type": "yoga",</a:t>
            </a:r>
            <a:endParaRPr lang="en-US" sz="1000" dirty="0"/>
          </a:p>
        </p:txBody>
      </p:sp>
      <p:sp>
        <p:nvSpPr>
          <p:cNvPr id="13" name="Text 11"/>
          <p:cNvSpPr/>
          <p:nvPr/>
        </p:nvSpPr>
        <p:spPr>
          <a:xfrm>
            <a:off x="411480" y="2496312"/>
            <a:ext cx="3931920" cy="201168"/>
          </a:xfrm>
          <a:prstGeom prst="rect">
            <a:avLst/>
          </a:prstGeom>
          <a:noFill/>
          <a:ln/>
        </p:spPr>
        <p:txBody>
          <a:bodyPr wrap="square" rtlCol="0" anchor="ctr"/>
          <a:lstStyle/>
          <a:p>
            <a:pPr marL="0" indent="0">
              <a:buNone/>
            </a:pPr>
            <a:r>
              <a:rPr lang="en-US" sz="1000" dirty="0">
                <a:solidFill>
                  <a:srgbClr val="E6EDF3"/>
                </a:solidFill>
                <a:latin typeface="Consolas" pitchFamily="34" charset="0"/>
                <a:ea typeface="Consolas" pitchFamily="34" charset="-122"/>
                <a:cs typeface="Consolas" pitchFamily="34" charset="-120"/>
              </a:rPr>
              <a:t>      "duration_min": 45 }</a:t>
            </a:r>
            <a:endParaRPr lang="en-US" sz="1000" dirty="0"/>
          </a:p>
        </p:txBody>
      </p:sp>
      <p:sp>
        <p:nvSpPr>
          <p:cNvPr id="14" name="Text 12"/>
          <p:cNvSpPr/>
          <p:nvPr/>
        </p:nvSpPr>
        <p:spPr>
          <a:xfrm>
            <a:off x="411480" y="2688336"/>
            <a:ext cx="3931920" cy="201168"/>
          </a:xfrm>
          <a:prstGeom prst="rect">
            <a:avLst/>
          </a:prstGeom>
          <a:noFill/>
          <a:ln/>
        </p:spPr>
        <p:txBody>
          <a:bodyPr wrap="square" rtlCol="0" anchor="ctr"/>
          <a:lstStyle/>
          <a:p>
            <a:pPr marL="0" indent="0">
              <a:buNone/>
            </a:pPr>
            <a:r>
              <a:rPr lang="en-US" sz="1000" dirty="0">
                <a:solidFill>
                  <a:srgbClr val="E6EDF3"/>
                </a:solidFill>
                <a:latin typeface="Consolas" pitchFamily="34" charset="0"/>
                <a:ea typeface="Consolas" pitchFamily="34" charset="-122"/>
                <a:cs typeface="Consolas" pitchFamily="34" charset="-120"/>
              </a:rPr>
              <a:t>  ],</a:t>
            </a:r>
            <a:endParaRPr lang="en-US" sz="1000" dirty="0"/>
          </a:p>
        </p:txBody>
      </p:sp>
      <p:sp>
        <p:nvSpPr>
          <p:cNvPr id="15" name="Text 13"/>
          <p:cNvSpPr/>
          <p:nvPr/>
        </p:nvSpPr>
        <p:spPr>
          <a:xfrm>
            <a:off x="411480" y="2880360"/>
            <a:ext cx="3931920" cy="201168"/>
          </a:xfrm>
          <a:prstGeom prst="rect">
            <a:avLst/>
          </a:prstGeom>
          <a:noFill/>
          <a:ln/>
        </p:spPr>
        <p:txBody>
          <a:bodyPr wrap="square" rtlCol="0" anchor="ctr"/>
          <a:lstStyle/>
          <a:p>
            <a:pPr marL="0" indent="0">
              <a:buNone/>
            </a:pPr>
            <a:r>
              <a:rPr lang="en-US" sz="1000" dirty="0">
                <a:solidFill>
                  <a:srgbClr val="3FB950"/>
                </a:solidFill>
                <a:latin typeface="Consolas" pitchFamily="34" charset="0"/>
                <a:ea typeface="Consolas" pitchFamily="34" charset="-122"/>
                <a:cs typeface="Consolas" pitchFamily="34" charset="-120"/>
              </a:rPr>
              <a:t>  "weight_log": [</a:t>
            </a:r>
            <a:endParaRPr lang="en-US" sz="1000" dirty="0"/>
          </a:p>
        </p:txBody>
      </p:sp>
      <p:sp>
        <p:nvSpPr>
          <p:cNvPr id="16" name="Text 14"/>
          <p:cNvSpPr/>
          <p:nvPr/>
        </p:nvSpPr>
        <p:spPr>
          <a:xfrm>
            <a:off x="411480" y="3072384"/>
            <a:ext cx="3931920" cy="201168"/>
          </a:xfrm>
          <a:prstGeom prst="rect">
            <a:avLst/>
          </a:prstGeom>
          <a:noFill/>
          <a:ln/>
        </p:spPr>
        <p:txBody>
          <a:bodyPr wrap="square" rtlCol="0" anchor="ctr"/>
          <a:lstStyle/>
          <a:p>
            <a:pPr marL="0" indent="0">
              <a:buNone/>
            </a:pPr>
            <a:r>
              <a:rPr lang="en-US" sz="1000" dirty="0">
                <a:solidFill>
                  <a:srgbClr val="E6EDF3"/>
                </a:solidFill>
                <a:latin typeface="Consolas" pitchFamily="34" charset="0"/>
                <a:ea typeface="Consolas" pitchFamily="34" charset="-122"/>
                <a:cs typeface="Consolas" pitchFamily="34" charset="-120"/>
              </a:rPr>
              <a:t>    { "date": "2026-04-03",</a:t>
            </a:r>
            <a:endParaRPr lang="en-US" sz="1000" dirty="0"/>
          </a:p>
        </p:txBody>
      </p:sp>
      <p:sp>
        <p:nvSpPr>
          <p:cNvPr id="17" name="Text 15"/>
          <p:cNvSpPr/>
          <p:nvPr/>
        </p:nvSpPr>
        <p:spPr>
          <a:xfrm>
            <a:off x="411480" y="3264408"/>
            <a:ext cx="3931920" cy="201168"/>
          </a:xfrm>
          <a:prstGeom prst="rect">
            <a:avLst/>
          </a:prstGeom>
          <a:noFill/>
          <a:ln/>
        </p:spPr>
        <p:txBody>
          <a:bodyPr wrap="square" rtlCol="0" anchor="ctr"/>
          <a:lstStyle/>
          <a:p>
            <a:pPr marL="0" indent="0">
              <a:buNone/>
            </a:pPr>
            <a:r>
              <a:rPr lang="en-US" sz="1000" dirty="0">
                <a:solidFill>
                  <a:srgbClr val="E6EDF3"/>
                </a:solidFill>
                <a:latin typeface="Consolas" pitchFamily="34" charset="0"/>
                <a:ea typeface="Consolas" pitchFamily="34" charset="-122"/>
                <a:cs typeface="Consolas" pitchFamily="34" charset="-120"/>
              </a:rPr>
              <a:t>      "weight_kg": 60.0 }</a:t>
            </a:r>
            <a:endParaRPr lang="en-US" sz="1000" dirty="0"/>
          </a:p>
        </p:txBody>
      </p:sp>
      <p:sp>
        <p:nvSpPr>
          <p:cNvPr id="18" name="Text 16"/>
          <p:cNvSpPr/>
          <p:nvPr/>
        </p:nvSpPr>
        <p:spPr>
          <a:xfrm>
            <a:off x="411480" y="3456432"/>
            <a:ext cx="3931920" cy="201168"/>
          </a:xfrm>
          <a:prstGeom prst="rect">
            <a:avLst/>
          </a:prstGeom>
          <a:noFill/>
          <a:ln/>
        </p:spPr>
        <p:txBody>
          <a:bodyPr wrap="square" rtlCol="0" anchor="ctr"/>
          <a:lstStyle/>
          <a:p>
            <a:pPr marL="0" indent="0">
              <a:buNone/>
            </a:pPr>
            <a:r>
              <a:rPr lang="en-US" sz="1000" dirty="0">
                <a:solidFill>
                  <a:srgbClr val="E6EDF3"/>
                </a:solidFill>
                <a:latin typeface="Consolas" pitchFamily="34" charset="0"/>
                <a:ea typeface="Consolas" pitchFamily="34" charset="-122"/>
                <a:cs typeface="Consolas" pitchFamily="34" charset="-120"/>
              </a:rPr>
              <a:t>  ],</a:t>
            </a:r>
            <a:endParaRPr lang="en-US" sz="1000" dirty="0"/>
          </a:p>
        </p:txBody>
      </p:sp>
      <p:sp>
        <p:nvSpPr>
          <p:cNvPr id="19" name="Text 17"/>
          <p:cNvSpPr/>
          <p:nvPr/>
        </p:nvSpPr>
        <p:spPr>
          <a:xfrm>
            <a:off x="411480" y="3648456"/>
            <a:ext cx="3931920" cy="201168"/>
          </a:xfrm>
          <a:prstGeom prst="rect">
            <a:avLst/>
          </a:prstGeom>
          <a:noFill/>
          <a:ln/>
        </p:spPr>
        <p:txBody>
          <a:bodyPr wrap="square" rtlCol="0" anchor="ctr"/>
          <a:lstStyle/>
          <a:p>
            <a:pPr marL="0" indent="0">
              <a:buNone/>
            </a:pPr>
            <a:r>
              <a:rPr lang="en-US" sz="1000" dirty="0">
                <a:solidFill>
                  <a:srgbClr val="3FB950"/>
                </a:solidFill>
                <a:latin typeface="Consolas" pitchFamily="34" charset="0"/>
                <a:ea typeface="Consolas" pitchFamily="34" charset="-122"/>
                <a:cs typeface="Consolas" pitchFamily="34" charset="-120"/>
              </a:rPr>
              <a:t>  "checkins": [</a:t>
            </a:r>
            <a:endParaRPr lang="en-US" sz="1000" dirty="0"/>
          </a:p>
        </p:txBody>
      </p:sp>
      <p:sp>
        <p:nvSpPr>
          <p:cNvPr id="20" name="Text 18"/>
          <p:cNvSpPr/>
          <p:nvPr/>
        </p:nvSpPr>
        <p:spPr>
          <a:xfrm>
            <a:off x="411480" y="3840480"/>
            <a:ext cx="3931920" cy="201168"/>
          </a:xfrm>
          <a:prstGeom prst="rect">
            <a:avLst/>
          </a:prstGeom>
          <a:noFill/>
          <a:ln/>
        </p:spPr>
        <p:txBody>
          <a:bodyPr wrap="square" rtlCol="0" anchor="ctr"/>
          <a:lstStyle/>
          <a:p>
            <a:pPr marL="0" indent="0">
              <a:buNone/>
            </a:pPr>
            <a:r>
              <a:rPr lang="en-US" sz="1000" dirty="0">
                <a:solidFill>
                  <a:srgbClr val="E6EDF3"/>
                </a:solidFill>
                <a:latin typeface="Consolas" pitchFamily="34" charset="0"/>
                <a:ea typeface="Consolas" pitchFamily="34" charset="-122"/>
                <a:cs typeface="Consolas" pitchFamily="34" charset="-120"/>
              </a:rPr>
              <a:t>    "Loved the teriyaki bowl!"</a:t>
            </a:r>
            <a:endParaRPr lang="en-US" sz="1000" dirty="0"/>
          </a:p>
        </p:txBody>
      </p:sp>
      <p:sp>
        <p:nvSpPr>
          <p:cNvPr id="21" name="Text 19"/>
          <p:cNvSpPr/>
          <p:nvPr/>
        </p:nvSpPr>
        <p:spPr>
          <a:xfrm>
            <a:off x="411480" y="4032504"/>
            <a:ext cx="3931920" cy="201168"/>
          </a:xfrm>
          <a:prstGeom prst="rect">
            <a:avLst/>
          </a:prstGeom>
          <a:noFill/>
          <a:ln/>
        </p:spPr>
        <p:txBody>
          <a:bodyPr wrap="square" rtlCol="0" anchor="ctr"/>
          <a:lstStyle/>
          <a:p>
            <a:pPr marL="0" indent="0">
              <a:buNone/>
            </a:pPr>
            <a:r>
              <a:rPr lang="en-US" sz="1000" dirty="0">
                <a:solidFill>
                  <a:srgbClr val="E6EDF3"/>
                </a:solidFill>
                <a:latin typeface="Consolas" pitchFamily="34" charset="0"/>
                <a:ea typeface="Consolas" pitchFamily="34" charset="-122"/>
                <a:cs typeface="Consolas" pitchFamily="34" charset="-120"/>
              </a:rPr>
              <a:t>  ]</a:t>
            </a:r>
            <a:endParaRPr lang="en-US" sz="1000" dirty="0"/>
          </a:p>
        </p:txBody>
      </p:sp>
      <p:sp>
        <p:nvSpPr>
          <p:cNvPr id="22" name="Text 20"/>
          <p:cNvSpPr/>
          <p:nvPr/>
        </p:nvSpPr>
        <p:spPr>
          <a:xfrm>
            <a:off x="411480" y="4224528"/>
            <a:ext cx="3931920" cy="201168"/>
          </a:xfrm>
          <a:prstGeom prst="rect">
            <a:avLst/>
          </a:prstGeom>
          <a:noFill/>
          <a:ln/>
        </p:spPr>
        <p:txBody>
          <a:bodyPr wrap="square" rtlCol="0" anchor="ctr"/>
          <a:lstStyle/>
          <a:p>
            <a:pPr marL="0" indent="0">
              <a:buNone/>
            </a:pPr>
            <a:r>
              <a:rPr lang="en-US" sz="1000" dirty="0">
                <a:solidFill>
                  <a:srgbClr val="E6EDF3"/>
                </a:solidFill>
                <a:latin typeface="Consolas" pitchFamily="34" charset="0"/>
                <a:ea typeface="Consolas" pitchFamily="34" charset="-122"/>
                <a:cs typeface="Consolas" pitchFamily="34" charset="-120"/>
              </a:rPr>
              <a:t>}</a:t>
            </a:r>
            <a:endParaRPr lang="en-US" sz="1000" dirty="0"/>
          </a:p>
        </p:txBody>
      </p:sp>
      <p:sp>
        <p:nvSpPr>
          <p:cNvPr id="23" name="Text 21"/>
          <p:cNvSpPr/>
          <p:nvPr/>
        </p:nvSpPr>
        <p:spPr>
          <a:xfrm>
            <a:off x="4663440" y="777240"/>
            <a:ext cx="4114800" cy="320040"/>
          </a:xfrm>
          <a:prstGeom prst="rect">
            <a:avLst/>
          </a:prstGeom>
          <a:noFill/>
          <a:ln/>
        </p:spPr>
        <p:txBody>
          <a:bodyPr wrap="square" rtlCol="0" anchor="ctr"/>
          <a:lstStyle/>
          <a:p>
            <a:pPr marL="0" indent="0">
              <a:buNone/>
            </a:pPr>
            <a:r>
              <a:rPr lang="en-US" sz="1300" b="1" dirty="0">
                <a:solidFill>
                  <a:srgbClr val="0A2A2F"/>
                </a:solidFill>
              </a:rPr>
              <a:t>Coach tone ladder</a:t>
            </a:r>
            <a:endParaRPr lang="en-US" sz="1300" dirty="0"/>
          </a:p>
        </p:txBody>
      </p:sp>
      <p:sp>
        <p:nvSpPr>
          <p:cNvPr id="24" name="Shape 22"/>
          <p:cNvSpPr/>
          <p:nvPr/>
        </p:nvSpPr>
        <p:spPr>
          <a:xfrm>
            <a:off x="4663440" y="1207008"/>
            <a:ext cx="4114800" cy="603504"/>
          </a:xfrm>
          <a:prstGeom prst="rect">
            <a:avLst/>
          </a:prstGeom>
          <a:solidFill>
            <a:srgbClr val="FFFFFF"/>
          </a:solidFill>
          <a:ln w="10160">
            <a:solidFill>
              <a:srgbClr val="C5E0E5"/>
            </a:solidFill>
            <a:prstDash val="solid"/>
          </a:ln>
          <a:effectLst>
            <a:outerShdw blurRad="101600" dist="38100" dir="8100000" algn="bl" rotWithShape="0">
              <a:srgbClr val="000000">
                <a:alpha val="10000"/>
              </a:srgbClr>
            </a:outerShdw>
          </a:effectLst>
        </p:spPr>
        <p:txBody>
          <a:bodyPr/>
          <a:lstStyle/>
          <a:p>
            <a:endParaRPr lang="en-US"/>
          </a:p>
        </p:txBody>
      </p:sp>
      <p:sp>
        <p:nvSpPr>
          <p:cNvPr id="25" name="Shape 23"/>
          <p:cNvSpPr/>
          <p:nvPr/>
        </p:nvSpPr>
        <p:spPr>
          <a:xfrm>
            <a:off x="4663440" y="1207008"/>
            <a:ext cx="64008" cy="603504"/>
          </a:xfrm>
          <a:prstGeom prst="rect">
            <a:avLst/>
          </a:prstGeom>
          <a:solidFill>
            <a:srgbClr val="02C39A"/>
          </a:solidFill>
          <a:ln/>
        </p:spPr>
        <p:txBody>
          <a:bodyPr/>
          <a:lstStyle/>
          <a:p>
            <a:endParaRPr lang="en-US"/>
          </a:p>
        </p:txBody>
      </p:sp>
      <p:sp>
        <p:nvSpPr>
          <p:cNvPr id="26" name="Text 24"/>
          <p:cNvSpPr/>
          <p:nvPr/>
        </p:nvSpPr>
        <p:spPr>
          <a:xfrm>
            <a:off x="4736592" y="1207008"/>
            <a:ext cx="457200" cy="603504"/>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7" name="Text 25"/>
          <p:cNvSpPr/>
          <p:nvPr/>
        </p:nvSpPr>
        <p:spPr>
          <a:xfrm>
            <a:off x="5230368" y="1243584"/>
            <a:ext cx="1828800" cy="256032"/>
          </a:xfrm>
          <a:prstGeom prst="rect">
            <a:avLst/>
          </a:prstGeom>
          <a:noFill/>
          <a:ln/>
        </p:spPr>
        <p:txBody>
          <a:bodyPr wrap="square" lIns="0" tIns="0" rIns="0" bIns="0" rtlCol="0" anchor="ctr"/>
          <a:lstStyle/>
          <a:p>
            <a:pPr marL="0" indent="0">
              <a:buNone/>
            </a:pPr>
            <a:r>
              <a:rPr lang="en-US" sz="1200" b="1" dirty="0">
                <a:solidFill>
                  <a:srgbClr val="02C39A"/>
                </a:solidFill>
              </a:rPr>
              <a:t>Celebrating</a:t>
            </a:r>
            <a:endParaRPr lang="en-US" sz="1200" dirty="0"/>
          </a:p>
        </p:txBody>
      </p:sp>
      <p:sp>
        <p:nvSpPr>
          <p:cNvPr id="28" name="Text 26"/>
          <p:cNvSpPr/>
          <p:nvPr/>
        </p:nvSpPr>
        <p:spPr>
          <a:xfrm>
            <a:off x="5230368" y="1508760"/>
            <a:ext cx="3474720" cy="256032"/>
          </a:xfrm>
          <a:prstGeom prst="rect">
            <a:avLst/>
          </a:prstGeom>
          <a:noFill/>
          <a:ln/>
        </p:spPr>
        <p:txBody>
          <a:bodyPr wrap="square" lIns="0" tIns="0" rIns="0" bIns="0" rtlCol="0" anchor="ctr"/>
          <a:lstStyle/>
          <a:p>
            <a:pPr marL="0" indent="0">
              <a:buNone/>
            </a:pPr>
            <a:r>
              <a:rPr lang="en-US" sz="1100" dirty="0">
                <a:solidFill>
                  <a:srgbClr val="2C5F6A"/>
                </a:solidFill>
              </a:rPr>
              <a:t>Hit workout goal this week</a:t>
            </a:r>
            <a:endParaRPr lang="en-US" sz="1100" dirty="0"/>
          </a:p>
        </p:txBody>
      </p:sp>
      <p:sp>
        <p:nvSpPr>
          <p:cNvPr id="29" name="Shape 27"/>
          <p:cNvSpPr/>
          <p:nvPr/>
        </p:nvSpPr>
        <p:spPr>
          <a:xfrm>
            <a:off x="4663440" y="1911096"/>
            <a:ext cx="4114800" cy="603504"/>
          </a:xfrm>
          <a:prstGeom prst="rect">
            <a:avLst/>
          </a:prstGeom>
          <a:solidFill>
            <a:srgbClr val="FFFFFF"/>
          </a:solidFill>
          <a:ln w="10160">
            <a:solidFill>
              <a:srgbClr val="C5E0E5"/>
            </a:solidFill>
            <a:prstDash val="solid"/>
          </a:ln>
          <a:effectLst>
            <a:outerShdw blurRad="101600" dist="38100" dir="8100000" algn="bl" rotWithShape="0">
              <a:srgbClr val="000000">
                <a:alpha val="10000"/>
              </a:srgbClr>
            </a:outerShdw>
          </a:effectLst>
        </p:spPr>
        <p:txBody>
          <a:bodyPr/>
          <a:lstStyle/>
          <a:p>
            <a:endParaRPr lang="en-US"/>
          </a:p>
        </p:txBody>
      </p:sp>
      <p:sp>
        <p:nvSpPr>
          <p:cNvPr id="30" name="Shape 28"/>
          <p:cNvSpPr/>
          <p:nvPr/>
        </p:nvSpPr>
        <p:spPr>
          <a:xfrm>
            <a:off x="4663440" y="1911096"/>
            <a:ext cx="64008" cy="603504"/>
          </a:xfrm>
          <a:prstGeom prst="rect">
            <a:avLst/>
          </a:prstGeom>
          <a:solidFill>
            <a:srgbClr val="028090"/>
          </a:solidFill>
          <a:ln/>
        </p:spPr>
        <p:txBody>
          <a:bodyPr/>
          <a:lstStyle/>
          <a:p>
            <a:endParaRPr lang="en-US"/>
          </a:p>
        </p:txBody>
      </p:sp>
      <p:sp>
        <p:nvSpPr>
          <p:cNvPr id="31" name="Text 29"/>
          <p:cNvSpPr/>
          <p:nvPr/>
        </p:nvSpPr>
        <p:spPr>
          <a:xfrm>
            <a:off x="4736592" y="1911096"/>
            <a:ext cx="457200" cy="603504"/>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32" name="Text 30"/>
          <p:cNvSpPr/>
          <p:nvPr/>
        </p:nvSpPr>
        <p:spPr>
          <a:xfrm>
            <a:off x="5230368" y="1947672"/>
            <a:ext cx="1828800" cy="256032"/>
          </a:xfrm>
          <a:prstGeom prst="rect">
            <a:avLst/>
          </a:prstGeom>
          <a:noFill/>
          <a:ln/>
        </p:spPr>
        <p:txBody>
          <a:bodyPr wrap="square" lIns="0" tIns="0" rIns="0" bIns="0" rtlCol="0" anchor="ctr"/>
          <a:lstStyle/>
          <a:p>
            <a:pPr marL="0" indent="0">
              <a:buNone/>
            </a:pPr>
            <a:r>
              <a:rPr lang="en-US" sz="1200" b="1" dirty="0">
                <a:solidFill>
                  <a:srgbClr val="028090"/>
                </a:solidFill>
              </a:rPr>
              <a:t>Nudging</a:t>
            </a:r>
            <a:endParaRPr lang="en-US" sz="1200" dirty="0"/>
          </a:p>
        </p:txBody>
      </p:sp>
      <p:sp>
        <p:nvSpPr>
          <p:cNvPr id="33" name="Text 31"/>
          <p:cNvSpPr/>
          <p:nvPr/>
        </p:nvSpPr>
        <p:spPr>
          <a:xfrm>
            <a:off x="5230368" y="2212848"/>
            <a:ext cx="3474720" cy="256032"/>
          </a:xfrm>
          <a:prstGeom prst="rect">
            <a:avLst/>
          </a:prstGeom>
          <a:noFill/>
          <a:ln/>
        </p:spPr>
        <p:txBody>
          <a:bodyPr wrap="square" lIns="0" tIns="0" rIns="0" bIns="0" rtlCol="0" anchor="ctr"/>
          <a:lstStyle/>
          <a:p>
            <a:pPr marL="0" indent="0">
              <a:buNone/>
            </a:pPr>
            <a:r>
              <a:rPr lang="en-US" sz="1100" dirty="0">
                <a:solidFill>
                  <a:srgbClr val="2C5F6A"/>
                </a:solidFill>
              </a:rPr>
              <a:t>1 workout short of goal</a:t>
            </a:r>
            <a:endParaRPr lang="en-US" sz="1100" dirty="0"/>
          </a:p>
        </p:txBody>
      </p:sp>
      <p:sp>
        <p:nvSpPr>
          <p:cNvPr id="34" name="Shape 32"/>
          <p:cNvSpPr/>
          <p:nvPr/>
        </p:nvSpPr>
        <p:spPr>
          <a:xfrm>
            <a:off x="4663440" y="2615184"/>
            <a:ext cx="4114800" cy="603504"/>
          </a:xfrm>
          <a:prstGeom prst="rect">
            <a:avLst/>
          </a:prstGeom>
          <a:solidFill>
            <a:srgbClr val="FFFFFF"/>
          </a:solidFill>
          <a:ln w="10160">
            <a:solidFill>
              <a:srgbClr val="C5E0E5"/>
            </a:solidFill>
            <a:prstDash val="solid"/>
          </a:ln>
          <a:effectLst>
            <a:outerShdw blurRad="101600" dist="38100" dir="8100000" algn="bl" rotWithShape="0">
              <a:srgbClr val="000000">
                <a:alpha val="10000"/>
              </a:srgbClr>
            </a:outerShdw>
          </a:effectLst>
        </p:spPr>
        <p:txBody>
          <a:bodyPr/>
          <a:lstStyle/>
          <a:p>
            <a:endParaRPr lang="en-US"/>
          </a:p>
        </p:txBody>
      </p:sp>
      <p:sp>
        <p:nvSpPr>
          <p:cNvPr id="35" name="Shape 33"/>
          <p:cNvSpPr/>
          <p:nvPr/>
        </p:nvSpPr>
        <p:spPr>
          <a:xfrm>
            <a:off x="4663440" y="2615184"/>
            <a:ext cx="64008" cy="603504"/>
          </a:xfrm>
          <a:prstGeom prst="rect">
            <a:avLst/>
          </a:prstGeom>
          <a:solidFill>
            <a:srgbClr val="1C6E7A"/>
          </a:solidFill>
          <a:ln/>
        </p:spPr>
        <p:txBody>
          <a:bodyPr/>
          <a:lstStyle/>
          <a:p>
            <a:endParaRPr lang="en-US"/>
          </a:p>
        </p:txBody>
      </p:sp>
      <p:sp>
        <p:nvSpPr>
          <p:cNvPr id="36" name="Text 34"/>
          <p:cNvSpPr/>
          <p:nvPr/>
        </p:nvSpPr>
        <p:spPr>
          <a:xfrm>
            <a:off x="4736592" y="2615184"/>
            <a:ext cx="457200" cy="603504"/>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37" name="Text 35"/>
          <p:cNvSpPr/>
          <p:nvPr/>
        </p:nvSpPr>
        <p:spPr>
          <a:xfrm>
            <a:off x="5230368" y="2651760"/>
            <a:ext cx="1828800" cy="256032"/>
          </a:xfrm>
          <a:prstGeom prst="rect">
            <a:avLst/>
          </a:prstGeom>
          <a:noFill/>
          <a:ln/>
        </p:spPr>
        <p:txBody>
          <a:bodyPr wrap="square" lIns="0" tIns="0" rIns="0" bIns="0" rtlCol="0" anchor="ctr"/>
          <a:lstStyle/>
          <a:p>
            <a:pPr marL="0" indent="0">
              <a:buNone/>
            </a:pPr>
            <a:r>
              <a:rPr lang="en-US" sz="1200" b="1" dirty="0">
                <a:solidFill>
                  <a:srgbClr val="1C6E7A"/>
                </a:solidFill>
              </a:rPr>
              <a:t>Firm</a:t>
            </a:r>
            <a:endParaRPr lang="en-US" sz="1200" dirty="0"/>
          </a:p>
        </p:txBody>
      </p:sp>
      <p:sp>
        <p:nvSpPr>
          <p:cNvPr id="38" name="Text 36"/>
          <p:cNvSpPr/>
          <p:nvPr/>
        </p:nvSpPr>
        <p:spPr>
          <a:xfrm>
            <a:off x="5230368" y="2916936"/>
            <a:ext cx="3474720" cy="256032"/>
          </a:xfrm>
          <a:prstGeom prst="rect">
            <a:avLst/>
          </a:prstGeom>
          <a:noFill/>
          <a:ln/>
        </p:spPr>
        <p:txBody>
          <a:bodyPr wrap="square" lIns="0" tIns="0" rIns="0" bIns="0" rtlCol="0" anchor="ctr"/>
          <a:lstStyle/>
          <a:p>
            <a:pPr marL="0" indent="0">
              <a:buNone/>
            </a:pPr>
            <a:r>
              <a:rPr lang="en-US" sz="1100" dirty="0">
                <a:solidFill>
                  <a:srgbClr val="2C5F6A"/>
                </a:solidFill>
              </a:rPr>
              <a:t>2+ workouts short of goal</a:t>
            </a:r>
            <a:endParaRPr lang="en-US" sz="1100" dirty="0"/>
          </a:p>
        </p:txBody>
      </p:sp>
      <p:sp>
        <p:nvSpPr>
          <p:cNvPr id="39" name="Shape 37"/>
          <p:cNvSpPr/>
          <p:nvPr/>
        </p:nvSpPr>
        <p:spPr>
          <a:xfrm>
            <a:off x="4663440" y="3319272"/>
            <a:ext cx="4114800" cy="603504"/>
          </a:xfrm>
          <a:prstGeom prst="rect">
            <a:avLst/>
          </a:prstGeom>
          <a:solidFill>
            <a:srgbClr val="FFFFFF"/>
          </a:solidFill>
          <a:ln w="10160">
            <a:solidFill>
              <a:srgbClr val="C5E0E5"/>
            </a:solidFill>
            <a:prstDash val="solid"/>
          </a:ln>
          <a:effectLst>
            <a:outerShdw blurRad="101600" dist="38100" dir="8100000" algn="bl" rotWithShape="0">
              <a:srgbClr val="000000">
                <a:alpha val="10000"/>
              </a:srgbClr>
            </a:outerShdw>
          </a:effectLst>
        </p:spPr>
        <p:txBody>
          <a:bodyPr/>
          <a:lstStyle/>
          <a:p>
            <a:endParaRPr lang="en-US"/>
          </a:p>
        </p:txBody>
      </p:sp>
      <p:sp>
        <p:nvSpPr>
          <p:cNvPr id="40" name="Shape 38"/>
          <p:cNvSpPr/>
          <p:nvPr/>
        </p:nvSpPr>
        <p:spPr>
          <a:xfrm>
            <a:off x="4663440" y="3319272"/>
            <a:ext cx="64008" cy="603504"/>
          </a:xfrm>
          <a:prstGeom prst="rect">
            <a:avLst/>
          </a:prstGeom>
          <a:solidFill>
            <a:srgbClr val="B85042"/>
          </a:solidFill>
          <a:ln/>
        </p:spPr>
        <p:txBody>
          <a:bodyPr/>
          <a:lstStyle/>
          <a:p>
            <a:endParaRPr lang="en-US"/>
          </a:p>
        </p:txBody>
      </p:sp>
      <p:sp>
        <p:nvSpPr>
          <p:cNvPr id="41" name="Text 39"/>
          <p:cNvSpPr/>
          <p:nvPr/>
        </p:nvSpPr>
        <p:spPr>
          <a:xfrm>
            <a:off x="4736592" y="3319272"/>
            <a:ext cx="457200" cy="603504"/>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42" name="Text 40"/>
          <p:cNvSpPr/>
          <p:nvPr/>
        </p:nvSpPr>
        <p:spPr>
          <a:xfrm>
            <a:off x="5230368" y="3355848"/>
            <a:ext cx="1828800" cy="256032"/>
          </a:xfrm>
          <a:prstGeom prst="rect">
            <a:avLst/>
          </a:prstGeom>
          <a:noFill/>
          <a:ln/>
        </p:spPr>
        <p:txBody>
          <a:bodyPr wrap="square" lIns="0" tIns="0" rIns="0" bIns="0" rtlCol="0" anchor="ctr"/>
          <a:lstStyle/>
          <a:p>
            <a:pPr marL="0" indent="0">
              <a:buNone/>
            </a:pPr>
            <a:r>
              <a:rPr lang="en-US" sz="1200" b="1" dirty="0">
                <a:solidFill>
                  <a:srgbClr val="B85042"/>
                </a:solidFill>
              </a:rPr>
              <a:t>Berating</a:t>
            </a:r>
            <a:endParaRPr lang="en-US" sz="1200" dirty="0"/>
          </a:p>
        </p:txBody>
      </p:sp>
      <p:sp>
        <p:nvSpPr>
          <p:cNvPr id="43" name="Text 41"/>
          <p:cNvSpPr/>
          <p:nvPr/>
        </p:nvSpPr>
        <p:spPr>
          <a:xfrm>
            <a:off x="5230368" y="3621024"/>
            <a:ext cx="3474720" cy="256032"/>
          </a:xfrm>
          <a:prstGeom prst="rect">
            <a:avLst/>
          </a:prstGeom>
          <a:noFill/>
          <a:ln/>
        </p:spPr>
        <p:txBody>
          <a:bodyPr wrap="square" lIns="0" tIns="0" rIns="0" bIns="0" rtlCol="0" anchor="ctr"/>
          <a:lstStyle/>
          <a:p>
            <a:pPr marL="0" indent="0">
              <a:buNone/>
            </a:pPr>
            <a:r>
              <a:rPr lang="en-US" sz="1100" dirty="0">
                <a:solidFill>
                  <a:srgbClr val="2C5F6A"/>
                </a:solidFill>
              </a:rPr>
              <a:t>4+ days with no workout</a:t>
            </a:r>
            <a:endParaRPr lang="en-US" sz="1100" dirty="0"/>
          </a:p>
        </p:txBody>
      </p:sp>
      <p:sp>
        <p:nvSpPr>
          <p:cNvPr id="44" name="Shape 42"/>
          <p:cNvSpPr/>
          <p:nvPr/>
        </p:nvSpPr>
        <p:spPr>
          <a:xfrm>
            <a:off x="4663440" y="4023360"/>
            <a:ext cx="4114800" cy="603504"/>
          </a:xfrm>
          <a:prstGeom prst="rect">
            <a:avLst/>
          </a:prstGeom>
          <a:solidFill>
            <a:srgbClr val="FFFFFF"/>
          </a:solidFill>
          <a:ln w="10160">
            <a:solidFill>
              <a:srgbClr val="C5E0E5"/>
            </a:solidFill>
            <a:prstDash val="solid"/>
          </a:ln>
          <a:effectLst>
            <a:outerShdw blurRad="101600" dist="38100" dir="8100000" algn="bl" rotWithShape="0">
              <a:srgbClr val="000000">
                <a:alpha val="10000"/>
              </a:srgbClr>
            </a:outerShdw>
          </a:effectLst>
        </p:spPr>
        <p:txBody>
          <a:bodyPr/>
          <a:lstStyle/>
          <a:p>
            <a:endParaRPr lang="en-US"/>
          </a:p>
        </p:txBody>
      </p:sp>
      <p:sp>
        <p:nvSpPr>
          <p:cNvPr id="45" name="Shape 43"/>
          <p:cNvSpPr/>
          <p:nvPr/>
        </p:nvSpPr>
        <p:spPr>
          <a:xfrm>
            <a:off x="4663440" y="4023360"/>
            <a:ext cx="64008" cy="603504"/>
          </a:xfrm>
          <a:prstGeom prst="rect">
            <a:avLst/>
          </a:prstGeom>
          <a:solidFill>
            <a:srgbClr val="7A9EA5"/>
          </a:solidFill>
          <a:ln/>
        </p:spPr>
        <p:txBody>
          <a:bodyPr/>
          <a:lstStyle/>
          <a:p>
            <a:endParaRPr lang="en-US"/>
          </a:p>
        </p:txBody>
      </p:sp>
      <p:sp>
        <p:nvSpPr>
          <p:cNvPr id="46" name="Text 44"/>
          <p:cNvSpPr/>
          <p:nvPr/>
        </p:nvSpPr>
        <p:spPr>
          <a:xfrm>
            <a:off x="4736592" y="4023360"/>
            <a:ext cx="457200" cy="603504"/>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47" name="Text 45"/>
          <p:cNvSpPr/>
          <p:nvPr/>
        </p:nvSpPr>
        <p:spPr>
          <a:xfrm>
            <a:off x="5230368" y="4059936"/>
            <a:ext cx="1828800" cy="256032"/>
          </a:xfrm>
          <a:prstGeom prst="rect">
            <a:avLst/>
          </a:prstGeom>
          <a:noFill/>
          <a:ln/>
        </p:spPr>
        <p:txBody>
          <a:bodyPr wrap="square" lIns="0" tIns="0" rIns="0" bIns="0" rtlCol="0" anchor="ctr"/>
          <a:lstStyle/>
          <a:p>
            <a:pPr marL="0" indent="0">
              <a:buNone/>
            </a:pPr>
            <a:r>
              <a:rPr lang="en-US" sz="1200" b="1" dirty="0">
                <a:solidFill>
                  <a:srgbClr val="7A9EA5"/>
                </a:solidFill>
              </a:rPr>
              <a:t>Gentle prompt</a:t>
            </a:r>
            <a:endParaRPr lang="en-US" sz="1200" dirty="0"/>
          </a:p>
        </p:txBody>
      </p:sp>
      <p:sp>
        <p:nvSpPr>
          <p:cNvPr id="48" name="Text 46"/>
          <p:cNvSpPr/>
          <p:nvPr/>
        </p:nvSpPr>
        <p:spPr>
          <a:xfrm>
            <a:off x="5230368" y="4325112"/>
            <a:ext cx="3474720" cy="256032"/>
          </a:xfrm>
          <a:prstGeom prst="rect">
            <a:avLst/>
          </a:prstGeom>
          <a:noFill/>
          <a:ln/>
        </p:spPr>
        <p:txBody>
          <a:bodyPr wrap="square" lIns="0" tIns="0" rIns="0" bIns="0" rtlCol="0" anchor="ctr"/>
          <a:lstStyle/>
          <a:p>
            <a:pPr marL="0" indent="0">
              <a:buNone/>
            </a:pPr>
            <a:r>
              <a:rPr lang="en-US" sz="1100" dirty="0">
                <a:solidFill>
                  <a:srgbClr val="2C5F6A"/>
                </a:solidFill>
              </a:rPr>
              <a:t>No workout goal set yet</a:t>
            </a:r>
            <a:endParaRPr lang="en-US" sz="1100" dirty="0"/>
          </a:p>
        </p:txBody>
      </p:sp>
      <p:sp>
        <p:nvSpPr>
          <p:cNvPr id="49" name="Shape 47"/>
          <p:cNvSpPr/>
          <p:nvPr/>
        </p:nvSpPr>
        <p:spPr>
          <a:xfrm>
            <a:off x="320040" y="4681728"/>
            <a:ext cx="8503920" cy="347472"/>
          </a:xfrm>
          <a:prstGeom prst="rect">
            <a:avLst/>
          </a:prstGeom>
          <a:solidFill>
            <a:srgbClr val="0A2A2F"/>
          </a:solidFill>
          <a:ln/>
        </p:spPr>
        <p:txBody>
          <a:bodyPr/>
          <a:lstStyle/>
          <a:p>
            <a:endParaRPr lang="en-US"/>
          </a:p>
        </p:txBody>
      </p:sp>
      <p:sp>
        <p:nvSpPr>
          <p:cNvPr id="50" name="Text 48"/>
          <p:cNvSpPr/>
          <p:nvPr/>
        </p:nvSpPr>
        <p:spPr>
          <a:xfrm>
            <a:off x="457200" y="4681728"/>
            <a:ext cx="8229600" cy="347472"/>
          </a:xfrm>
          <a:prstGeom prst="rect">
            <a:avLst/>
          </a:prstGeom>
          <a:noFill/>
          <a:ln/>
        </p:spPr>
        <p:txBody>
          <a:bodyPr wrap="square" lIns="0" tIns="0" rIns="0" bIns="0" rtlCol="0" anchor="ctr"/>
          <a:lstStyle/>
          <a:p>
            <a:pPr marL="0" indent="0">
              <a:buNone/>
            </a:pPr>
            <a:r>
              <a:rPr lang="en-US" sz="1200" i="1" dirty="0">
                <a:solidFill>
                  <a:srgbClr val="02C39A"/>
                </a:solidFill>
              </a:rPr>
              <a:t>"Hey! It's been 4 days since your last workout... the weights are getting dusty. How did the meals go?"</a:t>
            </a:r>
            <a:endParaRPr lang="en-US" sz="1200" dirty="0"/>
          </a:p>
        </p:txBody>
      </p:sp>
      <p:pic>
        <p:nvPicPr>
          <p:cNvPr id="85" name="Audio 84">
            <a:extLst>
              <a:ext uri="{FF2B5EF4-FFF2-40B4-BE49-F238E27FC236}">
                <a16:creationId xmlns:a16="http://schemas.microsoft.com/office/drawing/2014/main" id="{A784AE93-94A1-5395-C966-7A6BA0F01AE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4578"/>
    </mc:Choice>
    <mc:Fallback xmlns="">
      <p:transition spd="slow" advTm="345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5"/>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A2F"/>
          </a:solidFill>
          <a:ln/>
        </p:spPr>
        <p:txBody>
          <a:bodyPr/>
          <a:lstStyle/>
          <a:p>
            <a:endParaRPr lang="en-US"/>
          </a:p>
        </p:txBody>
      </p:sp>
      <p:sp>
        <p:nvSpPr>
          <p:cNvPr id="3" name="Text 1"/>
          <p:cNvSpPr/>
          <p:nvPr/>
        </p:nvSpPr>
        <p:spPr>
          <a:xfrm>
            <a:off x="457200" y="0"/>
            <a:ext cx="8229600" cy="640080"/>
          </a:xfrm>
          <a:prstGeom prst="rect">
            <a:avLst/>
          </a:prstGeom>
          <a:noFill/>
          <a:ln/>
        </p:spPr>
        <p:txBody>
          <a:bodyPr wrap="square" lIns="0" tIns="0" rIns="0" bIns="0" rtlCol="0" anchor="ctr"/>
          <a:lstStyle/>
          <a:p>
            <a:pPr marL="0" indent="0">
              <a:buNone/>
            </a:pPr>
            <a:r>
              <a:rPr lang="en-US" sz="2200" b="1" dirty="0">
                <a:solidFill>
                  <a:srgbClr val="FFFFFF"/>
                </a:solidFill>
              </a:rPr>
              <a:t>What I Built &amp; What I Learned</a:t>
            </a:r>
            <a:endParaRPr lang="en-US" sz="2200" dirty="0"/>
          </a:p>
        </p:txBody>
      </p:sp>
      <p:sp>
        <p:nvSpPr>
          <p:cNvPr id="4" name="Shape 2"/>
          <p:cNvSpPr/>
          <p:nvPr/>
        </p:nvSpPr>
        <p:spPr>
          <a:xfrm>
            <a:off x="320040" y="749808"/>
            <a:ext cx="1920240" cy="1325880"/>
          </a:xfrm>
          <a:prstGeom prst="rect">
            <a:avLst/>
          </a:prstGeom>
          <a:solidFill>
            <a:srgbClr val="028090"/>
          </a:solidFill>
          <a:ln/>
          <a:effectLst>
            <a:outerShdw blurRad="101600" dist="38100" dir="8100000" algn="bl" rotWithShape="0">
              <a:srgbClr val="000000">
                <a:alpha val="10000"/>
              </a:srgbClr>
            </a:outerShdw>
          </a:effectLst>
        </p:spPr>
        <p:txBody>
          <a:bodyPr/>
          <a:lstStyle/>
          <a:p>
            <a:endParaRPr lang="en-US"/>
          </a:p>
        </p:txBody>
      </p:sp>
      <p:sp>
        <p:nvSpPr>
          <p:cNvPr id="5" name="Text 3"/>
          <p:cNvSpPr/>
          <p:nvPr/>
        </p:nvSpPr>
        <p:spPr>
          <a:xfrm>
            <a:off x="320040" y="804672"/>
            <a:ext cx="1920240" cy="685800"/>
          </a:xfrm>
          <a:prstGeom prst="rect">
            <a:avLst/>
          </a:prstGeom>
          <a:noFill/>
          <a:ln/>
        </p:spPr>
        <p:txBody>
          <a:bodyPr wrap="square"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7</a:t>
            </a:r>
            <a:endParaRPr lang="en-US" sz="5200" dirty="0"/>
          </a:p>
        </p:txBody>
      </p:sp>
      <p:sp>
        <p:nvSpPr>
          <p:cNvPr id="6" name="Text 4"/>
          <p:cNvSpPr/>
          <p:nvPr/>
        </p:nvSpPr>
        <p:spPr>
          <a:xfrm>
            <a:off x="320040" y="1444752"/>
            <a:ext cx="1920240" cy="566928"/>
          </a:xfrm>
          <a:prstGeom prst="rect">
            <a:avLst/>
          </a:prstGeom>
          <a:noFill/>
          <a:ln/>
        </p:spPr>
        <p:txBody>
          <a:bodyPr wrap="square" rtlCol="0" anchor="ctr"/>
          <a:lstStyle/>
          <a:p>
            <a:pPr marL="0" indent="0" algn="ctr">
              <a:buNone/>
            </a:pPr>
            <a:r>
              <a:rPr lang="en-US" sz="1200" dirty="0">
                <a:solidFill>
                  <a:srgbClr val="C8EAEF"/>
                </a:solidFill>
              </a:rPr>
              <a:t>tools the LLM</a:t>
            </a:r>
            <a:endParaRPr lang="en-US" sz="1200" dirty="0"/>
          </a:p>
          <a:p>
            <a:pPr marL="0" indent="0" algn="ctr">
              <a:buNone/>
            </a:pPr>
            <a:r>
              <a:rPr lang="en-US" sz="1200" dirty="0">
                <a:solidFill>
                  <a:srgbClr val="C8EAEF"/>
                </a:solidFill>
              </a:rPr>
              <a:t>can call</a:t>
            </a:r>
            <a:endParaRPr lang="en-US" sz="1200" dirty="0"/>
          </a:p>
        </p:txBody>
      </p:sp>
      <p:sp>
        <p:nvSpPr>
          <p:cNvPr id="7" name="Shape 5"/>
          <p:cNvSpPr/>
          <p:nvPr/>
        </p:nvSpPr>
        <p:spPr>
          <a:xfrm>
            <a:off x="2468880" y="749808"/>
            <a:ext cx="1920240" cy="1325880"/>
          </a:xfrm>
          <a:prstGeom prst="rect">
            <a:avLst/>
          </a:prstGeom>
          <a:solidFill>
            <a:srgbClr val="1C6E7A"/>
          </a:solidFill>
          <a:ln/>
          <a:effectLst>
            <a:outerShdw blurRad="101600" dist="38100" dir="8100000" algn="bl" rotWithShape="0">
              <a:srgbClr val="000000">
                <a:alpha val="10000"/>
              </a:srgbClr>
            </a:outerShdw>
          </a:effectLst>
        </p:spPr>
        <p:txBody>
          <a:bodyPr/>
          <a:lstStyle/>
          <a:p>
            <a:endParaRPr lang="en-US"/>
          </a:p>
        </p:txBody>
      </p:sp>
      <p:sp>
        <p:nvSpPr>
          <p:cNvPr id="8" name="Text 6"/>
          <p:cNvSpPr/>
          <p:nvPr/>
        </p:nvSpPr>
        <p:spPr>
          <a:xfrm>
            <a:off x="2468880" y="804672"/>
            <a:ext cx="1920240" cy="685800"/>
          </a:xfrm>
          <a:prstGeom prst="rect">
            <a:avLst/>
          </a:prstGeom>
          <a:noFill/>
          <a:ln/>
        </p:spPr>
        <p:txBody>
          <a:bodyPr wrap="square"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20</a:t>
            </a:r>
            <a:endParaRPr lang="en-US" sz="5200" dirty="0"/>
          </a:p>
        </p:txBody>
      </p:sp>
      <p:sp>
        <p:nvSpPr>
          <p:cNvPr id="9" name="Text 7"/>
          <p:cNvSpPr/>
          <p:nvPr/>
        </p:nvSpPr>
        <p:spPr>
          <a:xfrm>
            <a:off x="2468880" y="1444752"/>
            <a:ext cx="1920240" cy="566928"/>
          </a:xfrm>
          <a:prstGeom prst="rect">
            <a:avLst/>
          </a:prstGeom>
          <a:noFill/>
          <a:ln/>
        </p:spPr>
        <p:txBody>
          <a:bodyPr wrap="square" rtlCol="0" anchor="ctr"/>
          <a:lstStyle/>
          <a:p>
            <a:pPr marL="0" indent="0" algn="ctr">
              <a:buNone/>
            </a:pPr>
            <a:r>
              <a:rPr lang="en-US" sz="1200" dirty="0">
                <a:solidFill>
                  <a:srgbClr val="C8EAEF"/>
                </a:solidFill>
              </a:rPr>
              <a:t>nutrition KB</a:t>
            </a:r>
            <a:endParaRPr lang="en-US" sz="1200" dirty="0"/>
          </a:p>
          <a:p>
            <a:pPr marL="0" indent="0" algn="ctr">
              <a:buNone/>
            </a:pPr>
            <a:r>
              <a:rPr lang="en-US" sz="1200" dirty="0">
                <a:solidFill>
                  <a:srgbClr val="C8EAEF"/>
                </a:solidFill>
              </a:rPr>
              <a:t>entries (RAG)</a:t>
            </a:r>
            <a:endParaRPr lang="en-US" sz="1200" dirty="0"/>
          </a:p>
        </p:txBody>
      </p:sp>
      <p:sp>
        <p:nvSpPr>
          <p:cNvPr id="10" name="Shape 8"/>
          <p:cNvSpPr/>
          <p:nvPr/>
        </p:nvSpPr>
        <p:spPr>
          <a:xfrm>
            <a:off x="4617720" y="749808"/>
            <a:ext cx="1920240" cy="1325880"/>
          </a:xfrm>
          <a:prstGeom prst="rect">
            <a:avLst/>
          </a:prstGeom>
          <a:solidFill>
            <a:srgbClr val="028090"/>
          </a:solidFill>
          <a:ln/>
          <a:effectLst>
            <a:outerShdw blurRad="101600" dist="38100" dir="8100000" algn="bl" rotWithShape="0">
              <a:srgbClr val="000000">
                <a:alpha val="10000"/>
              </a:srgbClr>
            </a:outerShdw>
          </a:effectLst>
        </p:spPr>
        <p:txBody>
          <a:bodyPr/>
          <a:lstStyle/>
          <a:p>
            <a:endParaRPr lang="en-US"/>
          </a:p>
        </p:txBody>
      </p:sp>
      <p:sp>
        <p:nvSpPr>
          <p:cNvPr id="11" name="Text 9"/>
          <p:cNvSpPr/>
          <p:nvPr/>
        </p:nvSpPr>
        <p:spPr>
          <a:xfrm>
            <a:off x="4617720" y="804672"/>
            <a:ext cx="1920240" cy="685800"/>
          </a:xfrm>
          <a:prstGeom prst="rect">
            <a:avLst/>
          </a:prstGeom>
          <a:noFill/>
          <a:ln/>
        </p:spPr>
        <p:txBody>
          <a:bodyPr wrap="square"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4</a:t>
            </a:r>
            <a:endParaRPr lang="en-US" sz="5200" dirty="0"/>
          </a:p>
        </p:txBody>
      </p:sp>
      <p:sp>
        <p:nvSpPr>
          <p:cNvPr id="12" name="Text 10"/>
          <p:cNvSpPr/>
          <p:nvPr/>
        </p:nvSpPr>
        <p:spPr>
          <a:xfrm>
            <a:off x="4617720" y="1444752"/>
            <a:ext cx="1920240" cy="566928"/>
          </a:xfrm>
          <a:prstGeom prst="rect">
            <a:avLst/>
          </a:prstGeom>
          <a:noFill/>
          <a:ln/>
        </p:spPr>
        <p:txBody>
          <a:bodyPr wrap="square" rtlCol="0" anchor="ctr"/>
          <a:lstStyle/>
          <a:p>
            <a:pPr marL="0" indent="0" algn="ctr">
              <a:buNone/>
            </a:pPr>
            <a:r>
              <a:rPr lang="en-US" sz="1200" dirty="0">
                <a:solidFill>
                  <a:srgbClr val="C8EAEF"/>
                </a:solidFill>
              </a:rPr>
              <a:t>syllabus techniques</a:t>
            </a:r>
            <a:endParaRPr lang="en-US" sz="1200" dirty="0"/>
          </a:p>
          <a:p>
            <a:pPr marL="0" indent="0" algn="ctr">
              <a:buNone/>
            </a:pPr>
            <a:r>
              <a:rPr lang="en-US" sz="1200" dirty="0">
                <a:solidFill>
                  <a:srgbClr val="C8EAEF"/>
                </a:solidFill>
              </a:rPr>
              <a:t>implemented</a:t>
            </a:r>
            <a:endParaRPr lang="en-US" sz="1200" dirty="0"/>
          </a:p>
        </p:txBody>
      </p:sp>
      <p:sp>
        <p:nvSpPr>
          <p:cNvPr id="13" name="Shape 11"/>
          <p:cNvSpPr/>
          <p:nvPr/>
        </p:nvSpPr>
        <p:spPr>
          <a:xfrm>
            <a:off x="6766560" y="749808"/>
            <a:ext cx="1920240" cy="1325880"/>
          </a:xfrm>
          <a:prstGeom prst="rect">
            <a:avLst/>
          </a:prstGeom>
          <a:solidFill>
            <a:srgbClr val="1C6E7A"/>
          </a:solidFill>
          <a:ln/>
          <a:effectLst>
            <a:outerShdw blurRad="101600" dist="38100" dir="8100000" algn="bl" rotWithShape="0">
              <a:srgbClr val="000000">
                <a:alpha val="10000"/>
              </a:srgbClr>
            </a:outerShdw>
          </a:effectLst>
        </p:spPr>
        <p:txBody>
          <a:bodyPr/>
          <a:lstStyle/>
          <a:p>
            <a:endParaRPr lang="en-US"/>
          </a:p>
        </p:txBody>
      </p:sp>
      <p:sp>
        <p:nvSpPr>
          <p:cNvPr id="14" name="Text 12"/>
          <p:cNvSpPr/>
          <p:nvPr/>
        </p:nvSpPr>
        <p:spPr>
          <a:xfrm>
            <a:off x="6766560" y="804672"/>
            <a:ext cx="1920240" cy="685800"/>
          </a:xfrm>
          <a:prstGeom prst="rect">
            <a:avLst/>
          </a:prstGeom>
          <a:noFill/>
          <a:ln/>
        </p:spPr>
        <p:txBody>
          <a:bodyPr wrap="square"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5</a:t>
            </a:r>
            <a:endParaRPr lang="en-US" sz="5200" dirty="0"/>
          </a:p>
        </p:txBody>
      </p:sp>
      <p:sp>
        <p:nvSpPr>
          <p:cNvPr id="15" name="Text 13"/>
          <p:cNvSpPr/>
          <p:nvPr/>
        </p:nvSpPr>
        <p:spPr>
          <a:xfrm>
            <a:off x="6766560" y="1444752"/>
            <a:ext cx="1920240" cy="566928"/>
          </a:xfrm>
          <a:prstGeom prst="rect">
            <a:avLst/>
          </a:prstGeom>
          <a:noFill/>
          <a:ln/>
        </p:spPr>
        <p:txBody>
          <a:bodyPr wrap="square" rtlCol="0" anchor="ctr"/>
          <a:lstStyle/>
          <a:p>
            <a:pPr marL="0" indent="0" algn="ctr">
              <a:buNone/>
            </a:pPr>
            <a:r>
              <a:rPr lang="en-US" sz="1200" dirty="0">
                <a:solidFill>
                  <a:srgbClr val="C8EAEF"/>
                </a:solidFill>
              </a:rPr>
              <a:t>coaching</a:t>
            </a:r>
            <a:endParaRPr lang="en-US" sz="1200" dirty="0"/>
          </a:p>
          <a:p>
            <a:pPr marL="0" indent="0" algn="ctr">
              <a:buNone/>
            </a:pPr>
            <a:r>
              <a:rPr lang="en-US" sz="1200" dirty="0">
                <a:solidFill>
                  <a:srgbClr val="C8EAEF"/>
                </a:solidFill>
              </a:rPr>
              <a:t>tones</a:t>
            </a:r>
            <a:endParaRPr lang="en-US" sz="1200" dirty="0"/>
          </a:p>
        </p:txBody>
      </p:sp>
      <p:sp>
        <p:nvSpPr>
          <p:cNvPr id="16" name="Text 14"/>
          <p:cNvSpPr/>
          <p:nvPr/>
        </p:nvSpPr>
        <p:spPr>
          <a:xfrm>
            <a:off x="320040" y="2212848"/>
            <a:ext cx="4114800" cy="292608"/>
          </a:xfrm>
          <a:prstGeom prst="rect">
            <a:avLst/>
          </a:prstGeom>
          <a:noFill/>
          <a:ln/>
        </p:spPr>
        <p:txBody>
          <a:bodyPr wrap="square" rtlCol="0" anchor="ctr"/>
          <a:lstStyle/>
          <a:p>
            <a:pPr marL="0" indent="0">
              <a:buNone/>
            </a:pPr>
            <a:r>
              <a:rPr lang="en-US" sz="1300" b="1" dirty="0">
                <a:solidFill>
                  <a:srgbClr val="0A2A2F"/>
                </a:solidFill>
              </a:rPr>
              <a:t>The pipeline ran end-to-end</a:t>
            </a:r>
            <a:endParaRPr lang="en-US" sz="1300" dirty="0"/>
          </a:p>
        </p:txBody>
      </p:sp>
      <p:sp>
        <p:nvSpPr>
          <p:cNvPr id="17" name="Shape 15"/>
          <p:cNvSpPr/>
          <p:nvPr/>
        </p:nvSpPr>
        <p:spPr>
          <a:xfrm>
            <a:off x="347472" y="2642616"/>
            <a:ext cx="164592" cy="164592"/>
          </a:xfrm>
          <a:prstGeom prst="ellipse">
            <a:avLst/>
          </a:prstGeom>
          <a:solidFill>
            <a:srgbClr val="02C39A"/>
          </a:solidFill>
          <a:ln/>
        </p:spPr>
        <p:txBody>
          <a:bodyPr/>
          <a:lstStyle/>
          <a:p>
            <a:endParaRPr lang="en-US"/>
          </a:p>
        </p:txBody>
      </p:sp>
      <p:sp>
        <p:nvSpPr>
          <p:cNvPr id="18" name="Text 16"/>
          <p:cNvSpPr/>
          <p:nvPr/>
        </p:nvSpPr>
        <p:spPr>
          <a:xfrm>
            <a:off x="594360" y="2578608"/>
            <a:ext cx="3703320" cy="347472"/>
          </a:xfrm>
          <a:prstGeom prst="rect">
            <a:avLst/>
          </a:prstGeom>
          <a:noFill/>
          <a:ln/>
        </p:spPr>
        <p:txBody>
          <a:bodyPr wrap="square" rtlCol="0" anchor="ctr"/>
          <a:lstStyle/>
          <a:p>
            <a:pPr marL="0" indent="0">
              <a:buNone/>
            </a:pPr>
            <a:r>
              <a:rPr lang="en-US" sz="1200" dirty="0">
                <a:solidFill>
                  <a:srgbClr val="2C5F6A"/>
                </a:solidFill>
              </a:rPr>
              <a:t>RAG retrieves before planning, not just prompting blindly</a:t>
            </a:r>
            <a:endParaRPr lang="en-US" sz="1200" dirty="0"/>
          </a:p>
        </p:txBody>
      </p:sp>
      <p:sp>
        <p:nvSpPr>
          <p:cNvPr id="19" name="Shape 17"/>
          <p:cNvSpPr/>
          <p:nvPr/>
        </p:nvSpPr>
        <p:spPr>
          <a:xfrm>
            <a:off x="347472" y="3026664"/>
            <a:ext cx="164592" cy="164592"/>
          </a:xfrm>
          <a:prstGeom prst="ellipse">
            <a:avLst/>
          </a:prstGeom>
          <a:solidFill>
            <a:srgbClr val="02C39A"/>
          </a:solidFill>
          <a:ln/>
        </p:spPr>
        <p:txBody>
          <a:bodyPr/>
          <a:lstStyle/>
          <a:p>
            <a:endParaRPr lang="en-US"/>
          </a:p>
        </p:txBody>
      </p:sp>
      <p:sp>
        <p:nvSpPr>
          <p:cNvPr id="20" name="Text 18"/>
          <p:cNvSpPr/>
          <p:nvPr/>
        </p:nvSpPr>
        <p:spPr>
          <a:xfrm>
            <a:off x="594360" y="2962656"/>
            <a:ext cx="3703320" cy="347472"/>
          </a:xfrm>
          <a:prstGeom prst="rect">
            <a:avLst/>
          </a:prstGeom>
          <a:noFill/>
          <a:ln/>
        </p:spPr>
        <p:txBody>
          <a:bodyPr wrap="square" rtlCol="0" anchor="ctr"/>
          <a:lstStyle/>
          <a:p>
            <a:pPr marL="0" indent="0">
              <a:buNone/>
            </a:pPr>
            <a:r>
              <a:rPr lang="en-US" sz="1200" dirty="0">
                <a:solidFill>
                  <a:srgbClr val="2C5F6A"/>
                </a:solidFill>
              </a:rPr>
              <a:t>CoT forces explicit reasoning before the plan is written</a:t>
            </a:r>
            <a:endParaRPr lang="en-US" sz="1200" dirty="0"/>
          </a:p>
        </p:txBody>
      </p:sp>
      <p:sp>
        <p:nvSpPr>
          <p:cNvPr id="21" name="Shape 19"/>
          <p:cNvSpPr/>
          <p:nvPr/>
        </p:nvSpPr>
        <p:spPr>
          <a:xfrm>
            <a:off x="347472" y="3410712"/>
            <a:ext cx="164592" cy="164592"/>
          </a:xfrm>
          <a:prstGeom prst="ellipse">
            <a:avLst/>
          </a:prstGeom>
          <a:solidFill>
            <a:srgbClr val="02C39A"/>
          </a:solidFill>
          <a:ln/>
        </p:spPr>
        <p:txBody>
          <a:bodyPr/>
          <a:lstStyle/>
          <a:p>
            <a:endParaRPr lang="en-US"/>
          </a:p>
        </p:txBody>
      </p:sp>
      <p:sp>
        <p:nvSpPr>
          <p:cNvPr id="22" name="Text 20"/>
          <p:cNvSpPr/>
          <p:nvPr/>
        </p:nvSpPr>
        <p:spPr>
          <a:xfrm>
            <a:off x="594360" y="3346704"/>
            <a:ext cx="3703320" cy="347472"/>
          </a:xfrm>
          <a:prstGeom prst="rect">
            <a:avLst/>
          </a:prstGeom>
          <a:noFill/>
          <a:ln/>
        </p:spPr>
        <p:txBody>
          <a:bodyPr wrap="square" rtlCol="0" anchor="ctr"/>
          <a:lstStyle/>
          <a:p>
            <a:pPr marL="0" indent="0">
              <a:buNone/>
            </a:pPr>
            <a:r>
              <a:rPr lang="en-US" sz="1200" dirty="0">
                <a:solidFill>
                  <a:srgbClr val="2C5F6A"/>
                </a:solidFill>
              </a:rPr>
              <a:t>Self-Refine catches and fixes problems in the first draft</a:t>
            </a:r>
            <a:endParaRPr lang="en-US" sz="1200" dirty="0"/>
          </a:p>
        </p:txBody>
      </p:sp>
      <p:sp>
        <p:nvSpPr>
          <p:cNvPr id="23" name="Shape 21"/>
          <p:cNvSpPr/>
          <p:nvPr/>
        </p:nvSpPr>
        <p:spPr>
          <a:xfrm>
            <a:off x="347472" y="3794760"/>
            <a:ext cx="164592" cy="164592"/>
          </a:xfrm>
          <a:prstGeom prst="ellipse">
            <a:avLst/>
          </a:prstGeom>
          <a:solidFill>
            <a:srgbClr val="02C39A"/>
          </a:solidFill>
          <a:ln/>
        </p:spPr>
        <p:txBody>
          <a:bodyPr/>
          <a:lstStyle/>
          <a:p>
            <a:endParaRPr lang="en-US"/>
          </a:p>
        </p:txBody>
      </p:sp>
      <p:sp>
        <p:nvSpPr>
          <p:cNvPr id="24" name="Text 22"/>
          <p:cNvSpPr/>
          <p:nvPr/>
        </p:nvSpPr>
        <p:spPr>
          <a:xfrm>
            <a:off x="594360" y="3730752"/>
            <a:ext cx="3703320" cy="347472"/>
          </a:xfrm>
          <a:prstGeom prst="rect">
            <a:avLst/>
          </a:prstGeom>
          <a:noFill/>
          <a:ln/>
        </p:spPr>
        <p:txBody>
          <a:bodyPr wrap="square" rtlCol="0" anchor="ctr"/>
          <a:lstStyle/>
          <a:p>
            <a:pPr marL="0" indent="0">
              <a:buNone/>
            </a:pPr>
            <a:r>
              <a:rPr lang="en-US" sz="1200" dirty="0">
                <a:solidFill>
                  <a:srgbClr val="2C5F6A"/>
                </a:solidFill>
              </a:rPr>
              <a:t>Agent chains tool calls without being told to</a:t>
            </a:r>
            <a:endParaRPr lang="en-US" sz="1200" dirty="0"/>
          </a:p>
        </p:txBody>
      </p:sp>
      <p:sp>
        <p:nvSpPr>
          <p:cNvPr id="25" name="Shape 23"/>
          <p:cNvSpPr/>
          <p:nvPr/>
        </p:nvSpPr>
        <p:spPr>
          <a:xfrm>
            <a:off x="347472" y="4178808"/>
            <a:ext cx="164592" cy="164592"/>
          </a:xfrm>
          <a:prstGeom prst="ellipse">
            <a:avLst/>
          </a:prstGeom>
          <a:solidFill>
            <a:srgbClr val="02C39A"/>
          </a:solidFill>
          <a:ln/>
        </p:spPr>
        <p:txBody>
          <a:bodyPr/>
          <a:lstStyle/>
          <a:p>
            <a:endParaRPr lang="en-US"/>
          </a:p>
        </p:txBody>
      </p:sp>
      <p:sp>
        <p:nvSpPr>
          <p:cNvPr id="26" name="Text 24"/>
          <p:cNvSpPr/>
          <p:nvPr/>
        </p:nvSpPr>
        <p:spPr>
          <a:xfrm>
            <a:off x="594360" y="4114800"/>
            <a:ext cx="3703320" cy="347472"/>
          </a:xfrm>
          <a:prstGeom prst="rect">
            <a:avLst/>
          </a:prstGeom>
          <a:noFill/>
          <a:ln/>
        </p:spPr>
        <p:txBody>
          <a:bodyPr wrap="square" rtlCol="0" anchor="ctr"/>
          <a:lstStyle/>
          <a:p>
            <a:pPr marL="0" indent="0">
              <a:buNone/>
            </a:pPr>
            <a:r>
              <a:rPr lang="en-US" sz="1200" dirty="0">
                <a:solidFill>
                  <a:srgbClr val="2C5F6A"/>
                </a:solidFill>
              </a:rPr>
              <a:t>Memory persists across sessions correctly</a:t>
            </a:r>
            <a:endParaRPr lang="en-US" sz="1200" dirty="0"/>
          </a:p>
        </p:txBody>
      </p:sp>
      <p:sp>
        <p:nvSpPr>
          <p:cNvPr id="27" name="Text 25"/>
          <p:cNvSpPr/>
          <p:nvPr/>
        </p:nvSpPr>
        <p:spPr>
          <a:xfrm>
            <a:off x="4663440" y="2212848"/>
            <a:ext cx="4114800" cy="292608"/>
          </a:xfrm>
          <a:prstGeom prst="rect">
            <a:avLst/>
          </a:prstGeom>
          <a:noFill/>
          <a:ln/>
        </p:spPr>
        <p:txBody>
          <a:bodyPr wrap="square" rtlCol="0" anchor="ctr"/>
          <a:lstStyle/>
          <a:p>
            <a:pPr marL="0" indent="0">
              <a:buNone/>
            </a:pPr>
            <a:r>
              <a:rPr lang="en-US" sz="1300" b="1" dirty="0">
                <a:solidFill>
                  <a:srgbClr val="0A2A2F"/>
                </a:solidFill>
              </a:rPr>
              <a:t>What I actually learned</a:t>
            </a:r>
            <a:endParaRPr lang="en-US" sz="1300" dirty="0"/>
          </a:p>
        </p:txBody>
      </p:sp>
      <p:sp>
        <p:nvSpPr>
          <p:cNvPr id="28" name="Shape 26"/>
          <p:cNvSpPr/>
          <p:nvPr/>
        </p:nvSpPr>
        <p:spPr>
          <a:xfrm>
            <a:off x="4663440" y="2578608"/>
            <a:ext cx="4114800" cy="713232"/>
          </a:xfrm>
          <a:prstGeom prst="rect">
            <a:avLst/>
          </a:prstGeom>
          <a:solidFill>
            <a:srgbClr val="FFFFFF"/>
          </a:solidFill>
          <a:ln w="10160">
            <a:solidFill>
              <a:srgbClr val="C5E0E5"/>
            </a:solidFill>
            <a:prstDash val="solid"/>
          </a:ln>
          <a:effectLst>
            <a:outerShdw blurRad="101600" dist="38100" dir="8100000" algn="bl" rotWithShape="0">
              <a:srgbClr val="000000">
                <a:alpha val="10000"/>
              </a:srgbClr>
            </a:outerShdw>
          </a:effectLst>
        </p:spPr>
        <p:txBody>
          <a:bodyPr/>
          <a:lstStyle/>
          <a:p>
            <a:endParaRPr lang="en-US"/>
          </a:p>
        </p:txBody>
      </p:sp>
      <p:sp>
        <p:nvSpPr>
          <p:cNvPr id="29" name="Shape 27"/>
          <p:cNvSpPr/>
          <p:nvPr/>
        </p:nvSpPr>
        <p:spPr>
          <a:xfrm>
            <a:off x="4663440" y="2578608"/>
            <a:ext cx="64008" cy="713232"/>
          </a:xfrm>
          <a:prstGeom prst="rect">
            <a:avLst/>
          </a:prstGeom>
          <a:solidFill>
            <a:srgbClr val="028090"/>
          </a:solidFill>
          <a:ln/>
        </p:spPr>
        <p:txBody>
          <a:bodyPr/>
          <a:lstStyle/>
          <a:p>
            <a:endParaRPr lang="en-US"/>
          </a:p>
        </p:txBody>
      </p:sp>
      <p:sp>
        <p:nvSpPr>
          <p:cNvPr id="30" name="Text 28"/>
          <p:cNvSpPr/>
          <p:nvPr/>
        </p:nvSpPr>
        <p:spPr>
          <a:xfrm>
            <a:off x="4773168" y="2633472"/>
            <a:ext cx="914400" cy="237744"/>
          </a:xfrm>
          <a:prstGeom prst="rect">
            <a:avLst/>
          </a:prstGeom>
          <a:noFill/>
          <a:ln/>
        </p:spPr>
        <p:txBody>
          <a:bodyPr wrap="square" lIns="0" tIns="0" rIns="0" bIns="0" rtlCol="0" anchor="ctr"/>
          <a:lstStyle/>
          <a:p>
            <a:pPr marL="0" indent="0">
              <a:buNone/>
            </a:pPr>
            <a:r>
              <a:rPr lang="en-US" sz="1200" b="1" dirty="0">
                <a:solidFill>
                  <a:srgbClr val="028090"/>
                </a:solidFill>
              </a:rPr>
              <a:t>RAG</a:t>
            </a:r>
            <a:endParaRPr lang="en-US" sz="1200" dirty="0"/>
          </a:p>
        </p:txBody>
      </p:sp>
      <p:sp>
        <p:nvSpPr>
          <p:cNvPr id="31" name="Text 29"/>
          <p:cNvSpPr/>
          <p:nvPr/>
        </p:nvSpPr>
        <p:spPr>
          <a:xfrm>
            <a:off x="4773168" y="2889504"/>
            <a:ext cx="3913632" cy="365760"/>
          </a:xfrm>
          <a:prstGeom prst="rect">
            <a:avLst/>
          </a:prstGeom>
          <a:noFill/>
          <a:ln/>
        </p:spPr>
        <p:txBody>
          <a:bodyPr wrap="square" lIns="0" tIns="0" rIns="0" bIns="0" rtlCol="0" anchor="ctr"/>
          <a:lstStyle/>
          <a:p>
            <a:pPr marL="0" indent="0">
              <a:buNone/>
            </a:pPr>
            <a:r>
              <a:rPr lang="en-US" sz="1100" dirty="0">
                <a:solidFill>
                  <a:srgbClr val="2C5F6A"/>
                </a:solidFill>
              </a:rPr>
              <a:t>Choosing what to retrieve matters more than retrieval itself. A bad query returns useless context.</a:t>
            </a:r>
            <a:endParaRPr lang="en-US" sz="1100" dirty="0"/>
          </a:p>
        </p:txBody>
      </p:sp>
      <p:sp>
        <p:nvSpPr>
          <p:cNvPr id="32" name="Shape 30"/>
          <p:cNvSpPr/>
          <p:nvPr/>
        </p:nvSpPr>
        <p:spPr>
          <a:xfrm>
            <a:off x="4663440" y="3383280"/>
            <a:ext cx="4114800" cy="713232"/>
          </a:xfrm>
          <a:prstGeom prst="rect">
            <a:avLst/>
          </a:prstGeom>
          <a:solidFill>
            <a:srgbClr val="FFFFFF"/>
          </a:solidFill>
          <a:ln w="10160">
            <a:solidFill>
              <a:srgbClr val="C5E0E5"/>
            </a:solidFill>
            <a:prstDash val="solid"/>
          </a:ln>
          <a:effectLst>
            <a:outerShdw blurRad="101600" dist="38100" dir="8100000" algn="bl" rotWithShape="0">
              <a:srgbClr val="000000">
                <a:alpha val="10000"/>
              </a:srgbClr>
            </a:outerShdw>
          </a:effectLst>
        </p:spPr>
        <p:txBody>
          <a:bodyPr/>
          <a:lstStyle/>
          <a:p>
            <a:endParaRPr lang="en-US"/>
          </a:p>
        </p:txBody>
      </p:sp>
      <p:sp>
        <p:nvSpPr>
          <p:cNvPr id="33" name="Shape 31"/>
          <p:cNvSpPr/>
          <p:nvPr/>
        </p:nvSpPr>
        <p:spPr>
          <a:xfrm>
            <a:off x="4663440" y="3383280"/>
            <a:ext cx="64008" cy="713232"/>
          </a:xfrm>
          <a:prstGeom prst="rect">
            <a:avLst/>
          </a:prstGeom>
          <a:solidFill>
            <a:srgbClr val="028090"/>
          </a:solidFill>
          <a:ln/>
        </p:spPr>
        <p:txBody>
          <a:bodyPr/>
          <a:lstStyle/>
          <a:p>
            <a:endParaRPr lang="en-US"/>
          </a:p>
        </p:txBody>
      </p:sp>
      <p:sp>
        <p:nvSpPr>
          <p:cNvPr id="34" name="Text 32"/>
          <p:cNvSpPr/>
          <p:nvPr/>
        </p:nvSpPr>
        <p:spPr>
          <a:xfrm>
            <a:off x="4773168" y="3438144"/>
            <a:ext cx="914400" cy="237744"/>
          </a:xfrm>
          <a:prstGeom prst="rect">
            <a:avLst/>
          </a:prstGeom>
          <a:noFill/>
          <a:ln/>
        </p:spPr>
        <p:txBody>
          <a:bodyPr wrap="square" lIns="0" tIns="0" rIns="0" bIns="0" rtlCol="0" anchor="ctr"/>
          <a:lstStyle/>
          <a:p>
            <a:pPr marL="0" indent="0">
              <a:buNone/>
            </a:pPr>
            <a:r>
              <a:rPr lang="en-US" sz="1200" b="1" dirty="0">
                <a:solidFill>
                  <a:srgbClr val="028090"/>
                </a:solidFill>
              </a:rPr>
              <a:t>Self-Refine</a:t>
            </a:r>
            <a:endParaRPr lang="en-US" sz="1200" dirty="0"/>
          </a:p>
        </p:txBody>
      </p:sp>
      <p:sp>
        <p:nvSpPr>
          <p:cNvPr id="35" name="Text 33"/>
          <p:cNvSpPr/>
          <p:nvPr/>
        </p:nvSpPr>
        <p:spPr>
          <a:xfrm>
            <a:off x="4773168" y="3694176"/>
            <a:ext cx="3913632" cy="365760"/>
          </a:xfrm>
          <a:prstGeom prst="rect">
            <a:avLst/>
          </a:prstGeom>
          <a:noFill/>
          <a:ln/>
        </p:spPr>
        <p:txBody>
          <a:bodyPr wrap="square" lIns="0" tIns="0" rIns="0" bIns="0" rtlCol="0" anchor="ctr"/>
          <a:lstStyle/>
          <a:p>
            <a:pPr marL="0" indent="0">
              <a:buNone/>
            </a:pPr>
            <a:r>
              <a:rPr lang="en-US" sz="1100" dirty="0">
                <a:solidFill>
                  <a:srgbClr val="2C5F6A"/>
                </a:solidFill>
              </a:rPr>
              <a:t>Writing the critic prompt was harder than writing the planner. You have to define what good means explicitly.</a:t>
            </a:r>
            <a:endParaRPr lang="en-US" sz="1100" dirty="0"/>
          </a:p>
        </p:txBody>
      </p:sp>
      <p:sp>
        <p:nvSpPr>
          <p:cNvPr id="36" name="Shape 34"/>
          <p:cNvSpPr/>
          <p:nvPr/>
        </p:nvSpPr>
        <p:spPr>
          <a:xfrm>
            <a:off x="4663440" y="4187952"/>
            <a:ext cx="4114800" cy="713232"/>
          </a:xfrm>
          <a:prstGeom prst="rect">
            <a:avLst/>
          </a:prstGeom>
          <a:solidFill>
            <a:srgbClr val="FFFFFF"/>
          </a:solidFill>
          <a:ln w="10160">
            <a:solidFill>
              <a:srgbClr val="C5E0E5"/>
            </a:solidFill>
            <a:prstDash val="solid"/>
          </a:ln>
          <a:effectLst>
            <a:outerShdw blurRad="101600" dist="38100" dir="8100000" algn="bl" rotWithShape="0">
              <a:srgbClr val="000000">
                <a:alpha val="10000"/>
              </a:srgbClr>
            </a:outerShdw>
          </a:effectLst>
        </p:spPr>
        <p:txBody>
          <a:bodyPr/>
          <a:lstStyle/>
          <a:p>
            <a:endParaRPr lang="en-US"/>
          </a:p>
        </p:txBody>
      </p:sp>
      <p:sp>
        <p:nvSpPr>
          <p:cNvPr id="37" name="Shape 35"/>
          <p:cNvSpPr/>
          <p:nvPr/>
        </p:nvSpPr>
        <p:spPr>
          <a:xfrm>
            <a:off x="4663440" y="4187952"/>
            <a:ext cx="64008" cy="713232"/>
          </a:xfrm>
          <a:prstGeom prst="rect">
            <a:avLst/>
          </a:prstGeom>
          <a:solidFill>
            <a:srgbClr val="028090"/>
          </a:solidFill>
          <a:ln/>
        </p:spPr>
        <p:txBody>
          <a:bodyPr/>
          <a:lstStyle/>
          <a:p>
            <a:endParaRPr lang="en-US"/>
          </a:p>
        </p:txBody>
      </p:sp>
      <p:sp>
        <p:nvSpPr>
          <p:cNvPr id="38" name="Text 36"/>
          <p:cNvSpPr/>
          <p:nvPr/>
        </p:nvSpPr>
        <p:spPr>
          <a:xfrm>
            <a:off x="4773168" y="4242816"/>
            <a:ext cx="914400" cy="237744"/>
          </a:xfrm>
          <a:prstGeom prst="rect">
            <a:avLst/>
          </a:prstGeom>
          <a:noFill/>
          <a:ln/>
        </p:spPr>
        <p:txBody>
          <a:bodyPr wrap="square" lIns="0" tIns="0" rIns="0" bIns="0" rtlCol="0" anchor="ctr"/>
          <a:lstStyle/>
          <a:p>
            <a:pPr marL="0" indent="0">
              <a:buNone/>
            </a:pPr>
            <a:r>
              <a:rPr lang="en-US" sz="1200" b="1" dirty="0">
                <a:solidFill>
                  <a:srgbClr val="028090"/>
                </a:solidFill>
              </a:rPr>
              <a:t>ReAct</a:t>
            </a:r>
            <a:endParaRPr lang="en-US" sz="1200" dirty="0"/>
          </a:p>
        </p:txBody>
      </p:sp>
      <p:sp>
        <p:nvSpPr>
          <p:cNvPr id="39" name="Text 37"/>
          <p:cNvSpPr/>
          <p:nvPr/>
        </p:nvSpPr>
        <p:spPr>
          <a:xfrm>
            <a:off x="4773168" y="4498848"/>
            <a:ext cx="3913632" cy="365760"/>
          </a:xfrm>
          <a:prstGeom prst="rect">
            <a:avLst/>
          </a:prstGeom>
          <a:noFill/>
          <a:ln/>
        </p:spPr>
        <p:txBody>
          <a:bodyPr wrap="square" lIns="0" tIns="0" rIns="0" bIns="0" rtlCol="0" anchor="ctr"/>
          <a:lstStyle/>
          <a:p>
            <a:pPr marL="0" indent="0">
              <a:buNone/>
            </a:pPr>
            <a:r>
              <a:rPr lang="en-US" sz="1100" dirty="0">
                <a:solidFill>
                  <a:srgbClr val="2C5F6A"/>
                </a:solidFill>
              </a:rPr>
              <a:t>Tool schemas are contracts. Vague descriptions cause the LLM to call tools at the wrong time.</a:t>
            </a:r>
            <a:endParaRPr lang="en-US" sz="1100" dirty="0"/>
          </a:p>
        </p:txBody>
      </p:sp>
      <p:pic>
        <p:nvPicPr>
          <p:cNvPr id="65" name="Audio 64">
            <a:extLst>
              <a:ext uri="{FF2B5EF4-FFF2-40B4-BE49-F238E27FC236}">
                <a16:creationId xmlns:a16="http://schemas.microsoft.com/office/drawing/2014/main" id="{C073EC07-144B-DD7F-6EB3-4E88F9027F4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9498"/>
    </mc:Choice>
    <mc:Fallback xmlns="">
      <p:transition spd="slow" advTm="3949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5"/>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2A2F"/>
        </a:solidFill>
        <a:effectLst/>
      </p:bgPr>
    </p:bg>
    <p:spTree>
      <p:nvGrpSpPr>
        <p:cNvPr id="1" name=""/>
        <p:cNvGrpSpPr/>
        <p:nvPr/>
      </p:nvGrpSpPr>
      <p:grpSpPr>
        <a:xfrm>
          <a:off x="0" y="0"/>
          <a:ext cx="0" cy="0"/>
          <a:chOff x="0" y="0"/>
          <a:chExt cx="0" cy="0"/>
        </a:xfrm>
      </p:grpSpPr>
      <p:sp>
        <p:nvSpPr>
          <p:cNvPr id="2" name="Shape 0"/>
          <p:cNvSpPr/>
          <p:nvPr/>
        </p:nvSpPr>
        <p:spPr>
          <a:xfrm>
            <a:off x="0" y="0"/>
            <a:ext cx="5029200" cy="5143500"/>
          </a:xfrm>
          <a:prstGeom prst="rect">
            <a:avLst/>
          </a:prstGeom>
          <a:solidFill>
            <a:srgbClr val="0F353C"/>
          </a:solidFill>
          <a:ln/>
        </p:spPr>
        <p:txBody>
          <a:bodyPr/>
          <a:lstStyle/>
          <a:p>
            <a:endParaRPr lang="en-US"/>
          </a:p>
        </p:txBody>
      </p:sp>
      <p:sp>
        <p:nvSpPr>
          <p:cNvPr id="3" name="Text 1"/>
          <p:cNvSpPr/>
          <p:nvPr/>
        </p:nvSpPr>
        <p:spPr>
          <a:xfrm>
            <a:off x="365760" y="320040"/>
            <a:ext cx="4389120" cy="384048"/>
          </a:xfrm>
          <a:prstGeom prst="rect">
            <a:avLst/>
          </a:prstGeom>
          <a:noFill/>
          <a:ln/>
        </p:spPr>
        <p:txBody>
          <a:bodyPr wrap="square" rtlCol="0" anchor="ctr"/>
          <a:lstStyle/>
          <a:p>
            <a:pPr marL="0" indent="0">
              <a:buNone/>
            </a:pPr>
            <a:r>
              <a:rPr lang="en-US" sz="2000" b="1" dirty="0">
                <a:solidFill>
                  <a:srgbClr val="FFFFFF"/>
                </a:solidFill>
              </a:rPr>
              <a:t>Limitations</a:t>
            </a:r>
            <a:endParaRPr lang="en-US" sz="2000" dirty="0"/>
          </a:p>
        </p:txBody>
      </p:sp>
      <p:sp>
        <p:nvSpPr>
          <p:cNvPr id="4" name="Shape 2"/>
          <p:cNvSpPr/>
          <p:nvPr/>
        </p:nvSpPr>
        <p:spPr>
          <a:xfrm>
            <a:off x="365760" y="868680"/>
            <a:ext cx="4297680" cy="694944"/>
          </a:xfrm>
          <a:prstGeom prst="rect">
            <a:avLst/>
          </a:prstGeom>
          <a:solidFill>
            <a:srgbClr val="163E47"/>
          </a:solidFill>
          <a:ln w="10160">
            <a:solidFill>
              <a:srgbClr val="255F6A"/>
            </a:solidFill>
            <a:prstDash val="solid"/>
          </a:ln>
        </p:spPr>
        <p:txBody>
          <a:bodyPr/>
          <a:lstStyle/>
          <a:p>
            <a:endParaRPr lang="en-US"/>
          </a:p>
        </p:txBody>
      </p:sp>
      <p:sp>
        <p:nvSpPr>
          <p:cNvPr id="5" name="Text 3"/>
          <p:cNvSpPr/>
          <p:nvPr/>
        </p:nvSpPr>
        <p:spPr>
          <a:xfrm>
            <a:off x="475488" y="868680"/>
            <a:ext cx="475488" cy="694944"/>
          </a:xfrm>
          <a:prstGeom prst="rect">
            <a:avLst/>
          </a:prstGeom>
          <a:noFill/>
          <a:ln/>
        </p:spPr>
        <p:txBody>
          <a:bodyPr wrap="square" rtlCol="0" anchor="ctr"/>
          <a:lstStyle/>
          <a:p>
            <a:pPr marL="0" indent="0" algn="ctr">
              <a:buNone/>
            </a:pPr>
            <a:r>
              <a:rPr lang="en-US" sz="1800" dirty="0">
                <a:solidFill>
                  <a:srgbClr val="000000"/>
                </a:solidFill>
              </a:rPr>
              <a:t>TXT</a:t>
            </a:r>
            <a:endParaRPr lang="en-US" sz="1800" dirty="0"/>
          </a:p>
        </p:txBody>
      </p:sp>
      <p:sp>
        <p:nvSpPr>
          <p:cNvPr id="6" name="Text 4"/>
          <p:cNvSpPr/>
          <p:nvPr/>
        </p:nvSpPr>
        <p:spPr>
          <a:xfrm>
            <a:off x="987552" y="905256"/>
            <a:ext cx="3566160" cy="621792"/>
          </a:xfrm>
          <a:prstGeom prst="rect">
            <a:avLst/>
          </a:prstGeom>
          <a:noFill/>
          <a:ln/>
        </p:spPr>
        <p:txBody>
          <a:bodyPr wrap="square" rtlCol="0" anchor="ctr"/>
          <a:lstStyle/>
          <a:p>
            <a:pPr marL="0" indent="0">
              <a:buNone/>
            </a:pPr>
            <a:r>
              <a:rPr lang="en-US" sz="1150" dirty="0">
                <a:solidFill>
                  <a:srgbClr val="A8D5DC"/>
                </a:solidFill>
              </a:rPr>
              <a:t>PDF parsing only works on text-based bloodwork — scanned images not supported</a:t>
            </a:r>
            <a:endParaRPr lang="en-US" sz="1150" dirty="0"/>
          </a:p>
        </p:txBody>
      </p:sp>
      <p:sp>
        <p:nvSpPr>
          <p:cNvPr id="7" name="Shape 5"/>
          <p:cNvSpPr/>
          <p:nvPr/>
        </p:nvSpPr>
        <p:spPr>
          <a:xfrm>
            <a:off x="365760" y="1673352"/>
            <a:ext cx="4297680" cy="694944"/>
          </a:xfrm>
          <a:prstGeom prst="rect">
            <a:avLst/>
          </a:prstGeom>
          <a:solidFill>
            <a:srgbClr val="163E47"/>
          </a:solidFill>
          <a:ln w="10160">
            <a:solidFill>
              <a:srgbClr val="255F6A"/>
            </a:solidFill>
            <a:prstDash val="solid"/>
          </a:ln>
        </p:spPr>
        <p:txBody>
          <a:bodyPr/>
          <a:lstStyle/>
          <a:p>
            <a:endParaRPr lang="en-US"/>
          </a:p>
        </p:txBody>
      </p:sp>
      <p:sp>
        <p:nvSpPr>
          <p:cNvPr id="8" name="Text 6"/>
          <p:cNvSpPr/>
          <p:nvPr/>
        </p:nvSpPr>
        <p:spPr>
          <a:xfrm>
            <a:off x="475488" y="1673352"/>
            <a:ext cx="475488" cy="694944"/>
          </a:xfrm>
          <a:prstGeom prst="rect">
            <a:avLst/>
          </a:prstGeom>
          <a:noFill/>
          <a:ln/>
        </p:spPr>
        <p:txBody>
          <a:bodyPr wrap="square" rtlCol="0" anchor="ctr"/>
          <a:lstStyle/>
          <a:p>
            <a:pPr marL="0" indent="0" algn="ctr">
              <a:buNone/>
            </a:pPr>
            <a:r>
              <a:rPr lang="en-US" sz="1800" dirty="0">
                <a:solidFill>
                  <a:srgbClr val="000000"/>
                </a:solidFill>
              </a:rPr>
              <a:t>DB</a:t>
            </a:r>
            <a:endParaRPr lang="en-US" sz="1800" dirty="0"/>
          </a:p>
        </p:txBody>
      </p:sp>
      <p:sp>
        <p:nvSpPr>
          <p:cNvPr id="9" name="Text 7"/>
          <p:cNvSpPr/>
          <p:nvPr/>
        </p:nvSpPr>
        <p:spPr>
          <a:xfrm>
            <a:off x="987552" y="1709928"/>
            <a:ext cx="3566160" cy="621792"/>
          </a:xfrm>
          <a:prstGeom prst="rect">
            <a:avLst/>
          </a:prstGeom>
          <a:noFill/>
          <a:ln/>
        </p:spPr>
        <p:txBody>
          <a:bodyPr wrap="square" rtlCol="0" anchor="ctr"/>
          <a:lstStyle/>
          <a:p>
            <a:pPr marL="0" indent="0">
              <a:buNone/>
            </a:pPr>
            <a:r>
              <a:rPr lang="en-US" sz="1150" dirty="0">
                <a:solidFill>
                  <a:srgbClr val="A8D5DC"/>
                </a:solidFill>
              </a:rPr>
              <a:t>Knowledge base is 20 entries — a production system would use a full vector DB</a:t>
            </a:r>
            <a:endParaRPr lang="en-US" sz="1150" dirty="0"/>
          </a:p>
        </p:txBody>
      </p:sp>
      <p:sp>
        <p:nvSpPr>
          <p:cNvPr id="10" name="Shape 8"/>
          <p:cNvSpPr/>
          <p:nvPr/>
        </p:nvSpPr>
        <p:spPr>
          <a:xfrm>
            <a:off x="365760" y="2478024"/>
            <a:ext cx="4297680" cy="694944"/>
          </a:xfrm>
          <a:prstGeom prst="rect">
            <a:avLst/>
          </a:prstGeom>
          <a:solidFill>
            <a:srgbClr val="163E47"/>
          </a:solidFill>
          <a:ln w="10160">
            <a:solidFill>
              <a:srgbClr val="255F6A"/>
            </a:solidFill>
            <a:prstDash val="solid"/>
          </a:ln>
        </p:spPr>
        <p:txBody>
          <a:bodyPr/>
          <a:lstStyle/>
          <a:p>
            <a:endParaRPr lang="en-US"/>
          </a:p>
        </p:txBody>
      </p:sp>
      <p:sp>
        <p:nvSpPr>
          <p:cNvPr id="11" name="Text 9"/>
          <p:cNvSpPr/>
          <p:nvPr/>
        </p:nvSpPr>
        <p:spPr>
          <a:xfrm>
            <a:off x="475488" y="2478024"/>
            <a:ext cx="475488" cy="694944"/>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2" name="Text 10"/>
          <p:cNvSpPr/>
          <p:nvPr/>
        </p:nvSpPr>
        <p:spPr>
          <a:xfrm>
            <a:off x="987552" y="2514600"/>
            <a:ext cx="3566160" cy="621792"/>
          </a:xfrm>
          <a:prstGeom prst="rect">
            <a:avLst/>
          </a:prstGeom>
          <a:noFill/>
          <a:ln/>
        </p:spPr>
        <p:txBody>
          <a:bodyPr wrap="square" rtlCol="0" anchor="ctr"/>
          <a:lstStyle/>
          <a:p>
            <a:pPr marL="0" indent="0">
              <a:buNone/>
            </a:pPr>
            <a:r>
              <a:rPr lang="en-US" sz="1150" dirty="0">
                <a:solidFill>
                  <a:srgbClr val="A8D5DC"/>
                </a:solidFill>
              </a:rPr>
              <a:t>Calorie estimates are LLM approximations, not clinically validated</a:t>
            </a:r>
            <a:endParaRPr lang="en-US" sz="1150" dirty="0"/>
          </a:p>
        </p:txBody>
      </p:sp>
      <p:sp>
        <p:nvSpPr>
          <p:cNvPr id="13" name="Shape 11"/>
          <p:cNvSpPr/>
          <p:nvPr/>
        </p:nvSpPr>
        <p:spPr>
          <a:xfrm>
            <a:off x="365760" y="3282696"/>
            <a:ext cx="4297680" cy="694944"/>
          </a:xfrm>
          <a:prstGeom prst="rect">
            <a:avLst/>
          </a:prstGeom>
          <a:solidFill>
            <a:srgbClr val="163E47"/>
          </a:solidFill>
          <a:ln w="10160">
            <a:solidFill>
              <a:srgbClr val="255F6A"/>
            </a:solidFill>
            <a:prstDash val="solid"/>
          </a:ln>
        </p:spPr>
        <p:txBody>
          <a:bodyPr/>
          <a:lstStyle/>
          <a:p>
            <a:endParaRPr lang="en-US"/>
          </a:p>
        </p:txBody>
      </p:sp>
      <p:sp>
        <p:nvSpPr>
          <p:cNvPr id="14" name="Text 12"/>
          <p:cNvSpPr/>
          <p:nvPr/>
        </p:nvSpPr>
        <p:spPr>
          <a:xfrm>
            <a:off x="475488" y="3282696"/>
            <a:ext cx="475488" cy="694944"/>
          </a:xfrm>
          <a:prstGeom prst="rect">
            <a:avLst/>
          </a:prstGeom>
          <a:noFill/>
          <a:ln/>
        </p:spPr>
        <p:txBody>
          <a:bodyPr wrap="square" rtlCol="0" anchor="ctr"/>
          <a:lstStyle/>
          <a:p>
            <a:pPr marL="0" indent="0" algn="ctr">
              <a:buNone/>
            </a:pPr>
            <a:r>
              <a:rPr lang="en-US" sz="1800" dirty="0">
                <a:solidFill>
                  <a:srgbClr val="000000"/>
                </a:solidFill>
              </a:rPr>
              <a:t>CTX</a:t>
            </a:r>
            <a:endParaRPr lang="en-US" sz="1800" dirty="0"/>
          </a:p>
        </p:txBody>
      </p:sp>
      <p:sp>
        <p:nvSpPr>
          <p:cNvPr id="15" name="Text 13"/>
          <p:cNvSpPr/>
          <p:nvPr/>
        </p:nvSpPr>
        <p:spPr>
          <a:xfrm>
            <a:off x="987552" y="3319272"/>
            <a:ext cx="3566160" cy="621792"/>
          </a:xfrm>
          <a:prstGeom prst="rect">
            <a:avLst/>
          </a:prstGeom>
          <a:noFill/>
          <a:ln/>
        </p:spPr>
        <p:txBody>
          <a:bodyPr wrap="square" rtlCol="0" anchor="ctr"/>
          <a:lstStyle/>
          <a:p>
            <a:pPr marL="0" indent="0">
              <a:buNone/>
            </a:pPr>
            <a:r>
              <a:rPr lang="en-US" sz="1150" dirty="0">
                <a:solidFill>
                  <a:srgbClr val="A8D5DC"/>
                </a:solidFill>
              </a:rPr>
              <a:t>Long sessions bloat the system prompt — needs context management (AgentFold)</a:t>
            </a:r>
            <a:endParaRPr lang="en-US" sz="1150" dirty="0"/>
          </a:p>
        </p:txBody>
      </p:sp>
      <p:sp>
        <p:nvSpPr>
          <p:cNvPr id="16" name="Text 14"/>
          <p:cNvSpPr/>
          <p:nvPr/>
        </p:nvSpPr>
        <p:spPr>
          <a:xfrm>
            <a:off x="365760" y="4114800"/>
            <a:ext cx="4389120" cy="274320"/>
          </a:xfrm>
          <a:prstGeom prst="rect">
            <a:avLst/>
          </a:prstGeom>
          <a:noFill/>
          <a:ln/>
        </p:spPr>
        <p:txBody>
          <a:bodyPr wrap="square" rtlCol="0" anchor="ctr"/>
          <a:lstStyle/>
          <a:p>
            <a:pPr marL="0" indent="0">
              <a:buNone/>
            </a:pPr>
            <a:r>
              <a:rPr lang="en-US" sz="1400" b="1" dirty="0">
                <a:solidFill>
                  <a:srgbClr val="02C39A"/>
                </a:solidFill>
              </a:rPr>
              <a:t>Future Work</a:t>
            </a:r>
            <a:endParaRPr lang="en-US" sz="1400" dirty="0"/>
          </a:p>
        </p:txBody>
      </p:sp>
      <p:sp>
        <p:nvSpPr>
          <p:cNvPr id="17" name="Text 15"/>
          <p:cNvSpPr/>
          <p:nvPr/>
        </p:nvSpPr>
        <p:spPr>
          <a:xfrm>
            <a:off x="365760" y="4425696"/>
            <a:ext cx="4389120" cy="548640"/>
          </a:xfrm>
          <a:prstGeom prst="rect">
            <a:avLst/>
          </a:prstGeom>
          <a:noFill/>
          <a:ln/>
        </p:spPr>
        <p:txBody>
          <a:bodyPr wrap="square" rtlCol="0" anchor="ctr"/>
          <a:lstStyle/>
          <a:p>
            <a:pPr marL="0" indent="0">
              <a:buNone/>
            </a:pPr>
            <a:r>
              <a:rPr lang="en-US" sz="1100" dirty="0">
                <a:solidFill>
                  <a:srgbClr val="7AB8C0"/>
                </a:solidFill>
              </a:rPr>
              <a:t>SMS reminders · recipe database RAG · AgentFold context folding · calorie tracking API</a:t>
            </a:r>
            <a:endParaRPr lang="en-US" sz="1100" dirty="0"/>
          </a:p>
        </p:txBody>
      </p:sp>
      <p:sp>
        <p:nvSpPr>
          <p:cNvPr id="18" name="Text 16"/>
          <p:cNvSpPr/>
          <p:nvPr/>
        </p:nvSpPr>
        <p:spPr>
          <a:xfrm>
            <a:off x="5212080" y="1188720"/>
            <a:ext cx="3566160" cy="640080"/>
          </a:xfrm>
          <a:prstGeom prst="rect">
            <a:avLst/>
          </a:prstGeom>
          <a:noFill/>
          <a:ln/>
        </p:spPr>
        <p:txBody>
          <a:bodyPr wrap="square" rtlCol="0" anchor="ctr"/>
          <a:lstStyle/>
          <a:p>
            <a:pPr marL="0" indent="0" algn="ctr">
              <a:buNone/>
            </a:pPr>
            <a:r>
              <a:rPr lang="en-US" sz="3800" b="1" dirty="0">
                <a:solidFill>
                  <a:srgbClr val="FFFFFF"/>
                </a:solidFill>
              </a:rPr>
              <a:t>Thank You</a:t>
            </a:r>
            <a:endParaRPr lang="en-US" sz="3800" dirty="0"/>
          </a:p>
        </p:txBody>
      </p:sp>
      <p:sp>
        <p:nvSpPr>
          <p:cNvPr id="19" name="Shape 17"/>
          <p:cNvSpPr/>
          <p:nvPr/>
        </p:nvSpPr>
        <p:spPr>
          <a:xfrm>
            <a:off x="5394960" y="1920240"/>
            <a:ext cx="3200400" cy="0"/>
          </a:xfrm>
          <a:prstGeom prst="line">
            <a:avLst/>
          </a:prstGeom>
          <a:noFill/>
          <a:ln w="25400">
            <a:solidFill>
              <a:srgbClr val="02C39A"/>
            </a:solidFill>
            <a:prstDash val="solid"/>
          </a:ln>
        </p:spPr>
        <p:txBody>
          <a:bodyPr/>
          <a:lstStyle/>
          <a:p>
            <a:endParaRPr lang="en-US"/>
          </a:p>
        </p:txBody>
      </p:sp>
      <p:sp>
        <p:nvSpPr>
          <p:cNvPr id="20" name="Text 18"/>
          <p:cNvSpPr/>
          <p:nvPr/>
        </p:nvSpPr>
        <p:spPr>
          <a:xfrm>
            <a:off x="5212080" y="2084832"/>
            <a:ext cx="3566160" cy="347472"/>
          </a:xfrm>
          <a:prstGeom prst="rect">
            <a:avLst/>
          </a:prstGeom>
          <a:noFill/>
          <a:ln/>
        </p:spPr>
        <p:txBody>
          <a:bodyPr wrap="square" rtlCol="0" anchor="ctr"/>
          <a:lstStyle/>
          <a:p>
            <a:pPr marL="0" indent="0" algn="ctr">
              <a:buNone/>
            </a:pPr>
            <a:r>
              <a:rPr lang="en-US" sz="1600" b="1" dirty="0">
                <a:solidFill>
                  <a:srgbClr val="02C39A"/>
                </a:solidFill>
              </a:rPr>
              <a:t>Scarlett Yu</a:t>
            </a:r>
            <a:endParaRPr lang="en-US" sz="1600" dirty="0"/>
          </a:p>
        </p:txBody>
      </p:sp>
      <p:sp>
        <p:nvSpPr>
          <p:cNvPr id="21" name="Text 19"/>
          <p:cNvSpPr/>
          <p:nvPr/>
        </p:nvSpPr>
        <p:spPr>
          <a:xfrm>
            <a:off x="5212080" y="2450592"/>
            <a:ext cx="3566160" cy="292608"/>
          </a:xfrm>
          <a:prstGeom prst="rect">
            <a:avLst/>
          </a:prstGeom>
          <a:noFill/>
          <a:ln/>
        </p:spPr>
        <p:txBody>
          <a:bodyPr wrap="square" rtlCol="0" anchor="ctr"/>
          <a:lstStyle/>
          <a:p>
            <a:pPr marL="0" indent="0" algn="ctr">
              <a:buNone/>
            </a:pPr>
            <a:r>
              <a:rPr lang="en-US" sz="1300" dirty="0">
                <a:solidFill>
                  <a:srgbClr val="A8D5DC"/>
                </a:solidFill>
              </a:rPr>
              <a:t>bce9ka@virginia.edu</a:t>
            </a:r>
            <a:endParaRPr lang="en-US" sz="1300" dirty="0"/>
          </a:p>
        </p:txBody>
      </p:sp>
      <p:sp>
        <p:nvSpPr>
          <p:cNvPr id="22" name="Text 20"/>
          <p:cNvSpPr/>
          <p:nvPr/>
        </p:nvSpPr>
        <p:spPr>
          <a:xfrm>
            <a:off x="5212080" y="2761488"/>
            <a:ext cx="3566160" cy="274320"/>
          </a:xfrm>
          <a:prstGeom prst="rect">
            <a:avLst/>
          </a:prstGeom>
          <a:noFill/>
          <a:ln/>
        </p:spPr>
        <p:txBody>
          <a:bodyPr wrap="square" rtlCol="0" anchor="ctr"/>
          <a:lstStyle/>
          <a:p>
            <a:pPr marL="0" indent="0" algn="ctr">
              <a:buNone/>
            </a:pPr>
            <a:r>
              <a:rPr lang="en-US" sz="1200" dirty="0">
                <a:solidFill>
                  <a:srgbClr val="7A9EA5"/>
                </a:solidFill>
              </a:rPr>
              <a:t>CS 6501 · UVA Spring 2026</a:t>
            </a:r>
            <a:endParaRPr lang="en-US" sz="1200" dirty="0"/>
          </a:p>
        </p:txBody>
      </p:sp>
      <p:sp>
        <p:nvSpPr>
          <p:cNvPr id="23" name="Shape 21"/>
          <p:cNvSpPr/>
          <p:nvPr/>
        </p:nvSpPr>
        <p:spPr>
          <a:xfrm>
            <a:off x="5577840" y="3218688"/>
            <a:ext cx="2743200" cy="420624"/>
          </a:xfrm>
          <a:prstGeom prst="rect">
            <a:avLst/>
          </a:prstGeom>
          <a:solidFill>
            <a:srgbClr val="028090"/>
          </a:solidFill>
          <a:ln/>
        </p:spPr>
        <p:txBody>
          <a:bodyPr/>
          <a:lstStyle/>
          <a:p>
            <a:endParaRPr lang="en-US"/>
          </a:p>
        </p:txBody>
      </p:sp>
      <p:sp>
        <p:nvSpPr>
          <p:cNvPr id="24" name="Text 22"/>
          <p:cNvSpPr/>
          <p:nvPr/>
        </p:nvSpPr>
        <p:spPr>
          <a:xfrm>
            <a:off x="5577840" y="3218688"/>
            <a:ext cx="2743200" cy="420624"/>
          </a:xfrm>
          <a:prstGeom prst="rect">
            <a:avLst/>
          </a:prstGeom>
          <a:noFill/>
          <a:ln/>
        </p:spPr>
        <p:txBody>
          <a:bodyPr wrap="square" rtlCol="0" anchor="ctr"/>
          <a:lstStyle/>
          <a:p>
            <a:pPr marL="0" indent="0" algn="ctr">
              <a:buNone/>
            </a:pPr>
            <a:r>
              <a:rPr lang="en-US" sz="1000" dirty="0">
                <a:solidFill>
                  <a:srgbClr val="FFFFFF"/>
                </a:solidFill>
              </a:rPr>
              <a:t>github.com/scarlettyu2023/AI_agent_workshop</a:t>
            </a:r>
            <a:endParaRPr lang="en-US" sz="1000" dirty="0"/>
          </a:p>
        </p:txBody>
      </p:sp>
      <p:sp>
        <p:nvSpPr>
          <p:cNvPr id="25" name="Text 23"/>
          <p:cNvSpPr/>
          <p:nvPr/>
        </p:nvSpPr>
        <p:spPr>
          <a:xfrm>
            <a:off x="5212080" y="3822192"/>
            <a:ext cx="3566160" cy="274320"/>
          </a:xfrm>
          <a:prstGeom prst="rect">
            <a:avLst/>
          </a:prstGeom>
          <a:noFill/>
          <a:ln/>
        </p:spPr>
        <p:txBody>
          <a:bodyPr wrap="square" rtlCol="0" anchor="ctr"/>
          <a:lstStyle/>
          <a:p>
            <a:pPr marL="0" indent="0" algn="ctr">
              <a:buNone/>
            </a:pPr>
            <a:r>
              <a:rPr lang="en-US" sz="1200" b="1" dirty="0">
                <a:solidFill>
                  <a:srgbClr val="02C39A"/>
                </a:solidFill>
              </a:rPr>
              <a:t>Key papers</a:t>
            </a:r>
            <a:endParaRPr lang="en-US" sz="1200" dirty="0"/>
          </a:p>
        </p:txBody>
      </p:sp>
      <p:sp>
        <p:nvSpPr>
          <p:cNvPr id="26" name="Text 24"/>
          <p:cNvSpPr/>
          <p:nvPr/>
        </p:nvSpPr>
        <p:spPr>
          <a:xfrm>
            <a:off x="5212080" y="4133088"/>
            <a:ext cx="3566160" cy="256032"/>
          </a:xfrm>
          <a:prstGeom prst="rect">
            <a:avLst/>
          </a:prstGeom>
          <a:noFill/>
          <a:ln/>
        </p:spPr>
        <p:txBody>
          <a:bodyPr wrap="square" rtlCol="0" anchor="ctr"/>
          <a:lstStyle/>
          <a:p>
            <a:pPr marL="0" indent="0" algn="ctr">
              <a:buNone/>
            </a:pPr>
            <a:r>
              <a:rPr lang="en-US" sz="1100" dirty="0">
                <a:solidFill>
                  <a:srgbClr val="7AB8C0"/>
                </a:solidFill>
              </a:rPr>
              <a:t>ReAct — Yao et al., 2023</a:t>
            </a:r>
            <a:endParaRPr lang="en-US" sz="1100" dirty="0"/>
          </a:p>
        </p:txBody>
      </p:sp>
      <p:sp>
        <p:nvSpPr>
          <p:cNvPr id="27" name="Text 25"/>
          <p:cNvSpPr/>
          <p:nvPr/>
        </p:nvSpPr>
        <p:spPr>
          <a:xfrm>
            <a:off x="5212080" y="4425696"/>
            <a:ext cx="3566160" cy="256032"/>
          </a:xfrm>
          <a:prstGeom prst="rect">
            <a:avLst/>
          </a:prstGeom>
          <a:noFill/>
          <a:ln/>
        </p:spPr>
        <p:txBody>
          <a:bodyPr wrap="square" rtlCol="0" anchor="ctr"/>
          <a:lstStyle/>
          <a:p>
            <a:pPr marL="0" indent="0" algn="ctr">
              <a:buNone/>
            </a:pPr>
            <a:r>
              <a:rPr lang="en-US" sz="1100" dirty="0">
                <a:solidFill>
                  <a:srgbClr val="7AB8C0"/>
                </a:solidFill>
              </a:rPr>
              <a:t>Chain-of-Thought — Wei et al., 2022</a:t>
            </a:r>
            <a:endParaRPr lang="en-US" sz="1100" dirty="0"/>
          </a:p>
        </p:txBody>
      </p:sp>
      <p:sp>
        <p:nvSpPr>
          <p:cNvPr id="28" name="Text 26"/>
          <p:cNvSpPr/>
          <p:nvPr/>
        </p:nvSpPr>
        <p:spPr>
          <a:xfrm>
            <a:off x="5212080" y="4718304"/>
            <a:ext cx="3566160" cy="256032"/>
          </a:xfrm>
          <a:prstGeom prst="rect">
            <a:avLst/>
          </a:prstGeom>
          <a:noFill/>
          <a:ln/>
        </p:spPr>
        <p:txBody>
          <a:bodyPr wrap="square" rtlCol="0" anchor="ctr"/>
          <a:lstStyle/>
          <a:p>
            <a:pPr marL="0" indent="0" algn="ctr">
              <a:buNone/>
            </a:pPr>
            <a:r>
              <a:rPr lang="en-US" sz="1100" dirty="0">
                <a:solidFill>
                  <a:srgbClr val="7AB8C0"/>
                </a:solidFill>
              </a:rPr>
              <a:t>Self-Refine — Madaan et al., 2023</a:t>
            </a:r>
            <a:endParaRPr lang="en-US" sz="1100" dirty="0"/>
          </a:p>
        </p:txBody>
      </p:sp>
      <p:pic>
        <p:nvPicPr>
          <p:cNvPr id="42" name="Audio 41">
            <a:extLst>
              <a:ext uri="{FF2B5EF4-FFF2-40B4-BE49-F238E27FC236}">
                <a16:creationId xmlns:a16="http://schemas.microsoft.com/office/drawing/2014/main" id="{AF625A2B-326B-249F-0848-686E255DE97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9297"/>
    </mc:Choice>
    <mc:Fallback xmlns="">
      <p:transition spd="slow" advTm="3929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2"/>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2918</TotalTime>
  <Words>2211</Words>
  <Application>Microsoft Macintosh PowerPoint</Application>
  <PresentationFormat>On-screen Show (16:9)</PresentationFormat>
  <Paragraphs>267</Paragraphs>
  <Slides>9</Slides>
  <Notes>9</Notes>
  <HiddenSlides>0</HiddenSlides>
  <MMClips>9</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Meal &amp; Health Agent — CS 6501 Final Project</dc:title>
  <dc:subject>PptxGenJS Presentation</dc:subject>
  <dc:creator>Scarlett Yu</dc:creator>
  <cp:lastModifiedBy>Yu, Scarlett (bce9ka)</cp:lastModifiedBy>
  <cp:revision>2</cp:revision>
  <dcterms:created xsi:type="dcterms:W3CDTF">2026-04-08T18:21:04Z</dcterms:created>
  <dcterms:modified xsi:type="dcterms:W3CDTF">2026-04-10T20:28:11Z</dcterms:modified>
</cp:coreProperties>
</file>